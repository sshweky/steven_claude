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457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37760"/>
            <a:ext cx="12191695" cy="4572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0"/>
            <a:ext cx="11277295" cy="1005840"/>
          </a:xfrm>
          <a:prstGeom prst="rect">
            <a:avLst/>
          </a:prstGeom>
          <a:noFill/>
        </p:spPr>
        <p:txBody>
          <a:bodyPr wrap="square" lIns="45720" rIns="45720" tIns="18288" bIns="18288" anchor="t">
            <a:spAutoFit/>
          </a:bodyPr>
          <a:lstStyle/>
          <a:p>
            <a:pPr algn="l"/>
            <a:r>
              <a:rPr sz="4400" b="1">
                <a:solidFill>
                  <a:srgbClr val="FFFFFF"/>
                </a:solidFill>
                <a:latin typeface="Calibri"/>
              </a:rPr>
              <a:t>Inventory Forecaster</a:t>
            </a:r>
          </a:p>
        </p:txBody>
      </p:sp>
      <p:sp>
        <p:nvSpPr>
          <p:cNvPr id="6" name="TextBox 5"/>
          <p:cNvSpPr txBox="1"/>
          <p:nvPr/>
        </p:nvSpPr>
        <p:spPr>
          <a:xfrm>
            <a:off x="457200" y="3383280"/>
            <a:ext cx="11277295" cy="640080"/>
          </a:xfrm>
          <a:prstGeom prst="rect">
            <a:avLst/>
          </a:prstGeom>
          <a:noFill/>
        </p:spPr>
        <p:txBody>
          <a:bodyPr wrap="square" lIns="45720" rIns="45720" tIns="18288" bIns="18288" anchor="t">
            <a:spAutoFit/>
          </a:bodyPr>
          <a:lstStyle/>
          <a:p>
            <a:pPr algn="l"/>
            <a:r>
              <a:rPr sz="2200" b="0">
                <a:solidFill>
                  <a:srgbClr val="E9C46A"/>
                </a:solidFill>
                <a:latin typeface="Calibri"/>
              </a:rPr>
              <a:t>How it works — in plain English (33 refinements)</a:t>
            </a:r>
          </a:p>
        </p:txBody>
      </p:sp>
      <p:sp>
        <p:nvSpPr>
          <p:cNvPr id="7" name="TextBox 6"/>
          <p:cNvSpPr txBox="1"/>
          <p:nvPr/>
        </p:nvSpPr>
        <p:spPr>
          <a:xfrm>
            <a:off x="457200" y="4114800"/>
            <a:ext cx="11277295" cy="548640"/>
          </a:xfrm>
          <a:prstGeom prst="rect">
            <a:avLst/>
          </a:prstGeom>
          <a:noFill/>
        </p:spPr>
        <p:txBody>
          <a:bodyPr wrap="square" lIns="45720" rIns="45720" tIns="18288" bIns="18288" anchor="t">
            <a:spAutoFit/>
          </a:bodyPr>
          <a:lstStyle/>
          <a:p>
            <a:pPr algn="l"/>
            <a:r>
              <a:rPr sz="1400" b="0">
                <a:solidFill>
                  <a:srgbClr val="F2F2F2"/>
                </a:solidFill>
                <a:latin typeface="Calibri"/>
              </a:rPr>
              <a:t>A guide for inventory planners. No math required.</a:t>
            </a:r>
          </a:p>
        </p:txBody>
      </p:sp>
      <p:sp>
        <p:nvSpPr>
          <p:cNvPr id="8" name="TextBox 7"/>
          <p:cNvSpPr txBox="1"/>
          <p:nvPr/>
        </p:nvSpPr>
        <p:spPr>
          <a:xfrm>
            <a:off x="457200" y="6035040"/>
            <a:ext cx="11277295" cy="365760"/>
          </a:xfrm>
          <a:prstGeom prst="rect">
            <a:avLst/>
          </a:prstGeom>
          <a:noFill/>
        </p:spPr>
        <p:txBody>
          <a:bodyPr wrap="square" lIns="45720" rIns="45720" tIns="18288" bIns="18288" anchor="t">
            <a:spAutoFit/>
          </a:bodyPr>
          <a:lstStyle/>
          <a:p>
            <a:pPr algn="l"/>
            <a:r>
              <a:rPr sz="1000" b="0">
                <a:solidFill>
                  <a:srgbClr val="E9C46A"/>
                </a:solidFill>
                <a:latin typeface="Calibri"/>
              </a:rPr>
              <a:t>Pets+People Planning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What this tool actually does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The big picture in three sentences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11277295" cy="160020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97280"/>
            <a:ext cx="2103120" cy="16002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2103120" cy="1600200"/>
          </a:xfrm>
          <a:prstGeom prst="rect">
            <a:avLst/>
          </a:prstGeom>
          <a:noFill/>
        </p:spPr>
        <p:txBody>
          <a:bodyPr wrap="square" lIns="45720" rIns="45720" tIns="18288" bIns="18288" anchor="ctr">
            <a:spAutoFit/>
          </a:bodyPr>
          <a:lstStyle/>
          <a:p>
            <a:pPr algn="ctr"/>
            <a:r>
              <a:rPr sz="2000" b="1">
                <a:solidFill>
                  <a:srgbClr val="FFFFFF"/>
                </a:solidFill>
                <a:latin typeface="Calibri"/>
              </a:rPr>
              <a:t>READS</a:t>
            </a:r>
          </a:p>
        </p:txBody>
      </p:sp>
      <p:sp>
        <p:nvSpPr>
          <p:cNvPr id="9" name="TextBox 8"/>
          <p:cNvSpPr txBox="1"/>
          <p:nvPr/>
        </p:nvSpPr>
        <p:spPr>
          <a:xfrm>
            <a:off x="2743200" y="1234440"/>
            <a:ext cx="8899855" cy="1417320"/>
          </a:xfrm>
          <a:prstGeom prst="rect">
            <a:avLst/>
          </a:prstGeom>
          <a:noFill/>
        </p:spPr>
        <p:txBody>
          <a:bodyPr wrap="square" lIns="45720" rIns="45720" tIns="18288" bIns="18288" anchor="ctr">
            <a:spAutoFit/>
          </a:bodyPr>
          <a:lstStyle/>
          <a:p>
            <a:pPr algn="l"/>
            <a:r>
              <a:rPr sz="1300" b="0">
                <a:solidFill>
                  <a:srgbClr val="333333"/>
                </a:solidFill>
                <a:latin typeface="Calibri"/>
              </a:rPr>
              <a:t>It pulls one full year of order history for every active product/customer combo from Quickbase. For Amazon items, it also pulls Amazon's consumer sales data so we can see what shoppers are actually buying.</a:t>
            </a:r>
          </a:p>
        </p:txBody>
      </p:sp>
      <p:sp>
        <p:nvSpPr>
          <p:cNvPr id="10" name="Rectangle 9"/>
          <p:cNvSpPr/>
          <p:nvPr/>
        </p:nvSpPr>
        <p:spPr>
          <a:xfrm>
            <a:off x="457200" y="2880360"/>
            <a:ext cx="11277295" cy="160020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880360"/>
            <a:ext cx="2103120" cy="16002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880360"/>
            <a:ext cx="2103120" cy="1600200"/>
          </a:xfrm>
          <a:prstGeom prst="rect">
            <a:avLst/>
          </a:prstGeom>
          <a:noFill/>
        </p:spPr>
        <p:txBody>
          <a:bodyPr wrap="square" lIns="45720" rIns="45720" tIns="18288" bIns="18288" anchor="ctr">
            <a:spAutoFit/>
          </a:bodyPr>
          <a:lstStyle/>
          <a:p>
            <a:pPr algn="ctr"/>
            <a:r>
              <a:rPr sz="2000" b="1">
                <a:solidFill>
                  <a:srgbClr val="FFFFFF"/>
                </a:solidFill>
                <a:latin typeface="Calibri"/>
              </a:rPr>
              <a:t>PREDICTS</a:t>
            </a:r>
          </a:p>
        </p:txBody>
      </p:sp>
      <p:sp>
        <p:nvSpPr>
          <p:cNvPr id="13" name="TextBox 12"/>
          <p:cNvSpPr txBox="1"/>
          <p:nvPr/>
        </p:nvSpPr>
        <p:spPr>
          <a:xfrm>
            <a:off x="2743200" y="3017520"/>
            <a:ext cx="8899855" cy="1417320"/>
          </a:xfrm>
          <a:prstGeom prst="rect">
            <a:avLst/>
          </a:prstGeom>
          <a:noFill/>
        </p:spPr>
        <p:txBody>
          <a:bodyPr wrap="square" lIns="45720" rIns="45720" tIns="18288" bIns="18288" anchor="ctr">
            <a:spAutoFit/>
          </a:bodyPr>
          <a:lstStyle/>
          <a:p>
            <a:pPr algn="l"/>
            <a:r>
              <a:rPr sz="1300" b="0">
                <a:solidFill>
                  <a:srgbClr val="333333"/>
                </a:solidFill>
                <a:latin typeface="Calibri"/>
              </a:rPr>
              <a:t>For each combo, it picks the right kind of math (one of 9 'recipes') based on whether the demand is steady, lumpy, ramping up, or quiet. Then it predicts how many units the customer will order each week for the next 26 weeks (6 months).</a:t>
            </a:r>
          </a:p>
        </p:txBody>
      </p:sp>
      <p:sp>
        <p:nvSpPr>
          <p:cNvPr id="14" name="Rectangle 13"/>
          <p:cNvSpPr/>
          <p:nvPr/>
        </p:nvSpPr>
        <p:spPr>
          <a:xfrm>
            <a:off x="457200" y="4663440"/>
            <a:ext cx="11277295" cy="160020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663440"/>
            <a:ext cx="2103120" cy="16002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663440"/>
            <a:ext cx="2103120" cy="1600200"/>
          </a:xfrm>
          <a:prstGeom prst="rect">
            <a:avLst/>
          </a:prstGeom>
          <a:noFill/>
        </p:spPr>
        <p:txBody>
          <a:bodyPr wrap="square" lIns="45720" rIns="45720" tIns="18288" bIns="18288" anchor="ctr">
            <a:spAutoFit/>
          </a:bodyPr>
          <a:lstStyle/>
          <a:p>
            <a:pPr algn="ctr"/>
            <a:r>
              <a:rPr sz="2000" b="1">
                <a:solidFill>
                  <a:srgbClr val="FFFFFF"/>
                </a:solidFill>
                <a:latin typeface="Calibri"/>
              </a:rPr>
              <a:t>WRITES &amp; FLAGS</a:t>
            </a:r>
          </a:p>
        </p:txBody>
      </p:sp>
      <p:sp>
        <p:nvSpPr>
          <p:cNvPr id="17" name="TextBox 16"/>
          <p:cNvSpPr txBox="1"/>
          <p:nvPr/>
        </p:nvSpPr>
        <p:spPr>
          <a:xfrm>
            <a:off x="2743200" y="4800600"/>
            <a:ext cx="8899855" cy="1417320"/>
          </a:xfrm>
          <a:prstGeom prst="rect">
            <a:avLst/>
          </a:prstGeom>
          <a:noFill/>
        </p:spPr>
        <p:txBody>
          <a:bodyPr wrap="square" lIns="45720" rIns="45720" tIns="18288" bIns="18288" anchor="ctr">
            <a:spAutoFit/>
          </a:bodyPr>
          <a:lstStyle/>
          <a:p>
            <a:pPr algn="l"/>
            <a:r>
              <a:rPr sz="1300" b="0">
                <a:solidFill>
                  <a:srgbClr val="333333"/>
                </a:solidFill>
                <a:latin typeface="Calibri"/>
              </a:rPr>
              <a:t>It writes the AI prediction back into Quickbase as 'AI_PRJ_W1' through 'AI_PRJ_W26', and adds a plain-English alert if the AI number differs from your manual projection by more than 5%. You stay in control — the AI just tells you where to look.</a:t>
            </a:r>
          </a:p>
        </p:txBody>
      </p:sp>
      <p:sp>
        <p:nvSpPr>
          <p:cNvPr id="18" name="TextBox 1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 / 35</a:t>
            </a:r>
          </a:p>
        </p:txBody>
      </p:sp>
      <p:sp>
        <p:nvSpPr>
          <p:cNvPr id="19" name="TextBox 1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How a forecast happens — step by step</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From clicking 'run' to seeing the AI numbers in Quickbase</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09728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097280"/>
            <a:ext cx="2468880" cy="11887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97280"/>
            <a:ext cx="2468880" cy="1188720"/>
          </a:xfrm>
          <a:prstGeom prst="rect">
            <a:avLst/>
          </a:prstGeom>
          <a:noFill/>
        </p:spPr>
        <p:txBody>
          <a:bodyPr wrap="square" lIns="45720" rIns="45720" tIns="18288" bIns="18288" anchor="ctr">
            <a:spAutoFit/>
          </a:bodyPr>
          <a:lstStyle/>
          <a:p>
            <a:pPr algn="ctr"/>
            <a:r>
              <a:rPr sz="1400" b="1">
                <a:solidFill>
                  <a:srgbClr val="FFFFFF"/>
                </a:solidFill>
                <a:latin typeface="Calibri"/>
              </a:rPr>
              <a:t>Step 1 — Gather data</a:t>
            </a:r>
          </a:p>
        </p:txBody>
      </p:sp>
      <p:sp>
        <p:nvSpPr>
          <p:cNvPr id="9" name="TextBox 8"/>
          <p:cNvSpPr txBox="1"/>
          <p:nvPr/>
        </p:nvSpPr>
        <p:spPr>
          <a:xfrm>
            <a:off x="3474720" y="1188720"/>
            <a:ext cx="7863840" cy="1005840"/>
          </a:xfrm>
          <a:prstGeom prst="rect">
            <a:avLst/>
          </a:prstGeom>
          <a:noFill/>
        </p:spPr>
        <p:txBody>
          <a:bodyPr wrap="square" lIns="45720" rIns="45720" tIns="18288" bIns="18288" anchor="ctr">
            <a:spAutoFit/>
          </a:bodyPr>
          <a:lstStyle/>
          <a:p>
            <a:pPr algn="l"/>
            <a:r>
              <a:rPr sz="1200" b="0">
                <a:solidFill>
                  <a:srgbClr val="333333"/>
                </a:solidFill>
                <a:latin typeface="Calibri"/>
              </a:rPr>
              <a:t>Pull all 52 weeks of past orders, plus consumer-sales data for Amazon items and the case-pack size for every SKU.</a:t>
            </a:r>
          </a:p>
        </p:txBody>
      </p:sp>
      <p:sp>
        <p:nvSpPr>
          <p:cNvPr id="10" name="Rectangle 9"/>
          <p:cNvSpPr/>
          <p:nvPr/>
        </p:nvSpPr>
        <p:spPr>
          <a:xfrm>
            <a:off x="914400" y="242316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423160"/>
            <a:ext cx="2468880" cy="11887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23160"/>
            <a:ext cx="2468880" cy="1188720"/>
          </a:xfrm>
          <a:prstGeom prst="rect">
            <a:avLst/>
          </a:prstGeom>
          <a:noFill/>
        </p:spPr>
        <p:txBody>
          <a:bodyPr wrap="square" lIns="45720" rIns="45720" tIns="18288" bIns="18288" anchor="ctr">
            <a:spAutoFit/>
          </a:bodyPr>
          <a:lstStyle/>
          <a:p>
            <a:pPr algn="ctr"/>
            <a:r>
              <a:rPr sz="1400" b="1">
                <a:solidFill>
                  <a:srgbClr val="FFFFFF"/>
                </a:solidFill>
                <a:latin typeface="Calibri"/>
              </a:rPr>
              <a:t>Step 2 — Pick a recipe</a:t>
            </a:r>
          </a:p>
        </p:txBody>
      </p:sp>
      <p:sp>
        <p:nvSpPr>
          <p:cNvPr id="13" name="TextBox 12"/>
          <p:cNvSpPr txBox="1"/>
          <p:nvPr/>
        </p:nvSpPr>
        <p:spPr>
          <a:xfrm>
            <a:off x="3474720" y="2514600"/>
            <a:ext cx="7863840" cy="1005840"/>
          </a:xfrm>
          <a:prstGeom prst="rect">
            <a:avLst/>
          </a:prstGeom>
          <a:noFill/>
        </p:spPr>
        <p:txBody>
          <a:bodyPr wrap="square" lIns="45720" rIns="45720" tIns="18288" bIns="18288" anchor="ctr">
            <a:spAutoFit/>
          </a:bodyPr>
          <a:lstStyle/>
          <a:p>
            <a:pPr algn="l"/>
            <a:r>
              <a:rPr sz="1200" b="0">
                <a:solidFill>
                  <a:srgbClr val="333333"/>
                </a:solidFill>
                <a:latin typeface="Calibri"/>
              </a:rPr>
              <a:t>Look at the order pattern. Steady weekly orders? Lumpy and unpredictable? Brand new with little history? Each pattern gets its own forecasting recipe.</a:t>
            </a:r>
          </a:p>
        </p:txBody>
      </p:sp>
      <p:sp>
        <p:nvSpPr>
          <p:cNvPr id="14" name="Rectangle 13"/>
          <p:cNvSpPr/>
          <p:nvPr/>
        </p:nvSpPr>
        <p:spPr>
          <a:xfrm>
            <a:off x="914400" y="374904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3749040"/>
            <a:ext cx="2468880" cy="11887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49040"/>
            <a:ext cx="2468880" cy="1188720"/>
          </a:xfrm>
          <a:prstGeom prst="rect">
            <a:avLst/>
          </a:prstGeom>
          <a:noFill/>
        </p:spPr>
        <p:txBody>
          <a:bodyPr wrap="square" lIns="45720" rIns="45720" tIns="18288" bIns="18288" anchor="ctr">
            <a:spAutoFit/>
          </a:bodyPr>
          <a:lstStyle/>
          <a:p>
            <a:pPr algn="ctr"/>
            <a:r>
              <a:rPr sz="1400" b="1">
                <a:solidFill>
                  <a:srgbClr val="FFFFFF"/>
                </a:solidFill>
                <a:latin typeface="Calibri"/>
              </a:rPr>
              <a:t>Step 3 — Predict 26 weeks</a:t>
            </a:r>
          </a:p>
        </p:txBody>
      </p:sp>
      <p:sp>
        <p:nvSpPr>
          <p:cNvPr id="17" name="TextBox 16"/>
          <p:cNvSpPr txBox="1"/>
          <p:nvPr/>
        </p:nvSpPr>
        <p:spPr>
          <a:xfrm>
            <a:off x="3474720" y="3840480"/>
            <a:ext cx="7863840" cy="1005840"/>
          </a:xfrm>
          <a:prstGeom prst="rect">
            <a:avLst/>
          </a:prstGeom>
          <a:noFill/>
        </p:spPr>
        <p:txBody>
          <a:bodyPr wrap="square" lIns="45720" rIns="45720" tIns="18288" bIns="18288" anchor="ctr">
            <a:spAutoFit/>
          </a:bodyPr>
          <a:lstStyle/>
          <a:p>
            <a:pPr algn="l"/>
            <a:r>
              <a:rPr sz="1200" b="0">
                <a:solidFill>
                  <a:srgbClr val="333333"/>
                </a:solidFill>
                <a:latin typeface="Calibri"/>
              </a:rPr>
              <a:t>Run the chosen recipe to produce a number for each of the next 26 weeks. Bump up Prime Day weeks for Amazon, and the Fall Deal weeks for everyone.</a:t>
            </a:r>
          </a:p>
        </p:txBody>
      </p:sp>
      <p:sp>
        <p:nvSpPr>
          <p:cNvPr id="18" name="Rectangle 17"/>
          <p:cNvSpPr/>
          <p:nvPr/>
        </p:nvSpPr>
        <p:spPr>
          <a:xfrm>
            <a:off x="914400" y="5074919"/>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074919"/>
            <a:ext cx="2468880" cy="118872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074919"/>
            <a:ext cx="2468880" cy="1188720"/>
          </a:xfrm>
          <a:prstGeom prst="rect">
            <a:avLst/>
          </a:prstGeom>
          <a:noFill/>
        </p:spPr>
        <p:txBody>
          <a:bodyPr wrap="square" lIns="45720" rIns="45720" tIns="18288" bIns="18288" anchor="ctr">
            <a:spAutoFit/>
          </a:bodyPr>
          <a:lstStyle/>
          <a:p>
            <a:pPr algn="ctr"/>
            <a:r>
              <a:rPr sz="1400" b="1">
                <a:solidFill>
                  <a:srgbClr val="FFFFFF"/>
                </a:solidFill>
                <a:latin typeface="Calibri"/>
              </a:rPr>
              <a:t>Step 4 — Sanity check &amp; save</a:t>
            </a:r>
          </a:p>
        </p:txBody>
      </p:sp>
      <p:sp>
        <p:nvSpPr>
          <p:cNvPr id="21" name="TextBox 20"/>
          <p:cNvSpPr txBox="1"/>
          <p:nvPr/>
        </p:nvSpPr>
        <p:spPr>
          <a:xfrm>
            <a:off x="3474720" y="5166359"/>
            <a:ext cx="7863840" cy="1005840"/>
          </a:xfrm>
          <a:prstGeom prst="rect">
            <a:avLst/>
          </a:prstGeom>
          <a:noFill/>
        </p:spPr>
        <p:txBody>
          <a:bodyPr wrap="square" lIns="45720" rIns="45720" tIns="18288" bIns="18288" anchor="ctr">
            <a:spAutoFit/>
          </a:bodyPr>
          <a:lstStyle/>
          <a:p>
            <a:pPr algn="l"/>
            <a:r>
              <a:rPr sz="1200" b="0">
                <a:solidFill>
                  <a:srgbClr val="333333"/>
                </a:solidFill>
                <a:latin typeface="Calibri"/>
              </a:rPr>
              <a:t>Round to case-pack multiples. If the customer already has a confirmed PO in a future week, set that AI week to zero (don't double-count). Save back to Quickbase + write an alert.</a:t>
            </a:r>
          </a:p>
        </p:txBody>
      </p:sp>
      <p:sp>
        <p:nvSpPr>
          <p:cNvPr id="22" name="TextBox 2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 / 35</a:t>
            </a:r>
          </a:p>
        </p:txBody>
      </p:sp>
      <p:sp>
        <p:nvSpPr>
          <p:cNvPr id="23" name="TextBox 2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The 9 forecasting recipes — and when each one is used</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Plain-English version of how the tool picks a recipe</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960120"/>
          <a:ext cx="11277295" cy="5120640"/>
        </p:xfrm>
        <a:graphic>
          <a:graphicData uri="http://schemas.openxmlformats.org/drawingml/2006/table">
            <a:tbl>
              <a:tblPr firstRow="1" bandRow="1">
                <a:tableStyleId>{5C22544A-7EE6-4342-B048-85BDC9FD1C3A}</a:tableStyleId>
              </a:tblPr>
              <a:tblGrid>
                <a:gridCol w="3759098"/>
                <a:gridCol w="3759098"/>
                <a:gridCol w="3759099"/>
              </a:tblGrid>
              <a:tr h="512064">
                <a:tc>
                  <a:txBody>
                    <a:bodyPr/>
                    <a:lstStyle/>
                    <a:p>
                      <a:pPr algn="l"/>
                      <a:r>
                        <a:rPr b="1" sz="1200">
                          <a:solidFill>
                            <a:srgbClr val="FFFFFF"/>
                          </a:solidFill>
                          <a:latin typeface="Calibri"/>
                        </a:rPr>
                        <a:t>What the order pattern looks like</a:t>
                      </a:r>
                    </a:p>
                  </a:txBody>
                  <a:tcPr>
                    <a:solidFill>
                      <a:srgbClr val="1F3A5F"/>
                    </a:solidFill>
                  </a:tcPr>
                </a:tc>
                <a:tc>
                  <a:txBody>
                    <a:bodyPr/>
                    <a:lstStyle/>
                    <a:p>
                      <a:pPr algn="l"/>
                      <a:r>
                        <a:rPr b="1" sz="1200">
                          <a:solidFill>
                            <a:srgbClr val="FFFFFF"/>
                          </a:solidFill>
                          <a:latin typeface="Calibri"/>
                        </a:rPr>
                        <a:t>Recipe name</a:t>
                      </a:r>
                    </a:p>
                  </a:txBody>
                  <a:tcPr>
                    <a:solidFill>
                      <a:srgbClr val="1F3A5F"/>
                    </a:solidFill>
                  </a:tcPr>
                </a:tc>
                <a:tc>
                  <a:txBody>
                    <a:bodyPr/>
                    <a:lstStyle/>
                    <a:p>
                      <a:pPr algn="l"/>
                      <a:r>
                        <a:rPr b="1" sz="1200">
                          <a:solidFill>
                            <a:srgbClr val="FFFFFF"/>
                          </a:solidFill>
                          <a:latin typeface="Calibri"/>
                        </a:rPr>
                        <a:t>What it does</a:t>
                      </a:r>
                    </a:p>
                  </a:txBody>
                  <a:tcPr>
                    <a:solidFill>
                      <a:srgbClr val="1F3A5F"/>
                    </a:solidFill>
                  </a:tcPr>
                </a:tc>
              </a:tr>
              <a:tr h="512064">
                <a:tc>
                  <a:txBody>
                    <a:bodyPr wrap="square"/>
                    <a:lstStyle/>
                    <a:p>
                      <a:pPr algn="l"/>
                      <a:r>
                        <a:rPr sz="1100">
                          <a:solidFill>
                            <a:srgbClr val="333333"/>
                          </a:solidFill>
                          <a:latin typeface="Calibri"/>
                        </a:rPr>
                        <a:t>Customer hasn't ordered in 6+ months</a:t>
                      </a:r>
                    </a:p>
                  </a:txBody>
                  <a:tcPr>
                    <a:solidFill>
                      <a:srgbClr val="FFFFFF"/>
                    </a:solidFill>
                  </a:tcPr>
                </a:tc>
                <a:tc>
                  <a:txBody>
                    <a:bodyPr wrap="square"/>
                    <a:lstStyle/>
                    <a:p>
                      <a:pPr algn="l"/>
                      <a:r>
                        <a:rPr sz="1100">
                          <a:solidFill>
                            <a:srgbClr val="333333"/>
                          </a:solidFill>
                          <a:latin typeface="Calibri"/>
                        </a:rPr>
                        <a:t>Inactive</a:t>
                      </a:r>
                    </a:p>
                  </a:txBody>
                  <a:tcPr>
                    <a:solidFill>
                      <a:srgbClr val="FFFFFF"/>
                    </a:solidFill>
                  </a:tcPr>
                </a:tc>
                <a:tc>
                  <a:txBody>
                    <a:bodyPr wrap="square"/>
                    <a:lstStyle/>
                    <a:p>
                      <a:pPr algn="l"/>
                      <a:r>
                        <a:rPr sz="1100">
                          <a:solidFill>
                            <a:srgbClr val="333333"/>
                          </a:solidFill>
                          <a:latin typeface="Calibri"/>
                        </a:rPr>
                        <a:t>Forecast = 0. We don't invent demand from thin air.</a:t>
                      </a:r>
                    </a:p>
                  </a:txBody>
                  <a:tcPr>
                    <a:solidFill>
                      <a:srgbClr val="FFFFFF"/>
                    </a:solidFill>
                  </a:tcPr>
                </a:tc>
              </a:tr>
              <a:tr h="512064">
                <a:tc>
                  <a:txBody>
                    <a:bodyPr wrap="square"/>
                    <a:lstStyle/>
                    <a:p>
                      <a:pPr algn="l"/>
                      <a:r>
                        <a:rPr sz="1100">
                          <a:solidFill>
                            <a:srgbClr val="333333"/>
                          </a:solidFill>
                          <a:latin typeface="Calibri"/>
                        </a:rPr>
                        <a:t>Brand-new item ('NEW' status, no order history)</a:t>
                      </a:r>
                    </a:p>
                  </a:txBody>
                  <a:tcPr>
                    <a:solidFill>
                      <a:srgbClr val="F2F2F2"/>
                    </a:solidFill>
                  </a:tcPr>
                </a:tc>
                <a:tc>
                  <a:txBody>
                    <a:bodyPr wrap="square"/>
                    <a:lstStyle/>
                    <a:p>
                      <a:pPr algn="l"/>
                      <a:r>
                        <a:rPr sz="1100">
                          <a:solidFill>
                            <a:srgbClr val="333333"/>
                          </a:solidFill>
                          <a:latin typeface="Calibri"/>
                        </a:rPr>
                        <a:t>Pre-launch</a:t>
                      </a:r>
                    </a:p>
                  </a:txBody>
                  <a:tcPr>
                    <a:solidFill>
                      <a:srgbClr val="F2F2F2"/>
                    </a:solidFill>
                  </a:tcPr>
                </a:tc>
                <a:tc>
                  <a:txBody>
                    <a:bodyPr wrap="square"/>
                    <a:lstStyle/>
                    <a:p>
                      <a:pPr algn="l"/>
                      <a:r>
                        <a:rPr sz="1100">
                          <a:solidFill>
                            <a:srgbClr val="333333"/>
                          </a:solidFill>
                          <a:latin typeface="Calibri"/>
                        </a:rPr>
                        <a:t>Use planner's manual projection. Tool has nothing to compare to.</a:t>
                      </a:r>
                    </a:p>
                  </a:txBody>
                  <a:tcPr>
                    <a:solidFill>
                      <a:srgbClr val="F2F2F2"/>
                    </a:solidFill>
                  </a:tcPr>
                </a:tc>
              </a:tr>
              <a:tr h="512064">
                <a:tc>
                  <a:txBody>
                    <a:bodyPr wrap="square"/>
                    <a:lstStyle/>
                    <a:p>
                      <a:pPr algn="l"/>
                      <a:r>
                        <a:rPr sz="1100">
                          <a:solidFill>
                            <a:srgbClr val="333333"/>
                          </a:solidFill>
                          <a:latin typeface="Calibri"/>
                        </a:rPr>
                        <a:t>Amazon Private Label (Amazon-branded, we make)</a:t>
                      </a:r>
                    </a:p>
                  </a:txBody>
                  <a:tcPr>
                    <a:solidFill>
                      <a:srgbClr val="FFFFFF"/>
                    </a:solidFill>
                  </a:tcPr>
                </a:tc>
                <a:tc>
                  <a:txBody>
                    <a:bodyPr wrap="square"/>
                    <a:lstStyle/>
                    <a:p>
                      <a:pPr algn="l"/>
                      <a:r>
                        <a:rPr sz="1100">
                          <a:solidFill>
                            <a:srgbClr val="333333"/>
                          </a:solidFill>
                          <a:latin typeface="Calibri"/>
                        </a:rPr>
                        <a:t>Normal Amazon recipe</a:t>
                      </a:r>
                    </a:p>
                  </a:txBody>
                  <a:tcPr>
                    <a:solidFill>
                      <a:srgbClr val="FFFFFF"/>
                    </a:solidFill>
                  </a:tcPr>
                </a:tc>
                <a:tc>
                  <a:txBody>
                    <a:bodyPr wrap="square"/>
                    <a:lstStyle/>
                    <a:p>
                      <a:pPr algn="l"/>
                      <a:r>
                        <a:rPr sz="1100">
                          <a:solidFill>
                            <a:srgbClr val="333333"/>
                          </a:solidFill>
                          <a:latin typeface="Calibri"/>
                        </a:rPr>
                        <a:t>We ship these. Order/ship history + Amazon POS available — same recipe selection as any other Amazon item with POS blend.</a:t>
                      </a:r>
                    </a:p>
                  </a:txBody>
                  <a:tcPr>
                    <a:solidFill>
                      <a:srgbClr val="FFFFFF"/>
                    </a:solidFill>
                  </a:tcPr>
                </a:tc>
              </a:tr>
              <a:tr h="512064">
                <a:tc>
                  <a:txBody>
                    <a:bodyPr wrap="square"/>
                    <a:lstStyle/>
                    <a:p>
                      <a:pPr algn="l"/>
                      <a:r>
                        <a:rPr sz="1100">
                          <a:solidFill>
                            <a:srgbClr val="333333"/>
                          </a:solidFill>
                          <a:latin typeface="Calibri"/>
                        </a:rPr>
                        <a:t>Off-price retailer (Burlington, Ross, Big Lots, etc.)</a:t>
                      </a:r>
                    </a:p>
                  </a:txBody>
                  <a:tcPr>
                    <a:solidFill>
                      <a:srgbClr val="F2F2F2"/>
                    </a:solidFill>
                  </a:tcPr>
                </a:tc>
                <a:tc>
                  <a:txBody>
                    <a:bodyPr wrap="square"/>
                    <a:lstStyle/>
                    <a:p>
                      <a:pPr algn="l"/>
                      <a:r>
                        <a:rPr sz="1100">
                          <a:solidFill>
                            <a:srgbClr val="333333"/>
                          </a:solidFill>
                          <a:latin typeface="Calibri"/>
                        </a:rPr>
                        <a:t>One-Time-Buy</a:t>
                      </a:r>
                    </a:p>
                  </a:txBody>
                  <a:tcPr>
                    <a:solidFill>
                      <a:srgbClr val="F2F2F2"/>
                    </a:solidFill>
                  </a:tcPr>
                </a:tc>
                <a:tc>
                  <a:txBody>
                    <a:bodyPr wrap="square"/>
                    <a:lstStyle/>
                    <a:p>
                      <a:pPr algn="l"/>
                      <a:r>
                        <a:rPr sz="1100">
                          <a:solidFill>
                            <a:srgbClr val="333333"/>
                          </a:solidFill>
                          <a:latin typeface="Calibri"/>
                        </a:rPr>
                        <a:t>These accounts buy in occasional big lumps. Forecast zero between events.</a:t>
                      </a:r>
                    </a:p>
                  </a:txBody>
                  <a:tcPr>
                    <a:solidFill>
                      <a:srgbClr val="F2F2F2"/>
                    </a:solidFill>
                  </a:tcPr>
                </a:tc>
              </a:tr>
              <a:tr h="512064">
                <a:tc>
                  <a:txBody>
                    <a:bodyPr wrap="square"/>
                    <a:lstStyle/>
                    <a:p>
                      <a:pPr algn="l"/>
                      <a:r>
                        <a:rPr sz="1100">
                          <a:solidFill>
                            <a:srgbClr val="333333"/>
                          </a:solidFill>
                          <a:latin typeface="Calibri"/>
                        </a:rPr>
                        <a:t>Spotty history (lots of zero weeks)</a:t>
                      </a:r>
                    </a:p>
                  </a:txBody>
                  <a:tcPr>
                    <a:solidFill>
                      <a:srgbClr val="FFFFFF"/>
                    </a:solidFill>
                  </a:tcPr>
                </a:tc>
                <a:tc>
                  <a:txBody>
                    <a:bodyPr wrap="square"/>
                    <a:lstStyle/>
                    <a:p>
                      <a:pPr algn="l"/>
                      <a:r>
                        <a:rPr sz="1100">
                          <a:solidFill>
                            <a:srgbClr val="333333"/>
                          </a:solidFill>
                          <a:latin typeface="Calibri"/>
                        </a:rPr>
                        <a:t>Sparse</a:t>
                      </a:r>
                    </a:p>
                  </a:txBody>
                  <a:tcPr>
                    <a:solidFill>
                      <a:srgbClr val="FFFFFF"/>
                    </a:solidFill>
                  </a:tcPr>
                </a:tc>
                <a:tc>
                  <a:txBody>
                    <a:bodyPr wrap="square"/>
                    <a:lstStyle/>
                    <a:p>
                      <a:pPr algn="l"/>
                      <a:r>
                        <a:rPr sz="1100">
                          <a:solidFill>
                            <a:srgbClr val="333333"/>
                          </a:solidFill>
                          <a:latin typeface="Calibri"/>
                        </a:rPr>
                        <a:t>Average the weeks where orders did happen, scale by season.</a:t>
                      </a:r>
                    </a:p>
                  </a:txBody>
                  <a:tcPr>
                    <a:solidFill>
                      <a:srgbClr val="FFFFFF"/>
                    </a:solidFill>
                  </a:tcPr>
                </a:tc>
              </a:tr>
              <a:tr h="512064">
                <a:tc>
                  <a:txBody>
                    <a:bodyPr wrap="square"/>
                    <a:lstStyle/>
                    <a:p>
                      <a:pPr algn="l"/>
                      <a:r>
                        <a:rPr sz="1100">
                          <a:solidFill>
                            <a:srgbClr val="333333"/>
                          </a:solidFill>
                          <a:latin typeface="Calibri"/>
                        </a:rPr>
                        <a:t>Item just came back from a quiet period</a:t>
                      </a:r>
                    </a:p>
                  </a:txBody>
                  <a:tcPr>
                    <a:solidFill>
                      <a:srgbClr val="F2F2F2"/>
                    </a:solidFill>
                  </a:tcPr>
                </a:tc>
                <a:tc>
                  <a:txBody>
                    <a:bodyPr wrap="square"/>
                    <a:lstStyle/>
                    <a:p>
                      <a:pPr algn="l"/>
                      <a:r>
                        <a:rPr sz="1100">
                          <a:solidFill>
                            <a:srgbClr val="333333"/>
                          </a:solidFill>
                          <a:latin typeface="Calibri"/>
                        </a:rPr>
                        <a:t>Reactivating</a:t>
                      </a:r>
                    </a:p>
                  </a:txBody>
                  <a:tcPr>
                    <a:solidFill>
                      <a:srgbClr val="F2F2F2"/>
                    </a:solidFill>
                  </a:tcPr>
                </a:tc>
                <a:tc>
                  <a:txBody>
                    <a:bodyPr wrap="square"/>
                    <a:lstStyle/>
                    <a:p>
                      <a:pPr algn="l"/>
                      <a:r>
                        <a:rPr sz="1100">
                          <a:solidFill>
                            <a:srgbClr val="333333"/>
                          </a:solidFill>
                          <a:latin typeface="Calibri"/>
                        </a:rPr>
                        <a:t>Use the post-restart average; respect any recent ramp.</a:t>
                      </a:r>
                    </a:p>
                  </a:txBody>
                  <a:tcPr>
                    <a:solidFill>
                      <a:srgbClr val="F2F2F2"/>
                    </a:solidFill>
                  </a:tcPr>
                </a:tc>
              </a:tr>
              <a:tr h="512064">
                <a:tc>
                  <a:txBody>
                    <a:bodyPr wrap="square"/>
                    <a:lstStyle/>
                    <a:p>
                      <a:pPr algn="l"/>
                      <a:r>
                        <a:rPr sz="1100">
                          <a:solidFill>
                            <a:srgbClr val="333333"/>
                          </a:solidFill>
                          <a:latin typeface="Calibri"/>
                        </a:rPr>
                        <a:t>Steady weekly orders (most pet/CPG items)</a:t>
                      </a:r>
                    </a:p>
                  </a:txBody>
                  <a:tcPr>
                    <a:solidFill>
                      <a:srgbClr val="FFFFFF"/>
                    </a:solidFill>
                  </a:tcPr>
                </a:tc>
                <a:tc>
                  <a:txBody>
                    <a:bodyPr wrap="square"/>
                    <a:lstStyle/>
                    <a:p>
                      <a:pPr algn="l"/>
                      <a:r>
                        <a:rPr sz="1100">
                          <a:solidFill>
                            <a:srgbClr val="333333"/>
                          </a:solidFill>
                          <a:latin typeface="Calibri"/>
                        </a:rPr>
                        <a:t>Steady-Demand</a:t>
                      </a:r>
                    </a:p>
                  </a:txBody>
                  <a:tcPr>
                    <a:solidFill>
                      <a:srgbClr val="FFFFFF"/>
                    </a:solidFill>
                  </a:tcPr>
                </a:tc>
                <a:tc>
                  <a:txBody>
                    <a:bodyPr wrap="square"/>
                    <a:lstStyle/>
                    <a:p>
                      <a:pPr algn="l"/>
                      <a:r>
                        <a:rPr sz="1100">
                          <a:solidFill>
                            <a:srgbClr val="333333"/>
                          </a:solidFill>
                          <a:latin typeface="Calibri"/>
                        </a:rPr>
                        <a:t>Smooth out noise; use last 13 weeks as the strongest signal.</a:t>
                      </a:r>
                    </a:p>
                  </a:txBody>
                  <a:tcPr>
                    <a:solidFill>
                      <a:srgbClr val="FFFFFF"/>
                    </a:solidFill>
                  </a:tcPr>
                </a:tc>
              </a:tr>
              <a:tr h="512064">
                <a:tc>
                  <a:txBody>
                    <a:bodyPr wrap="square"/>
                    <a:lstStyle/>
                    <a:p>
                      <a:pPr algn="l"/>
                      <a:r>
                        <a:rPr sz="1100">
                          <a:solidFill>
                            <a:srgbClr val="333333"/>
                          </a:solidFill>
                          <a:latin typeface="Calibri"/>
                        </a:rPr>
                        <a:t>Up-and-down lumpy ordering</a:t>
                      </a:r>
                    </a:p>
                  </a:txBody>
                  <a:tcPr>
                    <a:solidFill>
                      <a:srgbClr val="F2F2F2"/>
                    </a:solidFill>
                  </a:tcPr>
                </a:tc>
                <a:tc>
                  <a:txBody>
                    <a:bodyPr wrap="square"/>
                    <a:lstStyle/>
                    <a:p>
                      <a:pPr algn="l"/>
                      <a:r>
                        <a:rPr sz="1100">
                          <a:solidFill>
                            <a:srgbClr val="333333"/>
                          </a:solidFill>
                          <a:latin typeface="Calibri"/>
                        </a:rPr>
                        <a:t>Lumpy</a:t>
                      </a:r>
                    </a:p>
                  </a:txBody>
                  <a:tcPr>
                    <a:solidFill>
                      <a:srgbClr val="F2F2F2"/>
                    </a:solidFill>
                  </a:tcPr>
                </a:tc>
                <a:tc>
                  <a:txBody>
                    <a:bodyPr wrap="square"/>
                    <a:lstStyle/>
                    <a:p>
                      <a:pPr algn="l"/>
                      <a:r>
                        <a:rPr sz="1100">
                          <a:solidFill>
                            <a:srgbClr val="333333"/>
                          </a:solidFill>
                          <a:latin typeface="Calibri"/>
                        </a:rPr>
                        <a:t>Predict order size separately from how often orders come.</a:t>
                      </a:r>
                    </a:p>
                  </a:txBody>
                  <a:tcPr>
                    <a:solidFill>
                      <a:srgbClr val="F2F2F2"/>
                    </a:solidFill>
                  </a:tcPr>
                </a:tc>
              </a:tr>
              <a:tr h="512064">
                <a:tc>
                  <a:txBody>
                    <a:bodyPr wrap="square"/>
                    <a:lstStyle/>
                    <a:p>
                      <a:pPr algn="l"/>
                      <a:r>
                        <a:rPr sz="1100">
                          <a:solidFill>
                            <a:srgbClr val="333333"/>
                          </a:solidFill>
                          <a:latin typeface="Calibri"/>
                        </a:rPr>
                        <a:t>Smooth dense orders with seasonal pattern</a:t>
                      </a:r>
                    </a:p>
                  </a:txBody>
                  <a:tcPr>
                    <a:solidFill>
                      <a:srgbClr val="FFFFFF"/>
                    </a:solidFill>
                  </a:tcPr>
                </a:tc>
                <a:tc>
                  <a:txBody>
                    <a:bodyPr wrap="square"/>
                    <a:lstStyle/>
                    <a:p>
                      <a:pPr algn="l"/>
                      <a:r>
                        <a:rPr sz="1100">
                          <a:solidFill>
                            <a:srgbClr val="333333"/>
                          </a:solidFill>
                          <a:latin typeface="Calibri"/>
                        </a:rPr>
                        <a:t>Seasonal Baseline</a:t>
                      </a:r>
                    </a:p>
                  </a:txBody>
                  <a:tcPr>
                    <a:solidFill>
                      <a:srgbClr val="FFFFFF"/>
                    </a:solidFill>
                  </a:tcPr>
                </a:tc>
                <a:tc>
                  <a:txBody>
                    <a:bodyPr wrap="square"/>
                    <a:lstStyle/>
                    <a:p>
                      <a:pPr algn="l"/>
                      <a:r>
                        <a:rPr sz="1100">
                          <a:solidFill>
                            <a:srgbClr val="333333"/>
                          </a:solidFill>
                          <a:latin typeface="Calibri"/>
                        </a:rPr>
                        <a:t>Anchor on recent average; adjust for time of year + Amazon shopper data.</a:t>
                      </a:r>
                    </a:p>
                  </a:txBody>
                  <a:tcPr>
                    <a:solidFill>
                      <a:srgbClr val="FFFFFF"/>
                    </a:solidFill>
                  </a:tcPr>
                </a:tc>
              </a:tr>
            </a:tbl>
          </a:graphicData>
        </a:graphic>
      </p:graphicFrame>
      <p:sp>
        <p:nvSpPr>
          <p:cNvPr id="7" name="TextBox 6"/>
          <p:cNvSpPr txBox="1"/>
          <p:nvPr/>
        </p:nvSpPr>
        <p:spPr>
          <a:xfrm>
            <a:off x="457200" y="6172200"/>
            <a:ext cx="11277295" cy="274320"/>
          </a:xfrm>
          <a:prstGeom prst="rect">
            <a:avLst/>
          </a:prstGeom>
          <a:noFill/>
        </p:spPr>
        <p:txBody>
          <a:bodyPr wrap="square" lIns="45720" rIns="45720" tIns="18288" bIns="18288" anchor="t">
            <a:spAutoFit/>
          </a:bodyPr>
          <a:lstStyle/>
          <a:p>
            <a:pPr algn="l"/>
            <a:r>
              <a:rPr sz="1000" b="0">
                <a:solidFill>
                  <a:srgbClr val="666666"/>
                </a:solidFill>
                <a:latin typeface="Calibri"/>
              </a:rPr>
              <a:t>Routing is automatic — the tool reads the pattern and assigns a recipe. You don't pick; you just see which one was used in the alert.</a:t>
            </a:r>
          </a:p>
        </p:txBody>
      </p:sp>
      <p:sp>
        <p:nvSpPr>
          <p:cNvPr id="8" name="TextBox 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4 / 35</a:t>
            </a:r>
          </a:p>
        </p:txBody>
      </p:sp>
      <p:sp>
        <p:nvSpPr>
          <p:cNvPr id="9" name="TextBox 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The four main recipes — what they do, simply</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These cover most of your active products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60120"/>
            <a:ext cx="5669280"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60120"/>
            <a:ext cx="566928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960120"/>
            <a:ext cx="5303520" cy="502920"/>
          </a:xfrm>
          <a:prstGeom prst="rect">
            <a:avLst/>
          </a:prstGeom>
          <a:noFill/>
        </p:spPr>
        <p:txBody>
          <a:bodyPr wrap="square" lIns="45720" rIns="45720" tIns="18288" bIns="18288" anchor="ctr">
            <a:spAutoFit/>
          </a:bodyPr>
          <a:lstStyle/>
          <a:p>
            <a:pPr algn="l"/>
            <a:r>
              <a:rPr sz="1500" b="1">
                <a:solidFill>
                  <a:srgbClr val="FFFFFF"/>
                </a:solidFill>
                <a:latin typeface="Calibri"/>
              </a:rPr>
              <a:t>Steady-Demand</a:t>
            </a:r>
          </a:p>
        </p:txBody>
      </p:sp>
      <p:sp>
        <p:nvSpPr>
          <p:cNvPr id="9" name="TextBox 8"/>
          <p:cNvSpPr txBox="1"/>
          <p:nvPr/>
        </p:nvSpPr>
        <p:spPr>
          <a:xfrm>
            <a:off x="640080" y="1463040"/>
            <a:ext cx="5303520" cy="320040"/>
          </a:xfrm>
          <a:prstGeom prst="rect">
            <a:avLst/>
          </a:prstGeom>
          <a:noFill/>
        </p:spPr>
        <p:txBody>
          <a:bodyPr wrap="square" lIns="45720" rIns="45720" tIns="18288" bIns="18288" anchor="ctr">
            <a:spAutoFit/>
          </a:bodyPr>
          <a:lstStyle/>
          <a:p>
            <a:pPr algn="l"/>
            <a:r>
              <a:rPr sz="1000" b="0">
                <a:solidFill>
                  <a:srgbClr val="666666"/>
                </a:solidFill>
                <a:latin typeface="Calibri"/>
              </a:rPr>
              <a:t>Items that ship a similar amount every week</a:t>
            </a:r>
          </a:p>
        </p:txBody>
      </p:sp>
      <p:sp>
        <p:nvSpPr>
          <p:cNvPr id="10" name="TextBox 9"/>
          <p:cNvSpPr txBox="1"/>
          <p:nvPr/>
        </p:nvSpPr>
        <p:spPr>
          <a:xfrm>
            <a:off x="640080" y="1828800"/>
            <a:ext cx="5303520" cy="1691640"/>
          </a:xfrm>
          <a:prstGeom prst="rect">
            <a:avLst/>
          </a:prstGeom>
          <a:noFill/>
        </p:spPr>
        <p:txBody>
          <a:bodyPr wrap="square" lIns="45720">
            <a:spAutoFit/>
          </a:bodyPr>
          <a:lstStyle/>
          <a:p>
            <a:pPr algn="l">
              <a:spcAft>
                <a:spcPts val="500"/>
              </a:spcAft>
            </a:pPr>
            <a:r>
              <a:rPr sz="1000" b="1">
                <a:solidFill>
                  <a:srgbClr val="2A9D8F"/>
                </a:solidFill>
                <a:latin typeface="Calibri"/>
              </a:rPr>
              <a:t>●  </a:t>
            </a:r>
            <a:r>
              <a:rPr sz="1000">
                <a:solidFill>
                  <a:srgbClr val="333333"/>
                </a:solidFill>
                <a:latin typeface="Calibri"/>
              </a:rPr>
              <a:t>Looks at the past year, but weights the most recent 3 months 3x heavier</a:t>
            </a:r>
          </a:p>
          <a:p>
            <a:pPr algn="l">
              <a:spcAft>
                <a:spcPts val="500"/>
              </a:spcAft>
            </a:pPr>
            <a:r>
              <a:rPr sz="1000" b="1">
                <a:solidFill>
                  <a:srgbClr val="2A9D8F"/>
                </a:solidFill>
                <a:latin typeface="Calibri"/>
              </a:rPr>
              <a:t>●  </a:t>
            </a:r>
            <a:r>
              <a:rPr sz="1000">
                <a:solidFill>
                  <a:srgbClr val="333333"/>
                </a:solidFill>
                <a:latin typeface="Calibri"/>
              </a:rPr>
              <a:t>Smooths out random week-to-week noise</a:t>
            </a:r>
          </a:p>
          <a:p>
            <a:pPr algn="l">
              <a:spcAft>
                <a:spcPts val="500"/>
              </a:spcAft>
            </a:pPr>
            <a:r>
              <a:rPr sz="1000" b="1">
                <a:solidFill>
                  <a:srgbClr val="2A9D8F"/>
                </a:solidFill>
                <a:latin typeface="Calibri"/>
              </a:rPr>
              <a:t>●  </a:t>
            </a:r>
            <a:r>
              <a:rPr sz="1000">
                <a:solidFill>
                  <a:srgbClr val="333333"/>
                </a:solidFill>
                <a:latin typeface="Calibri"/>
              </a:rPr>
              <a:t>Keeps a slight trend (climbing or sliding) if one is real</a:t>
            </a:r>
          </a:p>
          <a:p>
            <a:pPr algn="l">
              <a:spcAft>
                <a:spcPts val="500"/>
              </a:spcAft>
            </a:pPr>
            <a:r>
              <a:rPr sz="1000" b="1">
                <a:solidFill>
                  <a:srgbClr val="2A9D8F"/>
                </a:solidFill>
                <a:latin typeface="Calibri"/>
              </a:rPr>
              <a:t>●  </a:t>
            </a:r>
            <a:r>
              <a:rPr sz="1000">
                <a:solidFill>
                  <a:srgbClr val="333333"/>
                </a:solidFill>
                <a:latin typeface="Calibri"/>
              </a:rPr>
              <a:t>Like predicting tomorrow's temperature from this week's pattern</a:t>
            </a:r>
          </a:p>
        </p:txBody>
      </p:sp>
      <p:sp>
        <p:nvSpPr>
          <p:cNvPr id="11" name="Rectangle 10"/>
          <p:cNvSpPr/>
          <p:nvPr/>
        </p:nvSpPr>
        <p:spPr>
          <a:xfrm>
            <a:off x="6217920" y="960120"/>
            <a:ext cx="5669280"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960120"/>
            <a:ext cx="5669280" cy="5029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960120"/>
            <a:ext cx="5303520" cy="502920"/>
          </a:xfrm>
          <a:prstGeom prst="rect">
            <a:avLst/>
          </a:prstGeom>
          <a:noFill/>
        </p:spPr>
        <p:txBody>
          <a:bodyPr wrap="square" lIns="45720" rIns="45720" tIns="18288" bIns="18288" anchor="ctr">
            <a:spAutoFit/>
          </a:bodyPr>
          <a:lstStyle/>
          <a:p>
            <a:pPr algn="l"/>
            <a:r>
              <a:rPr sz="1500" b="1">
                <a:solidFill>
                  <a:srgbClr val="FFFFFF"/>
                </a:solidFill>
                <a:latin typeface="Calibri"/>
              </a:rPr>
              <a:t>Lumpy</a:t>
            </a:r>
          </a:p>
        </p:txBody>
      </p:sp>
      <p:sp>
        <p:nvSpPr>
          <p:cNvPr id="14" name="TextBox 13"/>
          <p:cNvSpPr txBox="1"/>
          <p:nvPr/>
        </p:nvSpPr>
        <p:spPr>
          <a:xfrm>
            <a:off x="6400800" y="1463040"/>
            <a:ext cx="5303520" cy="320040"/>
          </a:xfrm>
          <a:prstGeom prst="rect">
            <a:avLst/>
          </a:prstGeom>
          <a:noFill/>
        </p:spPr>
        <p:txBody>
          <a:bodyPr wrap="square" lIns="45720" rIns="45720" tIns="18288" bIns="18288" anchor="ctr">
            <a:spAutoFit/>
          </a:bodyPr>
          <a:lstStyle/>
          <a:p>
            <a:pPr algn="l"/>
            <a:r>
              <a:rPr sz="1000" b="0">
                <a:solidFill>
                  <a:srgbClr val="666666"/>
                </a:solidFill>
                <a:latin typeface="Calibri"/>
              </a:rPr>
              <a:t>Orders are big, but with quiet weeks in between</a:t>
            </a:r>
          </a:p>
        </p:txBody>
      </p:sp>
      <p:sp>
        <p:nvSpPr>
          <p:cNvPr id="15" name="TextBox 14"/>
          <p:cNvSpPr txBox="1"/>
          <p:nvPr/>
        </p:nvSpPr>
        <p:spPr>
          <a:xfrm>
            <a:off x="6400800" y="1828800"/>
            <a:ext cx="5303520" cy="1691640"/>
          </a:xfrm>
          <a:prstGeom prst="rect">
            <a:avLst/>
          </a:prstGeom>
          <a:noFill/>
        </p:spPr>
        <p:txBody>
          <a:bodyPr wrap="square" lIns="45720">
            <a:spAutoFit/>
          </a:bodyPr>
          <a:lstStyle/>
          <a:p>
            <a:pPr algn="l">
              <a:spcAft>
                <a:spcPts val="500"/>
              </a:spcAft>
            </a:pPr>
            <a:r>
              <a:rPr sz="1000" b="1">
                <a:solidFill>
                  <a:srgbClr val="E76F51"/>
                </a:solidFill>
                <a:latin typeface="Calibri"/>
              </a:rPr>
              <a:t>●  </a:t>
            </a:r>
            <a:r>
              <a:rPr sz="1000">
                <a:solidFill>
                  <a:srgbClr val="333333"/>
                </a:solidFill>
                <a:latin typeface="Calibri"/>
              </a:rPr>
              <a:t>Predicts two things separately: how big each order is + how often they come</a:t>
            </a:r>
          </a:p>
          <a:p>
            <a:pPr algn="l">
              <a:spcAft>
                <a:spcPts val="500"/>
              </a:spcAft>
            </a:pPr>
            <a:r>
              <a:rPr sz="1000" b="1">
                <a:solidFill>
                  <a:srgbClr val="E76F51"/>
                </a:solidFill>
                <a:latin typeface="Calibri"/>
              </a:rPr>
              <a:t>●  </a:t>
            </a:r>
            <a:r>
              <a:rPr sz="1000">
                <a:solidFill>
                  <a:srgbClr val="333333"/>
                </a:solidFill>
                <a:latin typeface="Calibri"/>
              </a:rPr>
              <a:t>If orders come every 3 weeks at ~500 units, it spaces them out that way</a:t>
            </a:r>
          </a:p>
          <a:p>
            <a:pPr algn="l">
              <a:spcAft>
                <a:spcPts val="500"/>
              </a:spcAft>
            </a:pPr>
            <a:r>
              <a:rPr sz="1000" b="1">
                <a:solidFill>
                  <a:srgbClr val="E76F51"/>
                </a:solidFill>
                <a:latin typeface="Calibri"/>
              </a:rPr>
              <a:t>●  </a:t>
            </a:r>
            <a:r>
              <a:rPr sz="1000">
                <a:solidFill>
                  <a:srgbClr val="333333"/>
                </a:solidFill>
                <a:latin typeface="Calibri"/>
              </a:rPr>
              <a:t>Won't smear demand into weeks the customer never orders</a:t>
            </a:r>
          </a:p>
          <a:p>
            <a:pPr algn="l">
              <a:spcAft>
                <a:spcPts val="500"/>
              </a:spcAft>
            </a:pPr>
            <a:r>
              <a:rPr sz="1000" b="1">
                <a:solidFill>
                  <a:srgbClr val="E76F51"/>
                </a:solidFill>
                <a:latin typeface="Calibri"/>
              </a:rPr>
              <a:t>●  </a:t>
            </a:r>
            <a:r>
              <a:rPr sz="1000">
                <a:solidFill>
                  <a:srgbClr val="333333"/>
                </a:solidFill>
                <a:latin typeface="Calibri"/>
              </a:rPr>
              <a:t>Like predicting bus arrivals — not every minute, but the rhythm</a:t>
            </a:r>
          </a:p>
        </p:txBody>
      </p:sp>
      <p:sp>
        <p:nvSpPr>
          <p:cNvPr id="16" name="Rectangle 15"/>
          <p:cNvSpPr/>
          <p:nvPr/>
        </p:nvSpPr>
        <p:spPr>
          <a:xfrm>
            <a:off x="457200" y="3703320"/>
            <a:ext cx="5669280"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03320"/>
            <a:ext cx="5669280"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03320"/>
            <a:ext cx="5303520" cy="502920"/>
          </a:xfrm>
          <a:prstGeom prst="rect">
            <a:avLst/>
          </a:prstGeom>
          <a:noFill/>
        </p:spPr>
        <p:txBody>
          <a:bodyPr wrap="square" lIns="45720" rIns="45720" tIns="18288" bIns="18288" anchor="ctr">
            <a:spAutoFit/>
          </a:bodyPr>
          <a:lstStyle/>
          <a:p>
            <a:pPr algn="l"/>
            <a:r>
              <a:rPr sz="1500" b="1">
                <a:solidFill>
                  <a:srgbClr val="FFFFFF"/>
                </a:solidFill>
                <a:latin typeface="Calibri"/>
              </a:rPr>
              <a:t>Seasonal Baseline</a:t>
            </a:r>
          </a:p>
        </p:txBody>
      </p:sp>
      <p:sp>
        <p:nvSpPr>
          <p:cNvPr id="19" name="TextBox 18"/>
          <p:cNvSpPr txBox="1"/>
          <p:nvPr/>
        </p:nvSpPr>
        <p:spPr>
          <a:xfrm>
            <a:off x="640080" y="4206240"/>
            <a:ext cx="5303520" cy="320040"/>
          </a:xfrm>
          <a:prstGeom prst="rect">
            <a:avLst/>
          </a:prstGeom>
          <a:noFill/>
        </p:spPr>
        <p:txBody>
          <a:bodyPr wrap="square" lIns="45720" rIns="45720" tIns="18288" bIns="18288" anchor="ctr">
            <a:spAutoFit/>
          </a:bodyPr>
          <a:lstStyle/>
          <a:p>
            <a:pPr algn="l"/>
            <a:r>
              <a:rPr sz="1000" b="0">
                <a:solidFill>
                  <a:srgbClr val="666666"/>
                </a:solidFill>
                <a:latin typeface="Calibri"/>
              </a:rPr>
              <a:t>Steady items where time-of-year matters</a:t>
            </a:r>
          </a:p>
        </p:txBody>
      </p:sp>
      <p:sp>
        <p:nvSpPr>
          <p:cNvPr id="20" name="TextBox 19"/>
          <p:cNvSpPr txBox="1"/>
          <p:nvPr/>
        </p:nvSpPr>
        <p:spPr>
          <a:xfrm>
            <a:off x="640080" y="4572000"/>
            <a:ext cx="5303520" cy="1691640"/>
          </a:xfrm>
          <a:prstGeom prst="rect">
            <a:avLst/>
          </a:prstGeom>
          <a:noFill/>
        </p:spPr>
        <p:txBody>
          <a:bodyPr wrap="square" lIns="45720">
            <a:spAutoFit/>
          </a:bodyPr>
          <a:lstStyle/>
          <a:p>
            <a:pPr algn="l">
              <a:spcAft>
                <a:spcPts val="500"/>
              </a:spcAft>
            </a:pPr>
            <a:r>
              <a:rPr sz="1000" b="1">
                <a:solidFill>
                  <a:srgbClr val="1F3A5F"/>
                </a:solidFill>
                <a:latin typeface="Calibri"/>
              </a:rPr>
              <a:t>●  </a:t>
            </a:r>
            <a:r>
              <a:rPr sz="1000">
                <a:solidFill>
                  <a:srgbClr val="333333"/>
                </a:solidFill>
                <a:latin typeface="Calibri"/>
              </a:rPr>
              <a:t>Anchored on the average of weeks where orders actually happened (last 3 mo)</a:t>
            </a:r>
          </a:p>
          <a:p>
            <a:pPr algn="l">
              <a:spcAft>
                <a:spcPts val="500"/>
              </a:spcAft>
            </a:pPr>
            <a:r>
              <a:rPr sz="1000" b="1">
                <a:solidFill>
                  <a:srgbClr val="1F3A5F"/>
                </a:solidFill>
                <a:latin typeface="Calibri"/>
              </a:rPr>
              <a:t>●  </a:t>
            </a:r>
            <a:r>
              <a:rPr sz="1000">
                <a:solidFill>
                  <a:srgbClr val="333333"/>
                </a:solidFill>
                <a:latin typeface="Calibri"/>
              </a:rPr>
              <a:t>Blended with Amazon's consumer-sales rate for Amazon items</a:t>
            </a:r>
          </a:p>
          <a:p>
            <a:pPr algn="l">
              <a:spcAft>
                <a:spcPts val="500"/>
              </a:spcAft>
            </a:pPr>
            <a:r>
              <a:rPr sz="1000" b="1">
                <a:solidFill>
                  <a:srgbClr val="1F3A5F"/>
                </a:solidFill>
                <a:latin typeface="Calibri"/>
              </a:rPr>
              <a:t>●  </a:t>
            </a:r>
            <a:r>
              <a:rPr sz="1000">
                <a:solidFill>
                  <a:srgbClr val="333333"/>
                </a:solidFill>
                <a:latin typeface="Calibri"/>
              </a:rPr>
              <a:t>Time-of-year shape is dampened so one big week doesn't blow up the forecast</a:t>
            </a:r>
          </a:p>
          <a:p>
            <a:pPr algn="l">
              <a:spcAft>
                <a:spcPts val="500"/>
              </a:spcAft>
            </a:pPr>
            <a:r>
              <a:rPr sz="1000" b="1">
                <a:solidFill>
                  <a:srgbClr val="1F3A5F"/>
                </a:solidFill>
                <a:latin typeface="Calibri"/>
              </a:rPr>
              <a:t>●  </a:t>
            </a:r>
            <a:r>
              <a:rPr sz="1000">
                <a:solidFill>
                  <a:srgbClr val="333333"/>
                </a:solidFill>
                <a:latin typeface="Calibri"/>
              </a:rPr>
              <a:t>Prime Day and Fall Deal lifts are added on top</a:t>
            </a:r>
          </a:p>
        </p:txBody>
      </p:sp>
      <p:sp>
        <p:nvSpPr>
          <p:cNvPr id="21" name="Rectangle 20"/>
          <p:cNvSpPr/>
          <p:nvPr/>
        </p:nvSpPr>
        <p:spPr>
          <a:xfrm>
            <a:off x="6217920" y="3703320"/>
            <a:ext cx="5669280"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703320"/>
            <a:ext cx="5669280" cy="50292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703320"/>
            <a:ext cx="5303520" cy="502920"/>
          </a:xfrm>
          <a:prstGeom prst="rect">
            <a:avLst/>
          </a:prstGeom>
          <a:noFill/>
        </p:spPr>
        <p:txBody>
          <a:bodyPr wrap="square" lIns="45720" rIns="45720" tIns="18288" bIns="18288" anchor="ctr">
            <a:spAutoFit/>
          </a:bodyPr>
          <a:lstStyle/>
          <a:p>
            <a:pPr algn="l"/>
            <a:r>
              <a:rPr sz="1500" b="1">
                <a:solidFill>
                  <a:srgbClr val="FFFFFF"/>
                </a:solidFill>
                <a:latin typeface="Calibri"/>
              </a:rPr>
              <a:t>Sparse</a:t>
            </a:r>
          </a:p>
        </p:txBody>
      </p:sp>
      <p:sp>
        <p:nvSpPr>
          <p:cNvPr id="24" name="TextBox 23"/>
          <p:cNvSpPr txBox="1"/>
          <p:nvPr/>
        </p:nvSpPr>
        <p:spPr>
          <a:xfrm>
            <a:off x="6400800" y="4206240"/>
            <a:ext cx="5303520" cy="320040"/>
          </a:xfrm>
          <a:prstGeom prst="rect">
            <a:avLst/>
          </a:prstGeom>
          <a:noFill/>
        </p:spPr>
        <p:txBody>
          <a:bodyPr wrap="square" lIns="45720" rIns="45720" tIns="18288" bIns="18288" anchor="ctr">
            <a:spAutoFit/>
          </a:bodyPr>
          <a:lstStyle/>
          <a:p>
            <a:pPr algn="l"/>
            <a:r>
              <a:rPr sz="1000" b="0">
                <a:solidFill>
                  <a:srgbClr val="666666"/>
                </a:solidFill>
                <a:latin typeface="Calibri"/>
              </a:rPr>
              <a:t>Less than 3 months of order history in a year</a:t>
            </a:r>
          </a:p>
        </p:txBody>
      </p:sp>
      <p:sp>
        <p:nvSpPr>
          <p:cNvPr id="25" name="TextBox 24"/>
          <p:cNvSpPr txBox="1"/>
          <p:nvPr/>
        </p:nvSpPr>
        <p:spPr>
          <a:xfrm>
            <a:off x="6400800" y="4572000"/>
            <a:ext cx="5303520" cy="1691640"/>
          </a:xfrm>
          <a:prstGeom prst="rect">
            <a:avLst/>
          </a:prstGeom>
          <a:noFill/>
        </p:spPr>
        <p:txBody>
          <a:bodyPr wrap="square" lIns="45720">
            <a:spAutoFit/>
          </a:bodyPr>
          <a:lstStyle/>
          <a:p>
            <a:pPr algn="l">
              <a:spcAft>
                <a:spcPts val="500"/>
              </a:spcAft>
            </a:pPr>
            <a:r>
              <a:rPr sz="1000" b="1">
                <a:solidFill>
                  <a:srgbClr val="E9C46A"/>
                </a:solidFill>
                <a:latin typeface="Calibri"/>
              </a:rPr>
              <a:t>●  </a:t>
            </a:r>
            <a:r>
              <a:rPr sz="1000">
                <a:solidFill>
                  <a:srgbClr val="333333"/>
                </a:solidFill>
                <a:latin typeface="Calibri"/>
              </a:rPr>
              <a:t>Averages the weeks where the customer actually ordered something</a:t>
            </a:r>
          </a:p>
          <a:p>
            <a:pPr algn="l">
              <a:spcAft>
                <a:spcPts val="500"/>
              </a:spcAft>
            </a:pPr>
            <a:r>
              <a:rPr sz="1000" b="1">
                <a:solidFill>
                  <a:srgbClr val="E9C46A"/>
                </a:solidFill>
                <a:latin typeface="Calibri"/>
              </a:rPr>
              <a:t>●  </a:t>
            </a:r>
            <a:r>
              <a:rPr sz="1000">
                <a:solidFill>
                  <a:srgbClr val="333333"/>
                </a:solidFill>
                <a:latin typeface="Calibri"/>
              </a:rPr>
              <a:t>Applies the year-shape so seasonal items still spike at the right time</a:t>
            </a:r>
          </a:p>
          <a:p>
            <a:pPr algn="l">
              <a:spcAft>
                <a:spcPts val="500"/>
              </a:spcAft>
            </a:pPr>
            <a:r>
              <a:rPr sz="1000" b="1">
                <a:solidFill>
                  <a:srgbClr val="E9C46A"/>
                </a:solidFill>
                <a:latin typeface="Calibri"/>
              </a:rPr>
              <a:t>●  </a:t>
            </a:r>
            <a:r>
              <a:rPr sz="1000">
                <a:solidFill>
                  <a:srgbClr val="333333"/>
                </a:solidFill>
                <a:latin typeface="Calibri"/>
              </a:rPr>
              <a:t>Caps the total at a sensible ceiling so one big order doesn't dominate</a:t>
            </a:r>
          </a:p>
          <a:p>
            <a:pPr algn="l">
              <a:spcAft>
                <a:spcPts val="500"/>
              </a:spcAft>
            </a:pPr>
            <a:r>
              <a:rPr sz="1000" b="1">
                <a:solidFill>
                  <a:srgbClr val="E9C46A"/>
                </a:solidFill>
                <a:latin typeface="Calibri"/>
              </a:rPr>
              <a:t>●  </a:t>
            </a:r>
            <a:r>
              <a:rPr sz="1000">
                <a:solidFill>
                  <a:srgbClr val="333333"/>
                </a:solidFill>
                <a:latin typeface="Calibri"/>
              </a:rPr>
              <a:t>Like estimating restaurant traffic from 5 weeks of receipts</a:t>
            </a:r>
          </a:p>
        </p:txBody>
      </p:sp>
      <p:sp>
        <p:nvSpPr>
          <p:cNvPr id="26" name="TextBox 25"/>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5 / 35</a:t>
            </a:r>
          </a:p>
        </p:txBody>
      </p:sp>
      <p:sp>
        <p:nvSpPr>
          <p:cNvPr id="27" name="TextBox 26"/>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Two big seasonal events the tool handles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Why your AI forecast 'leans in' during certain weeks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60120"/>
            <a:ext cx="11277295"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60120"/>
            <a:ext cx="2377440" cy="11887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60120"/>
            <a:ext cx="2377440" cy="1188720"/>
          </a:xfrm>
          <a:prstGeom prst="rect">
            <a:avLst/>
          </a:prstGeom>
          <a:noFill/>
        </p:spPr>
        <p:txBody>
          <a:bodyPr wrap="square" lIns="45720" rIns="45720" tIns="18288" bIns="18288" anchor="ctr">
            <a:spAutoFit/>
          </a:bodyPr>
          <a:lstStyle/>
          <a:p>
            <a:pPr algn="ctr"/>
            <a:r>
              <a:rPr sz="1400" b="1">
                <a:solidFill>
                  <a:srgbClr val="FFFFFF"/>
                </a:solidFill>
                <a:latin typeface="Calibri"/>
              </a:rPr>
              <a:t>Prime Day pre-buy</a:t>
            </a:r>
          </a:p>
        </p:txBody>
      </p:sp>
      <p:sp>
        <p:nvSpPr>
          <p:cNvPr id="9" name="TextBox 8"/>
          <p:cNvSpPr txBox="1"/>
          <p:nvPr/>
        </p:nvSpPr>
        <p:spPr>
          <a:xfrm>
            <a:off x="2971800" y="1033272"/>
            <a:ext cx="8671255" cy="274320"/>
          </a:xfrm>
          <a:prstGeom prst="rect">
            <a:avLst/>
          </a:prstGeom>
          <a:noFill/>
        </p:spPr>
        <p:txBody>
          <a:bodyPr wrap="square" lIns="45720" rIns="45720" tIns="18288" bIns="18288" anchor="t">
            <a:spAutoFit/>
          </a:bodyPr>
          <a:lstStyle/>
          <a:p>
            <a:pPr algn="l"/>
            <a:r>
              <a:rPr sz="1200" b="1">
                <a:solidFill>
                  <a:srgbClr val="1F3A5F"/>
                </a:solidFill>
                <a:latin typeface="Calibri"/>
              </a:rPr>
              <a:t>Weeks 5–9   ·   Amazon only   ·   Lifts orders 10–25%</a:t>
            </a:r>
          </a:p>
        </p:txBody>
      </p:sp>
      <p:sp>
        <p:nvSpPr>
          <p:cNvPr id="10" name="TextBox 9"/>
          <p:cNvSpPr txBox="1"/>
          <p:nvPr/>
        </p:nvSpPr>
        <p:spPr>
          <a:xfrm>
            <a:off x="2971800" y="1325880"/>
            <a:ext cx="8671255" cy="256032"/>
          </a:xfrm>
          <a:prstGeom prst="rect">
            <a:avLst/>
          </a:prstGeom>
          <a:noFill/>
        </p:spPr>
        <p:txBody>
          <a:bodyPr wrap="square" lIns="45720" rIns="45720" tIns="18288" bIns="18288" anchor="t">
            <a:spAutoFit/>
          </a:bodyPr>
          <a:lstStyle/>
          <a:p>
            <a:pPr algn="l"/>
            <a:r>
              <a:rPr sz="1000" b="0">
                <a:solidFill>
                  <a:srgbClr val="666666"/>
                </a:solidFill>
                <a:latin typeface="Calibri"/>
              </a:rPr>
              <a:t>Schedule: W5=1.10, W6=1.15, W7=1.25, W8=1.25, W9=1.20.</a:t>
            </a:r>
          </a:p>
        </p:txBody>
      </p:sp>
      <p:sp>
        <p:nvSpPr>
          <p:cNvPr id="11" name="TextBox 10"/>
          <p:cNvSpPr txBox="1"/>
          <p:nvPr/>
        </p:nvSpPr>
        <p:spPr>
          <a:xfrm>
            <a:off x="2971800" y="1618488"/>
            <a:ext cx="8671255" cy="502920"/>
          </a:xfrm>
          <a:prstGeom prst="rect">
            <a:avLst/>
          </a:prstGeom>
          <a:noFill/>
        </p:spPr>
        <p:txBody>
          <a:bodyPr wrap="square" lIns="45720" rIns="45720" tIns="18288" bIns="18288" anchor="t">
            <a:spAutoFit/>
          </a:bodyPr>
          <a:lstStyle/>
          <a:p>
            <a:pPr algn="l"/>
            <a:r>
              <a:rPr sz="1100" b="0">
                <a:solidFill>
                  <a:srgbClr val="333333"/>
                </a:solidFill>
                <a:latin typeface="Calibri"/>
              </a:rPr>
              <a:t>Amazon orders product 6–8 weeks BEFORE the July consumer event. The 'pre-buy' is what we ship — not the consumer sale itself.</a:t>
            </a:r>
          </a:p>
        </p:txBody>
      </p:sp>
      <p:sp>
        <p:nvSpPr>
          <p:cNvPr id="12" name="Rectangle 11"/>
          <p:cNvSpPr/>
          <p:nvPr/>
        </p:nvSpPr>
        <p:spPr>
          <a:xfrm>
            <a:off x="457200" y="2286000"/>
            <a:ext cx="11277295"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286000"/>
            <a:ext cx="2377440" cy="11887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286000"/>
            <a:ext cx="2377440" cy="1188720"/>
          </a:xfrm>
          <a:prstGeom prst="rect">
            <a:avLst/>
          </a:prstGeom>
          <a:noFill/>
        </p:spPr>
        <p:txBody>
          <a:bodyPr wrap="square" lIns="45720" rIns="45720" tIns="18288" bIns="18288" anchor="ctr">
            <a:spAutoFit/>
          </a:bodyPr>
          <a:lstStyle/>
          <a:p>
            <a:pPr algn="ctr"/>
            <a:r>
              <a:rPr sz="1400" b="1">
                <a:solidFill>
                  <a:srgbClr val="FFFFFF"/>
                </a:solidFill>
                <a:latin typeface="Calibri"/>
              </a:rPr>
              <a:t>Fall Deal pre-buy</a:t>
            </a:r>
          </a:p>
        </p:txBody>
      </p:sp>
      <p:sp>
        <p:nvSpPr>
          <p:cNvPr id="15" name="TextBox 14"/>
          <p:cNvSpPr txBox="1"/>
          <p:nvPr/>
        </p:nvSpPr>
        <p:spPr>
          <a:xfrm>
            <a:off x="2971800" y="2359152"/>
            <a:ext cx="8671255" cy="274320"/>
          </a:xfrm>
          <a:prstGeom prst="rect">
            <a:avLst/>
          </a:prstGeom>
          <a:noFill/>
        </p:spPr>
        <p:txBody>
          <a:bodyPr wrap="square" lIns="45720" rIns="45720" tIns="18288" bIns="18288" anchor="t">
            <a:spAutoFit/>
          </a:bodyPr>
          <a:lstStyle/>
          <a:p>
            <a:pPr algn="l"/>
            <a:r>
              <a:rPr sz="1200" b="1">
                <a:solidFill>
                  <a:srgbClr val="1F3A5F"/>
                </a:solidFill>
                <a:latin typeface="Calibri"/>
              </a:rPr>
              <a:t>Weeks 23–25   ·   Every retailer   ·   Lifts orders 12%</a:t>
            </a:r>
          </a:p>
        </p:txBody>
      </p:sp>
      <p:sp>
        <p:nvSpPr>
          <p:cNvPr id="16" name="TextBox 15"/>
          <p:cNvSpPr txBox="1"/>
          <p:nvPr/>
        </p:nvSpPr>
        <p:spPr>
          <a:xfrm>
            <a:off x="2971800" y="2651760"/>
            <a:ext cx="8671255" cy="256032"/>
          </a:xfrm>
          <a:prstGeom prst="rect">
            <a:avLst/>
          </a:prstGeom>
          <a:noFill/>
        </p:spPr>
        <p:txBody>
          <a:bodyPr wrap="square" lIns="45720" rIns="45720" tIns="18288" bIns="18288" anchor="t">
            <a:spAutoFit/>
          </a:bodyPr>
          <a:lstStyle/>
          <a:p>
            <a:pPr algn="l"/>
            <a:r>
              <a:rPr sz="1000" b="0">
                <a:solidFill>
                  <a:srgbClr val="666666"/>
                </a:solidFill>
                <a:latin typeface="Calibri"/>
              </a:rPr>
              <a:t>Flat lift × 1.12 across all three weeks.</a:t>
            </a:r>
          </a:p>
        </p:txBody>
      </p:sp>
      <p:sp>
        <p:nvSpPr>
          <p:cNvPr id="17" name="TextBox 16"/>
          <p:cNvSpPr txBox="1"/>
          <p:nvPr/>
        </p:nvSpPr>
        <p:spPr>
          <a:xfrm>
            <a:off x="2971800" y="2944368"/>
            <a:ext cx="8671255" cy="502920"/>
          </a:xfrm>
          <a:prstGeom prst="rect">
            <a:avLst/>
          </a:prstGeom>
          <a:noFill/>
        </p:spPr>
        <p:txBody>
          <a:bodyPr wrap="square" lIns="45720" rIns="45720" tIns="18288" bIns="18288" anchor="t">
            <a:spAutoFit/>
          </a:bodyPr>
          <a:lstStyle/>
          <a:p>
            <a:pPr algn="l"/>
            <a:r>
              <a:rPr sz="1100" b="0">
                <a:solidFill>
                  <a:srgbClr val="333333"/>
                </a:solidFill>
                <a:latin typeface="Calibri"/>
              </a:rPr>
              <a:t>Smaller pre-order cycle for fall promotions. Not Amazon-specific — most retailers run end-of-summer / back-to-school deals.</a:t>
            </a:r>
          </a:p>
        </p:txBody>
      </p:sp>
      <p:sp>
        <p:nvSpPr>
          <p:cNvPr id="18" name="TextBox 17"/>
          <p:cNvSpPr txBox="1"/>
          <p:nvPr/>
        </p:nvSpPr>
        <p:spPr>
          <a:xfrm>
            <a:off x="457200" y="3749039"/>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How the tool knows it's an Amazon record</a:t>
            </a:r>
          </a:p>
        </p:txBody>
      </p:sp>
      <p:sp>
        <p:nvSpPr>
          <p:cNvPr id="19" name="TextBox 18"/>
          <p:cNvSpPr txBox="1"/>
          <p:nvPr/>
        </p:nvSpPr>
        <p:spPr>
          <a:xfrm>
            <a:off x="457200" y="4114800"/>
            <a:ext cx="11277295" cy="2286000"/>
          </a:xfrm>
          <a:prstGeom prst="rect">
            <a:avLst/>
          </a:prstGeom>
          <a:noFill/>
        </p:spPr>
        <p:txBody>
          <a:bodyPr wrap="square" lIns="45720">
            <a:spAutoFit/>
          </a:bodyPr>
          <a:lstStyle/>
          <a:p>
            <a:pPr algn="l">
              <a:spcAft>
                <a:spcPts val="500"/>
              </a:spcAft>
            </a:pPr>
            <a:r>
              <a:rPr sz="1200" b="1">
                <a:solidFill>
                  <a:srgbClr val="2A9D8F"/>
                </a:solidFill>
                <a:latin typeface="Calibri"/>
              </a:rPr>
              <a:t>●  </a:t>
            </a:r>
            <a:r>
              <a:rPr sz="1200">
                <a:solidFill>
                  <a:srgbClr val="333333"/>
                </a:solidFill>
                <a:latin typeface="Calibri"/>
              </a:rPr>
              <a:t>It checks if the customer name contains the word 'AMAZON'</a:t>
            </a:r>
          </a:p>
          <a:p>
            <a:pPr algn="l">
              <a:spcAft>
                <a:spcPts val="500"/>
              </a:spcAft>
            </a:pPr>
            <a:r>
              <a:rPr sz="1200" b="1">
                <a:solidFill>
                  <a:srgbClr val="2A9D8F"/>
                </a:solidFill>
                <a:latin typeface="Calibri"/>
              </a:rPr>
              <a:t>●  </a:t>
            </a:r>
            <a:r>
              <a:rPr sz="1200">
                <a:solidFill>
                  <a:srgbClr val="333333"/>
                </a:solidFill>
                <a:latin typeface="Calibri"/>
              </a:rPr>
              <a:t>If yes: pull Amazon shopper data and apply Prime Day lift</a:t>
            </a:r>
          </a:p>
          <a:p>
            <a:pPr algn="l">
              <a:spcAft>
                <a:spcPts val="500"/>
              </a:spcAft>
            </a:pPr>
            <a:r>
              <a:rPr sz="1200" b="1">
                <a:solidFill>
                  <a:srgbClr val="2A9D8F"/>
                </a:solidFill>
                <a:latin typeface="Calibri"/>
              </a:rPr>
              <a:t>●  </a:t>
            </a:r>
            <a:r>
              <a:rPr sz="1200">
                <a:solidFill>
                  <a:srgbClr val="333333"/>
                </a:solidFill>
                <a:latin typeface="Calibri"/>
              </a:rPr>
              <a:t>If no: skip both — most other retailers don't share consumer sales with us anyway</a:t>
            </a:r>
          </a:p>
          <a:p>
            <a:pPr algn="l">
              <a:spcAft>
                <a:spcPts val="500"/>
              </a:spcAft>
            </a:pPr>
            <a:r>
              <a:rPr sz="1200" b="1">
                <a:solidFill>
                  <a:srgbClr val="2A9D8F"/>
                </a:solidFill>
                <a:latin typeface="Calibri"/>
              </a:rPr>
              <a:t>●  </a:t>
            </a:r>
            <a:r>
              <a:rPr sz="1200">
                <a:solidFill>
                  <a:srgbClr val="333333"/>
                </a:solidFill>
                <a:latin typeface="Calibri"/>
              </a:rPr>
              <a:t>Online-only retailers (Chewy, Petco.com, PetSmart.com) get a special 'recent acceleration' check instead</a:t>
            </a:r>
          </a:p>
        </p:txBody>
      </p:sp>
      <p:sp>
        <p:nvSpPr>
          <p:cNvPr id="20" name="TextBox 1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6 / 35</a:t>
            </a:r>
          </a:p>
        </p:txBody>
      </p:sp>
      <p:sp>
        <p:nvSpPr>
          <p:cNvPr id="21" name="TextBox 2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Sales Index — how time-of-year shaping works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Forecasts get bent by season; here's how the right shape gets picked</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1440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What is a 'sales index'?</a:t>
            </a:r>
          </a:p>
        </p:txBody>
      </p:sp>
      <p:sp>
        <p:nvSpPr>
          <p:cNvPr id="7" name="TextBox 6"/>
          <p:cNvSpPr txBox="1"/>
          <p:nvPr/>
        </p:nvSpPr>
        <p:spPr>
          <a:xfrm>
            <a:off x="457200" y="1280160"/>
            <a:ext cx="11277295" cy="868680"/>
          </a:xfrm>
          <a:prstGeom prst="rect">
            <a:avLst/>
          </a:prstGeom>
          <a:noFill/>
        </p:spPr>
        <p:txBody>
          <a:bodyPr wrap="square" lIns="45720" rIns="45720" tIns="18288" bIns="18288" anchor="t">
            <a:spAutoFit/>
          </a:bodyPr>
          <a:lstStyle/>
          <a:p>
            <a:pPr algn="l"/>
            <a:r>
              <a:rPr sz="1200" b="0">
                <a:solidFill>
                  <a:srgbClr val="333333"/>
                </a:solidFill>
                <a:latin typeface="Calibri"/>
              </a:rPr>
              <a:t>A sales index is a 12-number profile (one per month) that says how much busier or quieter a product is each month relative to its yearly average. Charcoal in June might be 2.05 (twice as busy as average); charcoal in December might be 0.20 (one-fifth of average). We multiply the AI baseline by these numbers to bend the forecast in or out by season.</a:t>
            </a:r>
          </a:p>
        </p:txBody>
      </p:sp>
      <p:sp>
        <p:nvSpPr>
          <p:cNvPr id="8" name="TextBox 7"/>
          <p:cNvSpPr txBox="1"/>
          <p:nvPr/>
        </p:nvSpPr>
        <p:spPr>
          <a:xfrm>
            <a:off x="457200" y="233172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Match priority — the tool tries these in order, takes the first hit:</a:t>
            </a:r>
          </a:p>
        </p:txBody>
      </p:sp>
      <p:sp>
        <p:nvSpPr>
          <p:cNvPr id="9" name="Rectangle 8"/>
          <p:cNvSpPr/>
          <p:nvPr/>
        </p:nvSpPr>
        <p:spPr>
          <a:xfrm>
            <a:off x="457200" y="2834640"/>
            <a:ext cx="11277295" cy="84124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834640"/>
            <a:ext cx="502920" cy="84124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34640"/>
            <a:ext cx="502920" cy="841248"/>
          </a:xfrm>
          <a:prstGeom prst="rect">
            <a:avLst/>
          </a:prstGeom>
          <a:noFill/>
        </p:spPr>
        <p:txBody>
          <a:bodyPr wrap="square" lIns="45720" rIns="45720" tIns="18288" bIns="18288" anchor="ctr">
            <a:spAutoFit/>
          </a:bodyPr>
          <a:lstStyle/>
          <a:p>
            <a:pPr algn="ctr"/>
            <a:r>
              <a:rPr sz="2200" b="1">
                <a:solidFill>
                  <a:srgbClr val="FFFFFF"/>
                </a:solidFill>
                <a:latin typeface="Calibri"/>
              </a:rPr>
              <a:t>1</a:t>
            </a:r>
          </a:p>
        </p:txBody>
      </p:sp>
      <p:sp>
        <p:nvSpPr>
          <p:cNvPr id="12" name="TextBox 11"/>
          <p:cNvSpPr txBox="1"/>
          <p:nvPr/>
        </p:nvSpPr>
        <p:spPr>
          <a:xfrm>
            <a:off x="1097280" y="2880360"/>
            <a:ext cx="10591495" cy="274320"/>
          </a:xfrm>
          <a:prstGeom prst="rect">
            <a:avLst/>
          </a:prstGeom>
          <a:noFill/>
        </p:spPr>
        <p:txBody>
          <a:bodyPr wrap="square" lIns="45720" rIns="45720" tIns="18288" bIns="18288" anchor="t">
            <a:spAutoFit/>
          </a:bodyPr>
          <a:lstStyle/>
          <a:p>
            <a:pPr algn="l"/>
            <a:r>
              <a:rPr sz="1200" b="1">
                <a:solidFill>
                  <a:srgbClr val="1F3A5F"/>
                </a:solidFill>
                <a:latin typeface="Calibri"/>
              </a:rPr>
              <a:t>Planner-curated Season tag</a:t>
            </a:r>
          </a:p>
        </p:txBody>
      </p:sp>
      <p:sp>
        <p:nvSpPr>
          <p:cNvPr id="13" name="TextBox 12"/>
          <p:cNvSpPr txBox="1"/>
          <p:nvPr/>
        </p:nvSpPr>
        <p:spPr>
          <a:xfrm>
            <a:off x="1097280" y="3154680"/>
            <a:ext cx="10591495" cy="502920"/>
          </a:xfrm>
          <a:prstGeom prst="rect">
            <a:avLst/>
          </a:prstGeom>
          <a:noFill/>
        </p:spPr>
        <p:txBody>
          <a:bodyPr wrap="square" lIns="45720" rIns="45720" tIns="18288" bIns="18288" anchor="t">
            <a:spAutoFit/>
          </a:bodyPr>
          <a:lstStyle/>
          <a:p>
            <a:pPr algn="l"/>
            <a:r>
              <a:rPr sz="1100" b="0">
                <a:solidFill>
                  <a:srgbClr val="333333"/>
                </a:solidFill>
                <a:latin typeface="Calibri"/>
              </a:rPr>
              <a:t>If the SKU has a Season tag in Quickbase Styles (Holiday, Halloween, July 4th, etc.) we use that hand-tuned profile first. Highest trust — the planner explicitly picked it.</a:t>
            </a:r>
          </a:p>
        </p:txBody>
      </p:sp>
      <p:sp>
        <p:nvSpPr>
          <p:cNvPr id="14" name="Rectangle 13"/>
          <p:cNvSpPr/>
          <p:nvPr/>
        </p:nvSpPr>
        <p:spPr>
          <a:xfrm>
            <a:off x="457200" y="3721608"/>
            <a:ext cx="11277295" cy="84124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721608"/>
            <a:ext cx="502920" cy="841248"/>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721608"/>
            <a:ext cx="502920" cy="841248"/>
          </a:xfrm>
          <a:prstGeom prst="rect">
            <a:avLst/>
          </a:prstGeom>
          <a:noFill/>
        </p:spPr>
        <p:txBody>
          <a:bodyPr wrap="square" lIns="45720" rIns="45720" tIns="18288" bIns="18288" anchor="ctr">
            <a:spAutoFit/>
          </a:bodyPr>
          <a:lstStyle/>
          <a:p>
            <a:pPr algn="ctr"/>
            <a:r>
              <a:rPr sz="2200" b="1">
                <a:solidFill>
                  <a:srgbClr val="FFFFFF"/>
                </a:solidFill>
                <a:latin typeface="Calibri"/>
              </a:rPr>
              <a:t>2</a:t>
            </a:r>
          </a:p>
        </p:txBody>
      </p:sp>
      <p:sp>
        <p:nvSpPr>
          <p:cNvPr id="17" name="TextBox 16"/>
          <p:cNvSpPr txBox="1"/>
          <p:nvPr/>
        </p:nvSpPr>
        <p:spPr>
          <a:xfrm>
            <a:off x="1097280" y="3767328"/>
            <a:ext cx="10591495" cy="274320"/>
          </a:xfrm>
          <a:prstGeom prst="rect">
            <a:avLst/>
          </a:prstGeom>
          <a:noFill/>
        </p:spPr>
        <p:txBody>
          <a:bodyPr wrap="square" lIns="45720" rIns="45720" tIns="18288" bIns="18288" anchor="t">
            <a:spAutoFit/>
          </a:bodyPr>
          <a:lstStyle/>
          <a:p>
            <a:pPr algn="l"/>
            <a:r>
              <a:rPr sz="1200" b="1">
                <a:solidFill>
                  <a:srgbClr val="1F3A5F"/>
                </a:solidFill>
                <a:latin typeface="Calibri"/>
              </a:rPr>
              <a:t>Data-derived (Category + Subcategory)</a:t>
            </a:r>
          </a:p>
        </p:txBody>
      </p:sp>
      <p:sp>
        <p:nvSpPr>
          <p:cNvPr id="18" name="TextBox 17"/>
          <p:cNvSpPr txBox="1"/>
          <p:nvPr/>
        </p:nvSpPr>
        <p:spPr>
          <a:xfrm>
            <a:off x="1097280" y="4041648"/>
            <a:ext cx="10591495" cy="502920"/>
          </a:xfrm>
          <a:prstGeom prst="rect">
            <a:avLst/>
          </a:prstGeom>
          <a:noFill/>
        </p:spPr>
        <p:txBody>
          <a:bodyPr wrap="square" lIns="45720" rIns="45720" tIns="18288" bIns="18288" anchor="t">
            <a:spAutoFit/>
          </a:bodyPr>
          <a:lstStyle/>
          <a:p>
            <a:pPr algn="l"/>
            <a:r>
              <a:rPr sz="1100" b="0">
                <a:solidFill>
                  <a:srgbClr val="333333"/>
                </a:solidFill>
                <a:latin typeface="Calibri"/>
              </a:rPr>
              <a:t>We've analyzed 2024-2026 invoice ship history and built a profile for every Category + Subcategory pair that has more than 10 SKUs (statistically reliable). Most specific shape match wins.</a:t>
            </a:r>
          </a:p>
        </p:txBody>
      </p:sp>
      <p:sp>
        <p:nvSpPr>
          <p:cNvPr id="19" name="Rectangle 18"/>
          <p:cNvSpPr/>
          <p:nvPr/>
        </p:nvSpPr>
        <p:spPr>
          <a:xfrm>
            <a:off x="457200" y="4608576"/>
            <a:ext cx="11277295" cy="84124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608576"/>
            <a:ext cx="502920" cy="841248"/>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608576"/>
            <a:ext cx="502920" cy="841248"/>
          </a:xfrm>
          <a:prstGeom prst="rect">
            <a:avLst/>
          </a:prstGeom>
          <a:noFill/>
        </p:spPr>
        <p:txBody>
          <a:bodyPr wrap="square" lIns="45720" rIns="45720" tIns="18288" bIns="18288" anchor="ctr">
            <a:spAutoFit/>
          </a:bodyPr>
          <a:lstStyle/>
          <a:p>
            <a:pPr algn="ctr"/>
            <a:r>
              <a:rPr sz="2200" b="1">
                <a:solidFill>
                  <a:srgbClr val="FFFFFF"/>
                </a:solidFill>
                <a:latin typeface="Calibri"/>
              </a:rPr>
              <a:t>3</a:t>
            </a:r>
          </a:p>
        </p:txBody>
      </p:sp>
      <p:sp>
        <p:nvSpPr>
          <p:cNvPr id="22" name="TextBox 21"/>
          <p:cNvSpPr txBox="1"/>
          <p:nvPr/>
        </p:nvSpPr>
        <p:spPr>
          <a:xfrm>
            <a:off x="1097280" y="4654296"/>
            <a:ext cx="10591495" cy="274320"/>
          </a:xfrm>
          <a:prstGeom prst="rect">
            <a:avLst/>
          </a:prstGeom>
          <a:noFill/>
        </p:spPr>
        <p:txBody>
          <a:bodyPr wrap="square" lIns="45720" rIns="45720" tIns="18288" bIns="18288" anchor="t">
            <a:spAutoFit/>
          </a:bodyPr>
          <a:lstStyle/>
          <a:p>
            <a:pPr algn="l"/>
            <a:r>
              <a:rPr sz="1200" b="1">
                <a:solidFill>
                  <a:srgbClr val="1F3A5F"/>
                </a:solidFill>
                <a:latin typeface="Calibri"/>
              </a:rPr>
              <a:t>Data-derived (Category alone)</a:t>
            </a:r>
          </a:p>
        </p:txBody>
      </p:sp>
      <p:sp>
        <p:nvSpPr>
          <p:cNvPr id="23" name="TextBox 22"/>
          <p:cNvSpPr txBox="1"/>
          <p:nvPr/>
        </p:nvSpPr>
        <p:spPr>
          <a:xfrm>
            <a:off x="1097280" y="4928616"/>
            <a:ext cx="10591495" cy="502920"/>
          </a:xfrm>
          <a:prstGeom prst="rect">
            <a:avLst/>
          </a:prstGeom>
          <a:noFill/>
        </p:spPr>
        <p:txBody>
          <a:bodyPr wrap="square" lIns="45720" rIns="45720" tIns="18288" bIns="18288" anchor="t">
            <a:spAutoFit/>
          </a:bodyPr>
          <a:lstStyle/>
          <a:p>
            <a:pPr algn="l"/>
            <a:r>
              <a:rPr sz="1100" b="0">
                <a:solidFill>
                  <a:srgbClr val="333333"/>
                </a:solidFill>
                <a:latin typeface="Calibri"/>
              </a:rPr>
              <a:t>If the subcategory match doesn't qualify (&lt;11 SKUs), fall back to the broader category profile if it qualifies. Same rules — built from the same 3-year invoice history.</a:t>
            </a:r>
          </a:p>
        </p:txBody>
      </p:sp>
      <p:sp>
        <p:nvSpPr>
          <p:cNvPr id="24" name="Rectangle 23"/>
          <p:cNvSpPr/>
          <p:nvPr/>
        </p:nvSpPr>
        <p:spPr>
          <a:xfrm>
            <a:off x="457200" y="5495544"/>
            <a:ext cx="11277295" cy="84124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495544"/>
            <a:ext cx="502920" cy="841248"/>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495544"/>
            <a:ext cx="502920" cy="841248"/>
          </a:xfrm>
          <a:prstGeom prst="rect">
            <a:avLst/>
          </a:prstGeom>
          <a:noFill/>
        </p:spPr>
        <p:txBody>
          <a:bodyPr wrap="square" lIns="45720" rIns="45720" tIns="18288" bIns="18288" anchor="ctr">
            <a:spAutoFit/>
          </a:bodyPr>
          <a:lstStyle/>
          <a:p>
            <a:pPr algn="ctr"/>
            <a:r>
              <a:rPr sz="2200" b="1">
                <a:solidFill>
                  <a:srgbClr val="FFFFFF"/>
                </a:solidFill>
                <a:latin typeface="Calibri"/>
              </a:rPr>
              <a:t>4</a:t>
            </a:r>
          </a:p>
        </p:txBody>
      </p:sp>
      <p:sp>
        <p:nvSpPr>
          <p:cNvPr id="27" name="TextBox 26"/>
          <p:cNvSpPr txBox="1"/>
          <p:nvPr/>
        </p:nvSpPr>
        <p:spPr>
          <a:xfrm>
            <a:off x="1097280" y="5541264"/>
            <a:ext cx="10591495" cy="274320"/>
          </a:xfrm>
          <a:prstGeom prst="rect">
            <a:avLst/>
          </a:prstGeom>
          <a:noFill/>
        </p:spPr>
        <p:txBody>
          <a:bodyPr wrap="square" lIns="45720" rIns="45720" tIns="18288" bIns="18288" anchor="t">
            <a:spAutoFit/>
          </a:bodyPr>
          <a:lstStyle/>
          <a:p>
            <a:pPr algn="l"/>
            <a:r>
              <a:rPr sz="1200" b="1">
                <a:solidFill>
                  <a:srgbClr val="1F3A5F"/>
                </a:solidFill>
                <a:latin typeface="Calibri"/>
              </a:rPr>
              <a:t>Hand-curated keyword fallback</a:t>
            </a:r>
          </a:p>
        </p:txBody>
      </p:sp>
      <p:sp>
        <p:nvSpPr>
          <p:cNvPr id="28" name="TextBox 27"/>
          <p:cNvSpPr txBox="1"/>
          <p:nvPr/>
        </p:nvSpPr>
        <p:spPr>
          <a:xfrm>
            <a:off x="1097280" y="5815584"/>
            <a:ext cx="10591495" cy="502920"/>
          </a:xfrm>
          <a:prstGeom prst="rect">
            <a:avLst/>
          </a:prstGeom>
          <a:noFill/>
        </p:spPr>
        <p:txBody>
          <a:bodyPr wrap="square" lIns="45720" rIns="45720" tIns="18288" bIns="18288" anchor="t">
            <a:spAutoFit/>
          </a:bodyPr>
          <a:lstStyle/>
          <a:p>
            <a:pPr algn="l"/>
            <a:r>
              <a:rPr sz="1100" b="0">
                <a:solidFill>
                  <a:srgbClr val="333333"/>
                </a:solidFill>
                <a:latin typeface="Calibri"/>
              </a:rPr>
              <a:t>For items missing structured tags, we keyword-match against the description: 'charcoal', 'mosquito', 'sunscreen', 'ice melt', etc. Hand-curated profiles for known seasonal categories.</a:t>
            </a:r>
          </a:p>
        </p:txBody>
      </p:sp>
      <p:sp>
        <p:nvSpPr>
          <p:cNvPr id="29" name="Rectangle 28"/>
          <p:cNvSpPr/>
          <p:nvPr/>
        </p:nvSpPr>
        <p:spPr>
          <a:xfrm>
            <a:off x="457200" y="6263640"/>
            <a:ext cx="11277295" cy="5029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6291072"/>
            <a:ext cx="11094415" cy="201168"/>
          </a:xfrm>
          <a:prstGeom prst="rect">
            <a:avLst/>
          </a:prstGeom>
          <a:noFill/>
        </p:spPr>
        <p:txBody>
          <a:bodyPr wrap="square" lIns="45720" rIns="45720" tIns="18288" bIns="18288" anchor="t">
            <a:spAutoFit/>
          </a:bodyPr>
          <a:lstStyle/>
          <a:p>
            <a:pPr algn="l"/>
            <a:r>
              <a:rPr sz="900" b="1">
                <a:solidFill>
                  <a:srgbClr val="1F3A5F"/>
                </a:solidFill>
                <a:latin typeface="Calibri"/>
              </a:rPr>
              <a:t>Data hygiene before profiles are built (handled in build_category_profiles_from_report.py):</a:t>
            </a:r>
          </a:p>
        </p:txBody>
      </p:sp>
      <p:sp>
        <p:nvSpPr>
          <p:cNvPr id="31" name="TextBox 30"/>
          <p:cNvSpPr txBox="1"/>
          <p:nvPr/>
        </p:nvSpPr>
        <p:spPr>
          <a:xfrm>
            <a:off x="548640" y="6492240"/>
            <a:ext cx="11094415" cy="274320"/>
          </a:xfrm>
          <a:prstGeom prst="rect">
            <a:avLst/>
          </a:prstGeom>
          <a:noFill/>
        </p:spPr>
        <p:txBody>
          <a:bodyPr wrap="square" lIns="45720" rIns="45720" tIns="18288" bIns="18288" anchor="t">
            <a:spAutoFit/>
          </a:bodyPr>
          <a:lstStyle/>
          <a:p>
            <a:pPr algn="l"/>
            <a:r>
              <a:rPr sz="800" b="0">
                <a:solidFill>
                  <a:srgbClr val="333333"/>
                </a:solidFill>
                <a:latin typeface="Calibri"/>
              </a:rPr>
              <a:t>OTBs / promo blasts excluded (SKU must ship ≥10 months over ≥12-month span, ≥50% active rate)  •  OOS months dropped (May-Sep 2025 tariff window)  •  outliers clamped (0.10x ↔ 4.00x, mean=1.0)  •  ≥3 consistent SKUs and ≥100k units per category  •  2024 weighted 2× (cleanest year)</a:t>
            </a:r>
          </a:p>
        </p:txBody>
      </p:sp>
      <p:sp>
        <p:nvSpPr>
          <p:cNvPr id="32" name="TextBox 3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7 / 35</a:t>
            </a:r>
          </a:p>
        </p:txBody>
      </p:sp>
      <p:sp>
        <p:nvSpPr>
          <p:cNvPr id="33" name="TextBox 3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Priority 1 — Planner-curated Season tags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9 hand-tuned profiles applied when the SKU has a 'Season' tag in QB Styles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14400"/>
            <a:ext cx="11277295" cy="411480"/>
          </a:xfrm>
          <a:prstGeom prst="rect">
            <a:avLst/>
          </a:prstGeom>
          <a:noFill/>
        </p:spPr>
        <p:txBody>
          <a:bodyPr wrap="square" lIns="45720" rIns="45720" tIns="18288" bIns="18288" anchor="t">
            <a:spAutoFit/>
          </a:bodyPr>
          <a:lstStyle/>
          <a:p>
            <a:pPr algn="l"/>
            <a:r>
              <a:rPr sz="1300" b="1">
                <a:solidFill>
                  <a:srgbClr val="1F3A5F"/>
                </a:solidFill>
                <a:latin typeface="Calibri"/>
              </a:rPr>
              <a:t>How the orderingweeks were derived</a:t>
            </a:r>
          </a:p>
        </p:txBody>
      </p:sp>
      <p:sp>
        <p:nvSpPr>
          <p:cNvPr id="7" name="TextBox 6"/>
          <p:cNvSpPr txBox="1"/>
          <p:nvPr/>
        </p:nvSpPr>
        <p:spPr>
          <a:xfrm>
            <a:off x="457200" y="1280160"/>
            <a:ext cx="11277295" cy="502920"/>
          </a:xfrm>
          <a:prstGeom prst="rect">
            <a:avLst/>
          </a:prstGeom>
          <a:noFill/>
        </p:spPr>
        <p:txBody>
          <a:bodyPr wrap="square" lIns="45720" rIns="45720" tIns="18288" bIns="18288" anchor="t">
            <a:spAutoFit/>
          </a:bodyPr>
          <a:lstStyle/>
          <a:p>
            <a:pPr algn="l"/>
            <a:r>
              <a:rPr sz="1100" b="0">
                <a:solidFill>
                  <a:srgbClr val="333333"/>
                </a:solidFill>
                <a:latin typeface="Calibri"/>
              </a:rPr>
              <a:t>Retail ordering leads consumer demand by 4-8 weeks. Peaks in these tables reflect when RETAILERS PLACE ORDERS, not when consumers buy. Easter peaks in Feb-Mar (not April).</a:t>
            </a:r>
          </a:p>
        </p:txBody>
      </p:sp>
      <p:graphicFrame>
        <p:nvGraphicFramePr>
          <p:cNvPr id="8" name="Table 7"/>
          <p:cNvGraphicFramePr>
            <a:graphicFrameLocks noGrp="1"/>
          </p:cNvGraphicFramePr>
          <p:nvPr/>
        </p:nvGraphicFramePr>
        <p:xfrm>
          <a:off x="457200" y="1920240"/>
          <a:ext cx="11277295" cy="4114800"/>
        </p:xfrm>
        <a:graphic>
          <a:graphicData uri="http://schemas.openxmlformats.org/drawingml/2006/table">
            <a:tbl>
              <a:tblPr firstRow="1" bandRow="1">
                <a:tableStyleId>{5C22544A-7EE6-4342-B048-85BDC9FD1C3A}</a:tableStyleId>
              </a:tblPr>
              <a:tblGrid>
                <a:gridCol w="2819323"/>
                <a:gridCol w="2819323"/>
                <a:gridCol w="2819323"/>
                <a:gridCol w="2819326"/>
              </a:tblGrid>
              <a:tr h="411480">
                <a:tc>
                  <a:txBody>
                    <a:bodyPr/>
                    <a:lstStyle/>
                    <a:p>
                      <a:pPr algn="l"/>
                      <a:r>
                        <a:rPr b="1" sz="1200">
                          <a:solidFill>
                            <a:srgbClr val="FFFFFF"/>
                          </a:solidFill>
                          <a:latin typeface="Calibri"/>
                        </a:rPr>
                        <a:t>Tag</a:t>
                      </a:r>
                    </a:p>
                  </a:txBody>
                  <a:tcPr>
                    <a:solidFill>
                      <a:srgbClr val="1F3A5F"/>
                    </a:solidFill>
                  </a:tcPr>
                </a:tc>
                <a:tc>
                  <a:txBody>
                    <a:bodyPr/>
                    <a:lstStyle/>
                    <a:p>
                      <a:pPr algn="l"/>
                      <a:r>
                        <a:rPr b="1" sz="1200">
                          <a:solidFill>
                            <a:srgbClr val="FFFFFF"/>
                          </a:solidFill>
                          <a:latin typeface="Calibri"/>
                        </a:rPr>
                        <a:t>Use case</a:t>
                      </a:r>
                    </a:p>
                  </a:txBody>
                  <a:tcPr>
                    <a:solidFill>
                      <a:srgbClr val="1F3A5F"/>
                    </a:solidFill>
                  </a:tcPr>
                </a:tc>
                <a:tc>
                  <a:txBody>
                    <a:bodyPr/>
                    <a:lstStyle/>
                    <a:p>
                      <a:pPr algn="l"/>
                      <a:r>
                        <a:rPr b="1" sz="1200">
                          <a:solidFill>
                            <a:srgbClr val="FFFFFF"/>
                          </a:solidFill>
                          <a:latin typeface="Calibri"/>
                        </a:rPr>
                        <a:t>Order window (months)</a:t>
                      </a:r>
                    </a:p>
                  </a:txBody>
                  <a:tcPr>
                    <a:solidFill>
                      <a:srgbClr val="1F3A5F"/>
                    </a:solidFill>
                  </a:tcPr>
                </a:tc>
                <a:tc>
                  <a:txBody>
                    <a:bodyPr/>
                    <a:lstStyle/>
                    <a:p>
                      <a:pPr algn="l"/>
                      <a:r>
                        <a:rPr b="1" sz="1200">
                          <a:solidFill>
                            <a:srgbClr val="FFFFFF"/>
                          </a:solidFill>
                          <a:latin typeface="Calibri"/>
                        </a:rPr>
                        <a:t>Order peak</a:t>
                      </a:r>
                    </a:p>
                  </a:txBody>
                  <a:tcPr>
                    <a:solidFill>
                      <a:srgbClr val="1F3A5F"/>
                    </a:solidFill>
                  </a:tcPr>
                </a:tc>
              </a:tr>
              <a:tr h="411480">
                <a:tc>
                  <a:txBody>
                    <a:bodyPr wrap="square"/>
                    <a:lstStyle/>
                    <a:p>
                      <a:pPr algn="l"/>
                      <a:r>
                        <a:rPr sz="1100">
                          <a:solidFill>
                            <a:srgbClr val="333333"/>
                          </a:solidFill>
                          <a:latin typeface="Calibri"/>
                        </a:rPr>
                        <a:t>Holiday</a:t>
                      </a:r>
                    </a:p>
                  </a:txBody>
                  <a:tcPr>
                    <a:solidFill>
                      <a:srgbClr val="FFFFFF"/>
                    </a:solidFill>
                  </a:tcPr>
                </a:tc>
                <a:tc>
                  <a:txBody>
                    <a:bodyPr wrap="square"/>
                    <a:lstStyle/>
                    <a:p>
                      <a:pPr algn="l"/>
                      <a:r>
                        <a:rPr sz="1100">
                          <a:solidFill>
                            <a:srgbClr val="333333"/>
                          </a:solidFill>
                          <a:latin typeface="Calibri"/>
                        </a:rPr>
                        <a:t>Thanksgiving / Christmas paper goods</a:t>
                      </a:r>
                    </a:p>
                  </a:txBody>
                  <a:tcPr>
                    <a:solidFill>
                      <a:srgbClr val="FFFFFF"/>
                    </a:solidFill>
                  </a:tcPr>
                </a:tc>
                <a:tc>
                  <a:txBody>
                    <a:bodyPr wrap="square"/>
                    <a:lstStyle/>
                    <a:p>
                      <a:pPr algn="l"/>
                      <a:r>
                        <a:rPr sz="1100">
                          <a:solidFill>
                            <a:srgbClr val="333333"/>
                          </a:solidFill>
                          <a:latin typeface="Calibri"/>
                        </a:rPr>
                        <a:t>Aug-Nov</a:t>
                      </a:r>
                    </a:p>
                  </a:txBody>
                  <a:tcPr>
                    <a:solidFill>
                      <a:srgbClr val="FFFFFF"/>
                    </a:solidFill>
                  </a:tcPr>
                </a:tc>
                <a:tc>
                  <a:txBody>
                    <a:bodyPr wrap="square"/>
                    <a:lstStyle/>
                    <a:p>
                      <a:pPr algn="l"/>
                      <a:r>
                        <a:rPr sz="1100">
                          <a:solidFill>
                            <a:srgbClr val="333333"/>
                          </a:solidFill>
                          <a:latin typeface="Calibri"/>
                        </a:rPr>
                        <a:t>Oct-Nov peak (2.30, 2.20)</a:t>
                      </a:r>
                    </a:p>
                  </a:txBody>
                  <a:tcPr>
                    <a:solidFill>
                      <a:srgbClr val="FFFFFF"/>
                    </a:solidFill>
                  </a:tcPr>
                </a:tc>
              </a:tr>
              <a:tr h="411480">
                <a:tc>
                  <a:txBody>
                    <a:bodyPr wrap="square"/>
                    <a:lstStyle/>
                    <a:p>
                      <a:pPr algn="l"/>
                      <a:r>
                        <a:rPr sz="1100">
                          <a:solidFill>
                            <a:srgbClr val="333333"/>
                          </a:solidFill>
                          <a:latin typeface="Calibri"/>
                        </a:rPr>
                        <a:t>Halloween</a:t>
                      </a:r>
                    </a:p>
                  </a:txBody>
                  <a:tcPr>
                    <a:solidFill>
                      <a:srgbClr val="F2F2F2"/>
                    </a:solidFill>
                  </a:tcPr>
                </a:tc>
                <a:tc>
                  <a:txBody>
                    <a:bodyPr wrap="square"/>
                    <a:lstStyle/>
                    <a:p>
                      <a:pPr algn="l"/>
                      <a:r>
                        <a:rPr sz="1100">
                          <a:solidFill>
                            <a:srgbClr val="333333"/>
                          </a:solidFill>
                          <a:latin typeface="Calibri"/>
                        </a:rPr>
                        <a:t>Halloween category</a:t>
                      </a:r>
                    </a:p>
                  </a:txBody>
                  <a:tcPr>
                    <a:solidFill>
                      <a:srgbClr val="F2F2F2"/>
                    </a:solidFill>
                  </a:tcPr>
                </a:tc>
                <a:tc>
                  <a:txBody>
                    <a:bodyPr wrap="square"/>
                    <a:lstStyle/>
                    <a:p>
                      <a:pPr algn="l"/>
                      <a:r>
                        <a:rPr sz="1100">
                          <a:solidFill>
                            <a:srgbClr val="333333"/>
                          </a:solidFill>
                          <a:latin typeface="Calibri"/>
                        </a:rPr>
                        <a:t>Jul-Sep</a:t>
                      </a:r>
                    </a:p>
                  </a:txBody>
                  <a:tcPr>
                    <a:solidFill>
                      <a:srgbClr val="F2F2F2"/>
                    </a:solidFill>
                  </a:tcPr>
                </a:tc>
                <a:tc>
                  <a:txBody>
                    <a:bodyPr wrap="square"/>
                    <a:lstStyle/>
                    <a:p>
                      <a:pPr algn="l"/>
                      <a:r>
                        <a:rPr sz="1100">
                          <a:solidFill>
                            <a:srgbClr val="333333"/>
                          </a:solidFill>
                          <a:latin typeface="Calibri"/>
                        </a:rPr>
                        <a:t>Aug peak (2.40)</a:t>
                      </a:r>
                    </a:p>
                  </a:txBody>
                  <a:tcPr>
                    <a:solidFill>
                      <a:srgbClr val="F2F2F2"/>
                    </a:solidFill>
                  </a:tcPr>
                </a:tc>
              </a:tr>
              <a:tr h="411480">
                <a:tc>
                  <a:txBody>
                    <a:bodyPr wrap="square"/>
                    <a:lstStyle/>
                    <a:p>
                      <a:pPr algn="l"/>
                      <a:r>
                        <a:rPr sz="1100">
                          <a:solidFill>
                            <a:srgbClr val="333333"/>
                          </a:solidFill>
                          <a:latin typeface="Calibri"/>
                        </a:rPr>
                        <a:t>July 4th</a:t>
                      </a:r>
                    </a:p>
                  </a:txBody>
                  <a:tcPr>
                    <a:solidFill>
                      <a:srgbClr val="FFFFFF"/>
                    </a:solidFill>
                  </a:tcPr>
                </a:tc>
                <a:tc>
                  <a:txBody>
                    <a:bodyPr wrap="square"/>
                    <a:lstStyle/>
                    <a:p>
                      <a:pPr algn="l"/>
                      <a:r>
                        <a:rPr sz="1100">
                          <a:solidFill>
                            <a:srgbClr val="333333"/>
                          </a:solidFill>
                          <a:latin typeface="Calibri"/>
                        </a:rPr>
                        <a:t>Independence Day</a:t>
                      </a:r>
                    </a:p>
                  </a:txBody>
                  <a:tcPr>
                    <a:solidFill>
                      <a:srgbClr val="FFFFFF"/>
                    </a:solidFill>
                  </a:tcPr>
                </a:tc>
                <a:tc>
                  <a:txBody>
                    <a:bodyPr wrap="square"/>
                    <a:lstStyle/>
                    <a:p>
                      <a:pPr algn="l"/>
                      <a:r>
                        <a:rPr sz="1100">
                          <a:solidFill>
                            <a:srgbClr val="333333"/>
                          </a:solidFill>
                          <a:latin typeface="Calibri"/>
                        </a:rPr>
                        <a:t>Apr-Jun</a:t>
                      </a:r>
                    </a:p>
                  </a:txBody>
                  <a:tcPr>
                    <a:solidFill>
                      <a:srgbClr val="FFFFFF"/>
                    </a:solidFill>
                  </a:tcPr>
                </a:tc>
                <a:tc>
                  <a:txBody>
                    <a:bodyPr wrap="square"/>
                    <a:lstStyle/>
                    <a:p>
                      <a:pPr algn="l"/>
                      <a:r>
                        <a:rPr sz="1100">
                          <a:solidFill>
                            <a:srgbClr val="333333"/>
                          </a:solidFill>
                          <a:latin typeface="Calibri"/>
                        </a:rPr>
                        <a:t>May peak (2.20)</a:t>
                      </a:r>
                    </a:p>
                  </a:txBody>
                  <a:tcPr>
                    <a:solidFill>
                      <a:srgbClr val="FFFFFF"/>
                    </a:solidFill>
                  </a:tcPr>
                </a:tc>
              </a:tr>
              <a:tr h="411480">
                <a:tc>
                  <a:txBody>
                    <a:bodyPr wrap="square"/>
                    <a:lstStyle/>
                    <a:p>
                      <a:pPr algn="l"/>
                      <a:r>
                        <a:rPr sz="1100">
                          <a:solidFill>
                            <a:srgbClr val="333333"/>
                          </a:solidFill>
                          <a:latin typeface="Calibri"/>
                        </a:rPr>
                        <a:t>Easter</a:t>
                      </a:r>
                    </a:p>
                  </a:txBody>
                  <a:tcPr>
                    <a:solidFill>
                      <a:srgbClr val="F2F2F2"/>
                    </a:solidFill>
                  </a:tcPr>
                </a:tc>
                <a:tc>
                  <a:txBody>
                    <a:bodyPr wrap="square"/>
                    <a:lstStyle/>
                    <a:p>
                      <a:pPr algn="l"/>
                      <a:r>
                        <a:rPr sz="1100">
                          <a:solidFill>
                            <a:srgbClr val="333333"/>
                          </a:solidFill>
                          <a:latin typeface="Calibri"/>
                        </a:rPr>
                        <a:t>Easter category</a:t>
                      </a:r>
                    </a:p>
                  </a:txBody>
                  <a:tcPr>
                    <a:solidFill>
                      <a:srgbClr val="F2F2F2"/>
                    </a:solidFill>
                  </a:tcPr>
                </a:tc>
                <a:tc>
                  <a:txBody>
                    <a:bodyPr wrap="square"/>
                    <a:lstStyle/>
                    <a:p>
                      <a:pPr algn="l"/>
                      <a:r>
                        <a:rPr sz="1100">
                          <a:solidFill>
                            <a:srgbClr val="333333"/>
                          </a:solidFill>
                          <a:latin typeface="Calibri"/>
                        </a:rPr>
                        <a:t>Jan-Mar</a:t>
                      </a:r>
                    </a:p>
                  </a:txBody>
                  <a:tcPr>
                    <a:solidFill>
                      <a:srgbClr val="F2F2F2"/>
                    </a:solidFill>
                  </a:tcPr>
                </a:tc>
                <a:tc>
                  <a:txBody>
                    <a:bodyPr wrap="square"/>
                    <a:lstStyle/>
                    <a:p>
                      <a:pPr algn="l"/>
                      <a:r>
                        <a:rPr sz="1100">
                          <a:solidFill>
                            <a:srgbClr val="333333"/>
                          </a:solidFill>
                          <a:latin typeface="Calibri"/>
                        </a:rPr>
                        <a:t>Mar peak (2.10)</a:t>
                      </a:r>
                    </a:p>
                  </a:txBody>
                  <a:tcPr>
                    <a:solidFill>
                      <a:srgbClr val="F2F2F2"/>
                    </a:solidFill>
                  </a:tcPr>
                </a:tc>
              </a:tr>
              <a:tr h="411480">
                <a:tc>
                  <a:txBody>
                    <a:bodyPr wrap="square"/>
                    <a:lstStyle/>
                    <a:p>
                      <a:pPr algn="l"/>
                      <a:r>
                        <a:rPr sz="1100">
                          <a:solidFill>
                            <a:srgbClr val="333333"/>
                          </a:solidFill>
                          <a:latin typeface="Calibri"/>
                        </a:rPr>
                        <a:t>Valentines Day</a:t>
                      </a:r>
                    </a:p>
                  </a:txBody>
                  <a:tcPr>
                    <a:solidFill>
                      <a:srgbClr val="FFFFFF"/>
                    </a:solidFill>
                  </a:tcPr>
                </a:tc>
                <a:tc>
                  <a:txBody>
                    <a:bodyPr wrap="square"/>
                    <a:lstStyle/>
                    <a:p>
                      <a:pPr algn="l"/>
                      <a:r>
                        <a:rPr sz="1100">
                          <a:solidFill>
                            <a:srgbClr val="333333"/>
                          </a:solidFill>
                          <a:latin typeface="Calibri"/>
                        </a:rPr>
                        <a:t>Valentine's gifting</a:t>
                      </a:r>
                    </a:p>
                  </a:txBody>
                  <a:tcPr>
                    <a:solidFill>
                      <a:srgbClr val="FFFFFF"/>
                    </a:solidFill>
                  </a:tcPr>
                </a:tc>
                <a:tc>
                  <a:txBody>
                    <a:bodyPr wrap="square"/>
                    <a:lstStyle/>
                    <a:p>
                      <a:pPr algn="l"/>
                      <a:r>
                        <a:rPr sz="1100">
                          <a:solidFill>
                            <a:srgbClr val="333333"/>
                          </a:solidFill>
                          <a:latin typeface="Calibri"/>
                        </a:rPr>
                        <a:t>Nov-Jan</a:t>
                      </a:r>
                    </a:p>
                  </a:txBody>
                  <a:tcPr>
                    <a:solidFill>
                      <a:srgbClr val="FFFFFF"/>
                    </a:solidFill>
                  </a:tcPr>
                </a:tc>
                <a:tc>
                  <a:txBody>
                    <a:bodyPr wrap="square"/>
                    <a:lstStyle/>
                    <a:p>
                      <a:pPr algn="l"/>
                      <a:r>
                        <a:rPr sz="1100">
                          <a:solidFill>
                            <a:srgbClr val="333333"/>
                          </a:solidFill>
                          <a:latin typeface="Calibri"/>
                        </a:rPr>
                        <a:t>Dec peak (2.15)</a:t>
                      </a:r>
                    </a:p>
                  </a:txBody>
                  <a:tcPr>
                    <a:solidFill>
                      <a:srgbClr val="FFFFFF"/>
                    </a:solidFill>
                  </a:tcPr>
                </a:tc>
              </a:tr>
              <a:tr h="411480">
                <a:tc>
                  <a:txBody>
                    <a:bodyPr wrap="square"/>
                    <a:lstStyle/>
                    <a:p>
                      <a:pPr algn="l"/>
                      <a:r>
                        <a:rPr sz="1100">
                          <a:solidFill>
                            <a:srgbClr val="333333"/>
                          </a:solidFill>
                          <a:latin typeface="Calibri"/>
                        </a:rPr>
                        <a:t>St Patrick's Day</a:t>
                      </a:r>
                    </a:p>
                  </a:txBody>
                  <a:tcPr>
                    <a:solidFill>
                      <a:srgbClr val="F2F2F2"/>
                    </a:solidFill>
                  </a:tcPr>
                </a:tc>
                <a:tc>
                  <a:txBody>
                    <a:bodyPr wrap="square"/>
                    <a:lstStyle/>
                    <a:p>
                      <a:pPr algn="l"/>
                      <a:r>
                        <a:rPr sz="1100">
                          <a:solidFill>
                            <a:srgbClr val="333333"/>
                          </a:solidFill>
                          <a:latin typeface="Calibri"/>
                        </a:rPr>
                        <a:t>St Pat's category</a:t>
                      </a:r>
                    </a:p>
                  </a:txBody>
                  <a:tcPr>
                    <a:solidFill>
                      <a:srgbClr val="F2F2F2"/>
                    </a:solidFill>
                  </a:tcPr>
                </a:tc>
                <a:tc>
                  <a:txBody>
                    <a:bodyPr wrap="square"/>
                    <a:lstStyle/>
                    <a:p>
                      <a:pPr algn="l"/>
                      <a:r>
                        <a:rPr sz="1100">
                          <a:solidFill>
                            <a:srgbClr val="333333"/>
                          </a:solidFill>
                          <a:latin typeface="Calibri"/>
                        </a:rPr>
                        <a:t>Dec-Feb</a:t>
                      </a:r>
                    </a:p>
                  </a:txBody>
                  <a:tcPr>
                    <a:solidFill>
                      <a:srgbClr val="F2F2F2"/>
                    </a:solidFill>
                  </a:tcPr>
                </a:tc>
                <a:tc>
                  <a:txBody>
                    <a:bodyPr wrap="square"/>
                    <a:lstStyle/>
                    <a:p>
                      <a:pPr algn="l"/>
                      <a:r>
                        <a:rPr sz="1100">
                          <a:solidFill>
                            <a:srgbClr val="333333"/>
                          </a:solidFill>
                          <a:latin typeface="Calibri"/>
                        </a:rPr>
                        <a:t>Jan peak (2.00)</a:t>
                      </a:r>
                    </a:p>
                  </a:txBody>
                  <a:tcPr>
                    <a:solidFill>
                      <a:srgbClr val="F2F2F2"/>
                    </a:solidFill>
                  </a:tcPr>
                </a:tc>
              </a:tr>
              <a:tr h="411480">
                <a:tc>
                  <a:txBody>
                    <a:bodyPr wrap="square"/>
                    <a:lstStyle/>
                    <a:p>
                      <a:pPr algn="l"/>
                      <a:r>
                        <a:rPr sz="1100">
                          <a:solidFill>
                            <a:srgbClr val="333333"/>
                          </a:solidFill>
                          <a:latin typeface="Calibri"/>
                        </a:rPr>
                        <a:t>Pride</a:t>
                      </a:r>
                    </a:p>
                  </a:txBody>
                  <a:tcPr>
                    <a:solidFill>
                      <a:srgbClr val="FFFFFF"/>
                    </a:solidFill>
                  </a:tcPr>
                </a:tc>
                <a:tc>
                  <a:txBody>
                    <a:bodyPr wrap="square"/>
                    <a:lstStyle/>
                    <a:p>
                      <a:pPr algn="l"/>
                      <a:r>
                        <a:rPr sz="1100">
                          <a:solidFill>
                            <a:srgbClr val="333333"/>
                          </a:solidFill>
                          <a:latin typeface="Calibri"/>
                        </a:rPr>
                        <a:t>June Pride category</a:t>
                      </a:r>
                    </a:p>
                  </a:txBody>
                  <a:tcPr>
                    <a:solidFill>
                      <a:srgbClr val="FFFFFF"/>
                    </a:solidFill>
                  </a:tcPr>
                </a:tc>
                <a:tc>
                  <a:txBody>
                    <a:bodyPr wrap="square"/>
                    <a:lstStyle/>
                    <a:p>
                      <a:pPr algn="l"/>
                      <a:r>
                        <a:rPr sz="1100">
                          <a:solidFill>
                            <a:srgbClr val="333333"/>
                          </a:solidFill>
                          <a:latin typeface="Calibri"/>
                        </a:rPr>
                        <a:t>Mar-May</a:t>
                      </a:r>
                    </a:p>
                  </a:txBody>
                  <a:tcPr>
                    <a:solidFill>
                      <a:srgbClr val="FFFFFF"/>
                    </a:solidFill>
                  </a:tcPr>
                </a:tc>
                <a:tc>
                  <a:txBody>
                    <a:bodyPr wrap="square"/>
                    <a:lstStyle/>
                    <a:p>
                      <a:pPr algn="l"/>
                      <a:r>
                        <a:rPr sz="1100">
                          <a:solidFill>
                            <a:srgbClr val="333333"/>
                          </a:solidFill>
                          <a:latin typeface="Calibri"/>
                        </a:rPr>
                        <a:t>Apr peak (2.00)</a:t>
                      </a:r>
                    </a:p>
                  </a:txBody>
                  <a:tcPr>
                    <a:solidFill>
                      <a:srgbClr val="FFFFFF"/>
                    </a:solidFill>
                  </a:tcPr>
                </a:tc>
              </a:tr>
              <a:tr h="411480">
                <a:tc>
                  <a:txBody>
                    <a:bodyPr wrap="square"/>
                    <a:lstStyle/>
                    <a:p>
                      <a:pPr algn="l"/>
                      <a:r>
                        <a:rPr sz="1100">
                          <a:solidFill>
                            <a:srgbClr val="333333"/>
                          </a:solidFill>
                          <a:latin typeface="Calibri"/>
                        </a:rPr>
                        <a:t>Spring/Summer</a:t>
                      </a:r>
                    </a:p>
                  </a:txBody>
                  <a:tcPr>
                    <a:solidFill>
                      <a:srgbClr val="F2F2F2"/>
                    </a:solidFill>
                  </a:tcPr>
                </a:tc>
                <a:tc>
                  <a:txBody>
                    <a:bodyPr wrap="square"/>
                    <a:lstStyle/>
                    <a:p>
                      <a:pPr algn="l"/>
                      <a:r>
                        <a:rPr sz="1100">
                          <a:solidFill>
                            <a:srgbClr val="333333"/>
                          </a:solidFill>
                          <a:latin typeface="Calibri"/>
                        </a:rPr>
                        <a:t>Outdoor lifestyle</a:t>
                      </a:r>
                    </a:p>
                  </a:txBody>
                  <a:tcPr>
                    <a:solidFill>
                      <a:srgbClr val="F2F2F2"/>
                    </a:solidFill>
                  </a:tcPr>
                </a:tc>
                <a:tc>
                  <a:txBody>
                    <a:bodyPr wrap="square"/>
                    <a:lstStyle/>
                    <a:p>
                      <a:pPr algn="l"/>
                      <a:r>
                        <a:rPr sz="1100">
                          <a:solidFill>
                            <a:srgbClr val="333333"/>
                          </a:solidFill>
                          <a:latin typeface="Calibri"/>
                        </a:rPr>
                        <a:t>Feb-Jun</a:t>
                      </a:r>
                    </a:p>
                  </a:txBody>
                  <a:tcPr>
                    <a:solidFill>
                      <a:srgbClr val="F2F2F2"/>
                    </a:solidFill>
                  </a:tcPr>
                </a:tc>
                <a:tc>
                  <a:txBody>
                    <a:bodyPr wrap="square"/>
                    <a:lstStyle/>
                    <a:p>
                      <a:pPr algn="l"/>
                      <a:r>
                        <a:rPr sz="1100">
                          <a:solidFill>
                            <a:srgbClr val="333333"/>
                          </a:solidFill>
                          <a:latin typeface="Calibri"/>
                        </a:rPr>
                        <a:t>Mar-May peak (1.65, 1.55)</a:t>
                      </a:r>
                    </a:p>
                  </a:txBody>
                  <a:tcPr>
                    <a:solidFill>
                      <a:srgbClr val="F2F2F2"/>
                    </a:solidFill>
                  </a:tcPr>
                </a:tc>
              </a:tr>
              <a:tr h="411480">
                <a:tc>
                  <a:txBody>
                    <a:bodyPr wrap="square"/>
                    <a:lstStyle/>
                    <a:p>
                      <a:pPr algn="l"/>
                      <a:r>
                        <a:rPr sz="1100">
                          <a:solidFill>
                            <a:srgbClr val="333333"/>
                          </a:solidFill>
                          <a:latin typeface="Calibri"/>
                        </a:rPr>
                        <a:t>Fall/Winter</a:t>
                      </a:r>
                    </a:p>
                  </a:txBody>
                  <a:tcPr>
                    <a:solidFill>
                      <a:srgbClr val="FFFFFF"/>
                    </a:solidFill>
                  </a:tcPr>
                </a:tc>
                <a:tc>
                  <a:txBody>
                    <a:bodyPr wrap="square"/>
                    <a:lstStyle/>
                    <a:p>
                      <a:pPr algn="l"/>
                      <a:r>
                        <a:rPr sz="1100">
                          <a:solidFill>
                            <a:srgbClr val="333333"/>
                          </a:solidFill>
                          <a:latin typeface="Calibri"/>
                        </a:rPr>
                        <a:t>Cold-weather indoor</a:t>
                      </a:r>
                    </a:p>
                  </a:txBody>
                  <a:tcPr>
                    <a:solidFill>
                      <a:srgbClr val="FFFFFF"/>
                    </a:solidFill>
                  </a:tcPr>
                </a:tc>
                <a:tc>
                  <a:txBody>
                    <a:bodyPr wrap="square"/>
                    <a:lstStyle/>
                    <a:p>
                      <a:pPr algn="l"/>
                      <a:r>
                        <a:rPr sz="1100">
                          <a:solidFill>
                            <a:srgbClr val="333333"/>
                          </a:solidFill>
                          <a:latin typeface="Calibri"/>
                        </a:rPr>
                        <a:t>Aug-Dec</a:t>
                      </a:r>
                    </a:p>
                  </a:txBody>
                  <a:tcPr>
                    <a:solidFill>
                      <a:srgbClr val="FFFFFF"/>
                    </a:solidFill>
                  </a:tcPr>
                </a:tc>
                <a:tc>
                  <a:txBody>
                    <a:bodyPr wrap="square"/>
                    <a:lstStyle/>
                    <a:p>
                      <a:pPr algn="l"/>
                      <a:r>
                        <a:rPr sz="1100">
                          <a:solidFill>
                            <a:srgbClr val="333333"/>
                          </a:solidFill>
                          <a:latin typeface="Calibri"/>
                        </a:rPr>
                        <a:t>Sep-Oct peak (1.65, 1.65)</a:t>
                      </a:r>
                    </a:p>
                  </a:txBody>
                  <a:tcPr>
                    <a:solidFill>
                      <a:srgbClr val="FFFFFF"/>
                    </a:solidFill>
                  </a:tcPr>
                </a:tc>
              </a:tr>
            </a:tbl>
          </a:graphicData>
        </a:graphic>
      </p:graphicFrame>
      <p:sp>
        <p:nvSpPr>
          <p:cNvPr id="9" name="TextBox 8"/>
          <p:cNvSpPr txBox="1"/>
          <p:nvPr/>
        </p:nvSpPr>
        <p:spPr>
          <a:xfrm>
            <a:off x="457200" y="6172200"/>
            <a:ext cx="11277295" cy="274320"/>
          </a:xfrm>
          <a:prstGeom prst="rect">
            <a:avLst/>
          </a:prstGeom>
          <a:noFill/>
        </p:spPr>
        <p:txBody>
          <a:bodyPr wrap="square" lIns="45720" rIns="45720" tIns="18288" bIns="18288" anchor="t">
            <a:spAutoFit/>
          </a:bodyPr>
          <a:lstStyle/>
          <a:p>
            <a:pPr algn="l"/>
            <a:r>
              <a:rPr sz="1000" b="0">
                <a:solidFill>
                  <a:srgbClr val="666666"/>
                </a:solidFill>
                <a:latin typeface="Calibri"/>
              </a:rPr>
              <a:t>Tags applied automatically — no SKU gate (planner-trusted). Floor still at 1.0 (no demand cuts).</a:t>
            </a:r>
          </a:p>
        </p:txBody>
      </p:sp>
      <p:sp>
        <p:nvSpPr>
          <p:cNvPr id="10" name="TextBox 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8 / 35</a:t>
            </a:r>
          </a:p>
        </p:txBody>
      </p:sp>
      <p:sp>
        <p:nvSpPr>
          <p:cNvPr id="11" name="TextBox 1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Priority 2 — Data-derived subcategory profiles (1 of 2)</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Built from 2024-2026 invoice ship history — 35 qualifying subcategories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914400"/>
          <a:ext cx="11277295" cy="544068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286351">
                <a:tc>
                  <a:txBody>
                    <a:bodyPr/>
                    <a:lstStyle/>
                    <a:p>
                      <a:pPr algn="l"/>
                      <a:r>
                        <a:rPr b="1" sz="1000">
                          <a:solidFill>
                            <a:srgbClr val="FFFFFF"/>
                          </a:solidFill>
                          <a:latin typeface="Calibri"/>
                        </a:rPr>
                        <a:t>Category</a:t>
                      </a:r>
                    </a:p>
                  </a:txBody>
                  <a:tcPr>
                    <a:solidFill>
                      <a:srgbClr val="1F3A5F"/>
                    </a:solidFill>
                  </a:tcPr>
                </a:tc>
                <a:tc>
                  <a:txBody>
                    <a:bodyPr/>
                    <a:lstStyle/>
                    <a:p>
                      <a:pPr algn="l"/>
                      <a:r>
                        <a:rPr b="1" sz="1000">
                          <a:solidFill>
                            <a:srgbClr val="FFFFFF"/>
                          </a:solidFill>
                          <a:latin typeface="Calibri"/>
                        </a:rPr>
                        <a:t>Subcategory</a:t>
                      </a:r>
                    </a:p>
                  </a:txBody>
                  <a:tcPr>
                    <a:solidFill>
                      <a:srgbClr val="1F3A5F"/>
                    </a:solidFill>
                  </a:tcPr>
                </a:tc>
                <a:tc>
                  <a:txBody>
                    <a:bodyPr/>
                    <a:lstStyle/>
                    <a:p>
                      <a:pPr algn="l"/>
                      <a:r>
                        <a:rPr b="1" sz="1000">
                          <a:solidFill>
                            <a:srgbClr val="FFFFFF"/>
                          </a:solidFill>
                          <a:latin typeface="Calibri"/>
                        </a:rPr>
                        <a:t>SKUs</a:t>
                      </a:r>
                    </a:p>
                  </a:txBody>
                  <a:tcPr>
                    <a:solidFill>
                      <a:srgbClr val="1F3A5F"/>
                    </a:solidFill>
                  </a:tcPr>
                </a:tc>
                <a:tc>
                  <a:txBody>
                    <a:bodyPr/>
                    <a:lstStyle/>
                    <a:p>
                      <a:pPr algn="l"/>
                      <a:r>
                        <a:rPr b="1" sz="1000">
                          <a:solidFill>
                            <a:srgbClr val="FFFFFF"/>
                          </a:solidFill>
                          <a:latin typeface="Calibri"/>
                        </a:rPr>
                        <a:t>Peak month (index)</a:t>
                      </a:r>
                    </a:p>
                  </a:txBody>
                  <a:tcPr>
                    <a:solidFill>
                      <a:srgbClr val="1F3A5F"/>
                    </a:solidFill>
                  </a:tcPr>
                </a:tc>
                <a:tc>
                  <a:txBody>
                    <a:bodyPr/>
                    <a:lstStyle/>
                    <a:p>
                      <a:pPr algn="l"/>
                      <a:r>
                        <a:rPr b="1" sz="1000">
                          <a:solidFill>
                            <a:srgbClr val="FFFFFF"/>
                          </a:solidFill>
                          <a:latin typeface="Calibri"/>
                        </a:rPr>
                        <a:t>Months that lift demand (&gt;1.05x)</a:t>
                      </a:r>
                    </a:p>
                  </a:txBody>
                  <a:tcPr>
                    <a:solidFill>
                      <a:srgbClr val="1F3A5F"/>
                    </a:solidFill>
                  </a:tcPr>
                </a:tc>
              </a:tr>
              <a:tr h="286351">
                <a:tc>
                  <a:txBody>
                    <a:bodyPr wrap="square"/>
                    <a:lstStyle/>
                    <a:p>
                      <a:pPr algn="l"/>
                      <a:r>
                        <a:rPr sz="900">
                          <a:solidFill>
                            <a:srgbClr val="333333"/>
                          </a:solidFill>
                          <a:latin typeface="Calibri"/>
                        </a:rPr>
                        <a:t>Air Care</a:t>
                      </a:r>
                    </a:p>
                  </a:txBody>
                  <a:tcPr>
                    <a:solidFill>
                      <a:srgbClr val="FFFFFF"/>
                    </a:solidFill>
                  </a:tcPr>
                </a:tc>
                <a:tc>
                  <a:txBody>
                    <a:bodyPr wrap="square"/>
                    <a:lstStyle/>
                    <a:p>
                      <a:pPr algn="l"/>
                      <a:r>
                        <a:rPr sz="900">
                          <a:solidFill>
                            <a:srgbClr val="333333"/>
                          </a:solidFill>
                          <a:latin typeface="Calibri"/>
                        </a:rPr>
                        <a:t>Air Fresheners</a:t>
                      </a:r>
                    </a:p>
                  </a:txBody>
                  <a:tcPr>
                    <a:solidFill>
                      <a:srgbClr val="FFFFFF"/>
                    </a:solidFill>
                  </a:tcPr>
                </a:tc>
                <a:tc>
                  <a:txBody>
                    <a:bodyPr wrap="square"/>
                    <a:lstStyle/>
                    <a:p>
                      <a:pPr algn="l"/>
                      <a:r>
                        <a:rPr sz="900">
                          <a:solidFill>
                            <a:srgbClr val="333333"/>
                          </a:solidFill>
                          <a:latin typeface="Calibri"/>
                        </a:rPr>
                        <a:t>16</a:t>
                      </a:r>
                    </a:p>
                  </a:txBody>
                  <a:tcPr>
                    <a:solidFill>
                      <a:srgbClr val="FFFFFF"/>
                    </a:solidFill>
                  </a:tcPr>
                </a:tc>
                <a:tc>
                  <a:txBody>
                    <a:bodyPr wrap="square"/>
                    <a:lstStyle/>
                    <a:p>
                      <a:pPr algn="l"/>
                      <a:r>
                        <a:rPr sz="900">
                          <a:solidFill>
                            <a:srgbClr val="333333"/>
                          </a:solidFill>
                          <a:latin typeface="Calibri"/>
                        </a:rPr>
                        <a:t>Nov (1.88x)</a:t>
                      </a:r>
                    </a:p>
                  </a:txBody>
                  <a:tcPr>
                    <a:solidFill>
                      <a:srgbClr val="FFFFFF"/>
                    </a:solidFill>
                  </a:tcPr>
                </a:tc>
                <a:tc>
                  <a:txBody>
                    <a:bodyPr wrap="square"/>
                    <a:lstStyle/>
                    <a:p>
                      <a:pPr algn="l"/>
                      <a:r>
                        <a:rPr sz="900">
                          <a:solidFill>
                            <a:srgbClr val="333333"/>
                          </a:solidFill>
                          <a:latin typeface="Calibri"/>
                        </a:rPr>
                        <a:t>Jan, Mar, Aug, Oct, Nov, Dec</a:t>
                      </a:r>
                    </a:p>
                  </a:txBody>
                  <a:tcPr>
                    <a:solidFill>
                      <a:srgbClr val="FFFFFF"/>
                    </a:solidFill>
                  </a:tcPr>
                </a:tc>
              </a:tr>
              <a:tr h="286351">
                <a:tc>
                  <a:txBody>
                    <a:bodyPr wrap="square"/>
                    <a:lstStyle/>
                    <a:p>
                      <a:pPr algn="l"/>
                      <a:r>
                        <a:rPr sz="900">
                          <a:solidFill>
                            <a:srgbClr val="333333"/>
                          </a:solidFill>
                          <a:latin typeface="Calibri"/>
                        </a:rPr>
                        <a:t>Air Care</a:t>
                      </a:r>
                    </a:p>
                  </a:txBody>
                  <a:tcPr>
                    <a:solidFill>
                      <a:srgbClr val="F2F2F2"/>
                    </a:solidFill>
                  </a:tcPr>
                </a:tc>
                <a:tc>
                  <a:txBody>
                    <a:bodyPr wrap="square"/>
                    <a:lstStyle/>
                    <a:p>
                      <a:pPr algn="l"/>
                      <a:r>
                        <a:rPr sz="900">
                          <a:solidFill>
                            <a:srgbClr val="333333"/>
                          </a:solidFill>
                          <a:latin typeface="Calibri"/>
                        </a:rPr>
                        <a:t>Beads</a:t>
                      </a:r>
                    </a:p>
                  </a:txBody>
                  <a:tcPr>
                    <a:solidFill>
                      <a:srgbClr val="F2F2F2"/>
                    </a:solidFill>
                  </a:tcPr>
                </a:tc>
                <a:tc>
                  <a:txBody>
                    <a:bodyPr wrap="square"/>
                    <a:lstStyle/>
                    <a:p>
                      <a:pPr algn="l"/>
                      <a:r>
                        <a:rPr sz="900">
                          <a:solidFill>
                            <a:srgbClr val="333333"/>
                          </a:solidFill>
                          <a:latin typeface="Calibri"/>
                        </a:rPr>
                        <a:t>30</a:t>
                      </a:r>
                    </a:p>
                  </a:txBody>
                  <a:tcPr>
                    <a:solidFill>
                      <a:srgbClr val="F2F2F2"/>
                    </a:solidFill>
                  </a:tcPr>
                </a:tc>
                <a:tc>
                  <a:txBody>
                    <a:bodyPr wrap="square"/>
                    <a:lstStyle/>
                    <a:p>
                      <a:pPr algn="l"/>
                      <a:r>
                        <a:rPr sz="900">
                          <a:solidFill>
                            <a:srgbClr val="333333"/>
                          </a:solidFill>
                          <a:latin typeface="Calibri"/>
                        </a:rPr>
                        <a:t>Jun (1.95x)</a:t>
                      </a:r>
                    </a:p>
                  </a:txBody>
                  <a:tcPr>
                    <a:solidFill>
                      <a:srgbClr val="F2F2F2"/>
                    </a:solidFill>
                  </a:tcPr>
                </a:tc>
                <a:tc>
                  <a:txBody>
                    <a:bodyPr wrap="square"/>
                    <a:lstStyle/>
                    <a:p>
                      <a:pPr algn="l"/>
                      <a:r>
                        <a:rPr sz="900">
                          <a:solidFill>
                            <a:srgbClr val="333333"/>
                          </a:solidFill>
                          <a:latin typeface="Calibri"/>
                        </a:rPr>
                        <a:t>Mar, May, Jun, Oct, Nov</a:t>
                      </a:r>
                    </a:p>
                  </a:txBody>
                  <a:tcPr>
                    <a:solidFill>
                      <a:srgbClr val="F2F2F2"/>
                    </a:solidFill>
                  </a:tcPr>
                </a:tc>
              </a:tr>
              <a:tr h="286351">
                <a:tc>
                  <a:txBody>
                    <a:bodyPr wrap="square"/>
                    <a:lstStyle/>
                    <a:p>
                      <a:pPr algn="l"/>
                      <a:r>
                        <a:rPr sz="900">
                          <a:solidFill>
                            <a:srgbClr val="333333"/>
                          </a:solidFill>
                          <a:latin typeface="Calibri"/>
                        </a:rPr>
                        <a:t>Air Care</a:t>
                      </a:r>
                    </a:p>
                  </a:txBody>
                  <a:tcPr>
                    <a:solidFill>
                      <a:srgbClr val="FFFFFF"/>
                    </a:solidFill>
                  </a:tcPr>
                </a:tc>
                <a:tc>
                  <a:txBody>
                    <a:bodyPr wrap="square"/>
                    <a:lstStyle/>
                    <a:p>
                      <a:pPr algn="l"/>
                      <a:r>
                        <a:rPr sz="900">
                          <a:solidFill>
                            <a:srgbClr val="333333"/>
                          </a:solidFill>
                          <a:latin typeface="Calibri"/>
                        </a:rPr>
                        <a:t>Gel Cone</a:t>
                      </a:r>
                    </a:p>
                  </a:txBody>
                  <a:tcPr>
                    <a:solidFill>
                      <a:srgbClr val="FFFFFF"/>
                    </a:solidFill>
                  </a:tcPr>
                </a:tc>
                <a:tc>
                  <a:txBody>
                    <a:bodyPr wrap="square"/>
                    <a:lstStyle/>
                    <a:p>
                      <a:pPr algn="l"/>
                      <a:r>
                        <a:rPr sz="900">
                          <a:solidFill>
                            <a:srgbClr val="333333"/>
                          </a:solidFill>
                          <a:latin typeface="Calibri"/>
                        </a:rPr>
                        <a:t>11</a:t>
                      </a:r>
                    </a:p>
                  </a:txBody>
                  <a:tcPr>
                    <a:solidFill>
                      <a:srgbClr val="FFFFFF"/>
                    </a:solidFill>
                  </a:tcPr>
                </a:tc>
                <a:tc>
                  <a:txBody>
                    <a:bodyPr wrap="square"/>
                    <a:lstStyle/>
                    <a:p>
                      <a:pPr algn="l"/>
                      <a:r>
                        <a:rPr sz="900">
                          <a:solidFill>
                            <a:srgbClr val="333333"/>
                          </a:solidFill>
                          <a:latin typeface="Calibri"/>
                        </a:rPr>
                        <a:t>Mar (2.81x)</a:t>
                      </a:r>
                    </a:p>
                  </a:txBody>
                  <a:tcPr>
                    <a:solidFill>
                      <a:srgbClr val="FFFFFF"/>
                    </a:solidFill>
                  </a:tcPr>
                </a:tc>
                <a:tc>
                  <a:txBody>
                    <a:bodyPr wrap="square"/>
                    <a:lstStyle/>
                    <a:p>
                      <a:pPr algn="l"/>
                      <a:r>
                        <a:rPr sz="900">
                          <a:solidFill>
                            <a:srgbClr val="333333"/>
                          </a:solidFill>
                          <a:latin typeface="Calibri"/>
                        </a:rPr>
                        <a:t>Jan, Feb, Mar</a:t>
                      </a:r>
                    </a:p>
                  </a:txBody>
                  <a:tcPr>
                    <a:solidFill>
                      <a:srgbClr val="FFFFFF"/>
                    </a:solidFill>
                  </a:tcPr>
                </a:tc>
              </a:tr>
              <a:tr h="286351">
                <a:tc>
                  <a:txBody>
                    <a:bodyPr wrap="square"/>
                    <a:lstStyle/>
                    <a:p>
                      <a:pPr algn="l"/>
                      <a:r>
                        <a:rPr sz="900">
                          <a:solidFill>
                            <a:srgbClr val="333333"/>
                          </a:solidFill>
                          <a:latin typeface="Calibri"/>
                        </a:rPr>
                        <a:t>Cat Grooming</a:t>
                      </a:r>
                    </a:p>
                  </a:txBody>
                  <a:tcPr>
                    <a:solidFill>
                      <a:srgbClr val="F2F2F2"/>
                    </a:solidFill>
                  </a:tcPr>
                </a:tc>
                <a:tc>
                  <a:txBody>
                    <a:bodyPr wrap="square"/>
                    <a:lstStyle/>
                    <a:p>
                      <a:pPr algn="l"/>
                      <a:r>
                        <a:rPr sz="900">
                          <a:solidFill>
                            <a:srgbClr val="333333"/>
                          </a:solidFill>
                          <a:latin typeface="Calibri"/>
                        </a:rPr>
                        <a:t>Shampoo</a:t>
                      </a:r>
                    </a:p>
                  </a:txBody>
                  <a:tcPr>
                    <a:solidFill>
                      <a:srgbClr val="F2F2F2"/>
                    </a:solidFill>
                  </a:tcPr>
                </a:tc>
                <a:tc>
                  <a:txBody>
                    <a:bodyPr wrap="square"/>
                    <a:lstStyle/>
                    <a:p>
                      <a:pPr algn="l"/>
                      <a:r>
                        <a:rPr sz="900">
                          <a:solidFill>
                            <a:srgbClr val="333333"/>
                          </a:solidFill>
                          <a:latin typeface="Calibri"/>
                        </a:rPr>
                        <a:t>14</a:t>
                      </a:r>
                    </a:p>
                  </a:txBody>
                  <a:tcPr>
                    <a:solidFill>
                      <a:srgbClr val="F2F2F2"/>
                    </a:solidFill>
                  </a:tcPr>
                </a:tc>
                <a:tc>
                  <a:txBody>
                    <a:bodyPr wrap="square"/>
                    <a:lstStyle/>
                    <a:p>
                      <a:pPr algn="l"/>
                      <a:r>
                        <a:rPr sz="900">
                          <a:solidFill>
                            <a:srgbClr val="333333"/>
                          </a:solidFill>
                          <a:latin typeface="Calibri"/>
                        </a:rPr>
                        <a:t>Jan (1.44x)</a:t>
                      </a:r>
                    </a:p>
                  </a:txBody>
                  <a:tcPr>
                    <a:solidFill>
                      <a:srgbClr val="F2F2F2"/>
                    </a:solidFill>
                  </a:tcPr>
                </a:tc>
                <a:tc>
                  <a:txBody>
                    <a:bodyPr wrap="square"/>
                    <a:lstStyle/>
                    <a:p>
                      <a:pPr algn="l"/>
                      <a:r>
                        <a:rPr sz="900">
                          <a:solidFill>
                            <a:srgbClr val="333333"/>
                          </a:solidFill>
                          <a:latin typeface="Calibri"/>
                        </a:rPr>
                        <a:t>Jan, Feb, Mar, Apr, Oct, Nov</a:t>
                      </a:r>
                    </a:p>
                  </a:txBody>
                  <a:tcPr>
                    <a:solidFill>
                      <a:srgbClr val="F2F2F2"/>
                    </a:solidFill>
                  </a:tcPr>
                </a:tc>
              </a:tr>
              <a:tr h="286351">
                <a:tc>
                  <a:txBody>
                    <a:bodyPr wrap="square"/>
                    <a:lstStyle/>
                    <a:p>
                      <a:pPr algn="l"/>
                      <a:r>
                        <a:rPr sz="900">
                          <a:solidFill>
                            <a:srgbClr val="333333"/>
                          </a:solidFill>
                          <a:latin typeface="Calibri"/>
                        </a:rPr>
                        <a:t>Cat Grooming</a:t>
                      </a:r>
                    </a:p>
                  </a:txBody>
                  <a:tcPr>
                    <a:solidFill>
                      <a:srgbClr val="FFFFFF"/>
                    </a:solidFill>
                  </a:tcPr>
                </a:tc>
                <a:tc>
                  <a:txBody>
                    <a:bodyPr wrap="square"/>
                    <a:lstStyle/>
                    <a:p>
                      <a:pPr algn="l"/>
                      <a:r>
                        <a:rPr sz="900">
                          <a:solidFill>
                            <a:srgbClr val="333333"/>
                          </a:solidFill>
                          <a:latin typeface="Calibri"/>
                        </a:rPr>
                        <a:t>Spray</a:t>
                      </a:r>
                    </a:p>
                  </a:txBody>
                  <a:tcPr>
                    <a:solidFill>
                      <a:srgbClr val="FFFFFF"/>
                    </a:solidFill>
                  </a:tcPr>
                </a:tc>
                <a:tc>
                  <a:txBody>
                    <a:bodyPr wrap="square"/>
                    <a:lstStyle/>
                    <a:p>
                      <a:pPr algn="l"/>
                      <a:r>
                        <a:rPr sz="900">
                          <a:solidFill>
                            <a:srgbClr val="333333"/>
                          </a:solidFill>
                          <a:latin typeface="Calibri"/>
                        </a:rPr>
                        <a:t>13</a:t>
                      </a:r>
                    </a:p>
                  </a:txBody>
                  <a:tcPr>
                    <a:solidFill>
                      <a:srgbClr val="FFFFFF"/>
                    </a:solidFill>
                  </a:tcPr>
                </a:tc>
                <a:tc>
                  <a:txBody>
                    <a:bodyPr wrap="square"/>
                    <a:lstStyle/>
                    <a:p>
                      <a:pPr algn="l"/>
                      <a:r>
                        <a:rPr sz="900">
                          <a:solidFill>
                            <a:srgbClr val="333333"/>
                          </a:solidFill>
                          <a:latin typeface="Calibri"/>
                        </a:rPr>
                        <a:t>Apr (1.49x)</a:t>
                      </a:r>
                    </a:p>
                  </a:txBody>
                  <a:tcPr>
                    <a:solidFill>
                      <a:srgbClr val="FFFFFF"/>
                    </a:solidFill>
                  </a:tcPr>
                </a:tc>
                <a:tc>
                  <a:txBody>
                    <a:bodyPr wrap="square"/>
                    <a:lstStyle/>
                    <a:p>
                      <a:pPr algn="l"/>
                      <a:r>
                        <a:rPr sz="900">
                          <a:solidFill>
                            <a:srgbClr val="333333"/>
                          </a:solidFill>
                          <a:latin typeface="Calibri"/>
                        </a:rPr>
                        <a:t>Jan, Feb, Mar, Apr, Oct</a:t>
                      </a:r>
                    </a:p>
                  </a:txBody>
                  <a:tcPr>
                    <a:solidFill>
                      <a:srgbClr val="FFFFFF"/>
                    </a:solidFill>
                  </a:tcPr>
                </a:tc>
              </a:tr>
              <a:tr h="286351">
                <a:tc>
                  <a:txBody>
                    <a:bodyPr wrap="square"/>
                    <a:lstStyle/>
                    <a:p>
                      <a:pPr algn="l"/>
                      <a:r>
                        <a:rPr sz="900">
                          <a:solidFill>
                            <a:srgbClr val="333333"/>
                          </a:solidFill>
                          <a:latin typeface="Calibri"/>
                        </a:rPr>
                        <a:t>Cat Grooming</a:t>
                      </a:r>
                    </a:p>
                  </a:txBody>
                  <a:tcPr>
                    <a:solidFill>
                      <a:srgbClr val="F2F2F2"/>
                    </a:solidFill>
                  </a:tcPr>
                </a:tc>
                <a:tc>
                  <a:txBody>
                    <a:bodyPr wrap="square"/>
                    <a:lstStyle/>
                    <a:p>
                      <a:pPr algn="l"/>
                      <a:r>
                        <a:rPr sz="900">
                          <a:solidFill>
                            <a:srgbClr val="333333"/>
                          </a:solidFill>
                          <a:latin typeface="Calibri"/>
                        </a:rPr>
                        <a:t>Wipes</a:t>
                      </a:r>
                    </a:p>
                  </a:txBody>
                  <a:tcPr>
                    <a:solidFill>
                      <a:srgbClr val="F2F2F2"/>
                    </a:solidFill>
                  </a:tcPr>
                </a:tc>
                <a:tc>
                  <a:txBody>
                    <a:bodyPr wrap="square"/>
                    <a:lstStyle/>
                    <a:p>
                      <a:pPr algn="l"/>
                      <a:r>
                        <a:rPr sz="900">
                          <a:solidFill>
                            <a:srgbClr val="333333"/>
                          </a:solidFill>
                          <a:latin typeface="Calibri"/>
                        </a:rPr>
                        <a:t>16</a:t>
                      </a:r>
                    </a:p>
                  </a:txBody>
                  <a:tcPr>
                    <a:solidFill>
                      <a:srgbClr val="F2F2F2"/>
                    </a:solidFill>
                  </a:tcPr>
                </a:tc>
                <a:tc>
                  <a:txBody>
                    <a:bodyPr wrap="square"/>
                    <a:lstStyle/>
                    <a:p>
                      <a:pPr algn="l"/>
                      <a:r>
                        <a:rPr sz="900">
                          <a:solidFill>
                            <a:srgbClr val="333333"/>
                          </a:solidFill>
                          <a:latin typeface="Calibri"/>
                        </a:rPr>
                        <a:t>Oct (1.64x)</a:t>
                      </a:r>
                    </a:p>
                  </a:txBody>
                  <a:tcPr>
                    <a:solidFill>
                      <a:srgbClr val="F2F2F2"/>
                    </a:solidFill>
                  </a:tcPr>
                </a:tc>
                <a:tc>
                  <a:txBody>
                    <a:bodyPr wrap="square"/>
                    <a:lstStyle/>
                    <a:p>
                      <a:pPr algn="l"/>
                      <a:r>
                        <a:rPr sz="900">
                          <a:solidFill>
                            <a:srgbClr val="333333"/>
                          </a:solidFill>
                          <a:latin typeface="Calibri"/>
                        </a:rPr>
                        <a:t>Jan, Feb, Mar, Apr, Oct, Nov, Dec</a:t>
                      </a:r>
                    </a:p>
                  </a:txBody>
                  <a:tcPr>
                    <a:solidFill>
                      <a:srgbClr val="F2F2F2"/>
                    </a:solidFill>
                  </a:tcPr>
                </a:tc>
              </a:tr>
              <a:tr h="286351">
                <a:tc>
                  <a:txBody>
                    <a:bodyPr wrap="square"/>
                    <a:lstStyle/>
                    <a:p>
                      <a:pPr algn="l"/>
                      <a:r>
                        <a:rPr sz="900">
                          <a:solidFill>
                            <a:srgbClr val="333333"/>
                          </a:solidFill>
                          <a:latin typeface="Calibri"/>
                        </a:rPr>
                        <a:t>Cleaning</a:t>
                      </a:r>
                    </a:p>
                  </a:txBody>
                  <a:tcPr>
                    <a:solidFill>
                      <a:srgbClr val="FFFFFF"/>
                    </a:solidFill>
                  </a:tcPr>
                </a:tc>
                <a:tc>
                  <a:txBody>
                    <a:bodyPr wrap="square"/>
                    <a:lstStyle/>
                    <a:p>
                      <a:pPr algn="l"/>
                      <a:r>
                        <a:rPr sz="900">
                          <a:solidFill>
                            <a:srgbClr val="333333"/>
                          </a:solidFill>
                          <a:latin typeface="Calibri"/>
                        </a:rPr>
                        <a:t>Dish Care</a:t>
                      </a:r>
                    </a:p>
                  </a:txBody>
                  <a:tcPr>
                    <a:solidFill>
                      <a:srgbClr val="FFFFFF"/>
                    </a:solidFill>
                  </a:tcPr>
                </a:tc>
                <a:tc>
                  <a:txBody>
                    <a:bodyPr wrap="square"/>
                    <a:lstStyle/>
                    <a:p>
                      <a:pPr algn="l"/>
                      <a:r>
                        <a:rPr sz="900">
                          <a:solidFill>
                            <a:srgbClr val="333333"/>
                          </a:solidFill>
                          <a:latin typeface="Calibri"/>
                        </a:rPr>
                        <a:t>18</a:t>
                      </a:r>
                    </a:p>
                  </a:txBody>
                  <a:tcPr>
                    <a:solidFill>
                      <a:srgbClr val="FFFFFF"/>
                    </a:solidFill>
                  </a:tcPr>
                </a:tc>
                <a:tc>
                  <a:txBody>
                    <a:bodyPr wrap="square"/>
                    <a:lstStyle/>
                    <a:p>
                      <a:pPr algn="l"/>
                      <a:r>
                        <a:rPr sz="900">
                          <a:solidFill>
                            <a:srgbClr val="333333"/>
                          </a:solidFill>
                          <a:latin typeface="Calibri"/>
                        </a:rPr>
                        <a:t>Feb (1.36x)</a:t>
                      </a:r>
                    </a:p>
                  </a:txBody>
                  <a:tcPr>
                    <a:solidFill>
                      <a:srgbClr val="FFFFFF"/>
                    </a:solidFill>
                  </a:tcPr>
                </a:tc>
                <a:tc>
                  <a:txBody>
                    <a:bodyPr wrap="square"/>
                    <a:lstStyle/>
                    <a:p>
                      <a:pPr algn="l"/>
                      <a:r>
                        <a:rPr sz="900">
                          <a:solidFill>
                            <a:srgbClr val="333333"/>
                          </a:solidFill>
                          <a:latin typeface="Calibri"/>
                        </a:rPr>
                        <a:t>Jan, Feb, Mar, Aug, Oct, Nov</a:t>
                      </a:r>
                    </a:p>
                  </a:txBody>
                  <a:tcPr>
                    <a:solidFill>
                      <a:srgbClr val="FFFFFF"/>
                    </a:solidFill>
                  </a:tcPr>
                </a:tc>
              </a:tr>
              <a:tr h="286351">
                <a:tc>
                  <a:txBody>
                    <a:bodyPr wrap="square"/>
                    <a:lstStyle/>
                    <a:p>
                      <a:pPr algn="l"/>
                      <a:r>
                        <a:rPr sz="900">
                          <a:solidFill>
                            <a:srgbClr val="333333"/>
                          </a:solidFill>
                          <a:latin typeface="Calibri"/>
                        </a:rPr>
                        <a:t>Dental Toys</a:t>
                      </a:r>
                    </a:p>
                  </a:txBody>
                  <a:tcPr>
                    <a:solidFill>
                      <a:srgbClr val="F2F2F2"/>
                    </a:solidFill>
                  </a:tcPr>
                </a:tc>
                <a:tc>
                  <a:txBody>
                    <a:bodyPr wrap="square"/>
                    <a:lstStyle/>
                    <a:p>
                      <a:pPr algn="l"/>
                      <a:r>
                        <a:rPr sz="900">
                          <a:solidFill>
                            <a:srgbClr val="333333"/>
                          </a:solidFill>
                          <a:latin typeface="Calibri"/>
                        </a:rPr>
                        <a:t>Dental Toy</a:t>
                      </a:r>
                    </a:p>
                  </a:txBody>
                  <a:tcPr>
                    <a:solidFill>
                      <a:srgbClr val="F2F2F2"/>
                    </a:solidFill>
                  </a:tcPr>
                </a:tc>
                <a:tc>
                  <a:txBody>
                    <a:bodyPr wrap="square"/>
                    <a:lstStyle/>
                    <a:p>
                      <a:pPr algn="l"/>
                      <a:r>
                        <a:rPr sz="900">
                          <a:solidFill>
                            <a:srgbClr val="333333"/>
                          </a:solidFill>
                          <a:latin typeface="Calibri"/>
                        </a:rPr>
                        <a:t>36</a:t>
                      </a:r>
                    </a:p>
                  </a:txBody>
                  <a:tcPr>
                    <a:solidFill>
                      <a:srgbClr val="F2F2F2"/>
                    </a:solidFill>
                  </a:tcPr>
                </a:tc>
                <a:tc>
                  <a:txBody>
                    <a:bodyPr wrap="square"/>
                    <a:lstStyle/>
                    <a:p>
                      <a:pPr algn="l"/>
                      <a:r>
                        <a:rPr sz="900">
                          <a:solidFill>
                            <a:srgbClr val="333333"/>
                          </a:solidFill>
                          <a:latin typeface="Calibri"/>
                        </a:rPr>
                        <a:t>Nov (2.09x)</a:t>
                      </a:r>
                    </a:p>
                  </a:txBody>
                  <a:tcPr>
                    <a:solidFill>
                      <a:srgbClr val="F2F2F2"/>
                    </a:solidFill>
                  </a:tcPr>
                </a:tc>
                <a:tc>
                  <a:txBody>
                    <a:bodyPr wrap="square"/>
                    <a:lstStyle/>
                    <a:p>
                      <a:pPr algn="l"/>
                      <a:r>
                        <a:rPr sz="900">
                          <a:solidFill>
                            <a:srgbClr val="333333"/>
                          </a:solidFill>
                          <a:latin typeface="Calibri"/>
                        </a:rPr>
                        <a:t>Jan, Mar, May, Oct, Nov</a:t>
                      </a:r>
                    </a:p>
                  </a:txBody>
                  <a:tcPr>
                    <a:solidFill>
                      <a:srgbClr val="F2F2F2"/>
                    </a:solidFill>
                  </a:tcPr>
                </a:tc>
              </a:tr>
              <a:tr h="286351">
                <a:tc>
                  <a:txBody>
                    <a:bodyPr wrap="square"/>
                    <a:lstStyle/>
                    <a:p>
                      <a:pPr algn="l"/>
                      <a:r>
                        <a:rPr sz="900">
                          <a:solidFill>
                            <a:srgbClr val="333333"/>
                          </a:solidFill>
                          <a:latin typeface="Calibri"/>
                        </a:rPr>
                        <a:t>Disposable Tabletop</a:t>
                      </a:r>
                    </a:p>
                  </a:txBody>
                  <a:tcPr>
                    <a:solidFill>
                      <a:srgbClr val="FFFFFF"/>
                    </a:solidFill>
                  </a:tcPr>
                </a:tc>
                <a:tc>
                  <a:txBody>
                    <a:bodyPr wrap="square"/>
                    <a:lstStyle/>
                    <a:p>
                      <a:pPr algn="l"/>
                      <a:r>
                        <a:rPr sz="900">
                          <a:solidFill>
                            <a:srgbClr val="333333"/>
                          </a:solidFill>
                          <a:latin typeface="Calibri"/>
                        </a:rPr>
                        <a:t>Cutlery</a:t>
                      </a:r>
                    </a:p>
                  </a:txBody>
                  <a:tcPr>
                    <a:solidFill>
                      <a:srgbClr val="FFFFFF"/>
                    </a:solidFill>
                  </a:tcPr>
                </a:tc>
                <a:tc>
                  <a:txBody>
                    <a:bodyPr wrap="square"/>
                    <a:lstStyle/>
                    <a:p>
                      <a:pPr algn="l"/>
                      <a:r>
                        <a:rPr sz="900">
                          <a:solidFill>
                            <a:srgbClr val="333333"/>
                          </a:solidFill>
                          <a:latin typeface="Calibri"/>
                        </a:rPr>
                        <a:t>15</a:t>
                      </a:r>
                    </a:p>
                  </a:txBody>
                  <a:tcPr>
                    <a:solidFill>
                      <a:srgbClr val="FFFFFF"/>
                    </a:solidFill>
                  </a:tcPr>
                </a:tc>
                <a:tc>
                  <a:txBody>
                    <a:bodyPr wrap="square"/>
                    <a:lstStyle/>
                    <a:p>
                      <a:pPr algn="l"/>
                      <a:r>
                        <a:rPr sz="900">
                          <a:solidFill>
                            <a:srgbClr val="333333"/>
                          </a:solidFill>
                          <a:latin typeface="Calibri"/>
                        </a:rPr>
                        <a:t>Nov (1.90x)</a:t>
                      </a:r>
                    </a:p>
                  </a:txBody>
                  <a:tcPr>
                    <a:solidFill>
                      <a:srgbClr val="FFFFFF"/>
                    </a:solidFill>
                  </a:tcPr>
                </a:tc>
                <a:tc>
                  <a:txBody>
                    <a:bodyPr wrap="square"/>
                    <a:lstStyle/>
                    <a:p>
                      <a:pPr algn="l"/>
                      <a:r>
                        <a:rPr sz="900">
                          <a:solidFill>
                            <a:srgbClr val="333333"/>
                          </a:solidFill>
                          <a:latin typeface="Calibri"/>
                        </a:rPr>
                        <a:t>Feb, Apr, Aug, Oct, Nov</a:t>
                      </a:r>
                    </a:p>
                  </a:txBody>
                  <a:tcPr>
                    <a:solidFill>
                      <a:srgbClr val="FFFFFF"/>
                    </a:solidFill>
                  </a:tcPr>
                </a:tc>
              </a:tr>
              <a:tr h="286351">
                <a:tc>
                  <a:txBody>
                    <a:bodyPr wrap="square"/>
                    <a:lstStyle/>
                    <a:p>
                      <a:pPr algn="l"/>
                      <a:r>
                        <a:rPr sz="900">
                          <a:solidFill>
                            <a:srgbClr val="333333"/>
                          </a:solidFill>
                          <a:latin typeface="Calibri"/>
                        </a:rPr>
                        <a:t>Disposable Tabletop</a:t>
                      </a:r>
                    </a:p>
                  </a:txBody>
                  <a:tcPr>
                    <a:solidFill>
                      <a:srgbClr val="F2F2F2"/>
                    </a:solidFill>
                  </a:tcPr>
                </a:tc>
                <a:tc>
                  <a:txBody>
                    <a:bodyPr wrap="square"/>
                    <a:lstStyle/>
                    <a:p>
                      <a:pPr algn="l"/>
                      <a:r>
                        <a:rPr sz="900">
                          <a:solidFill>
                            <a:srgbClr val="333333"/>
                          </a:solidFill>
                          <a:latin typeface="Calibri"/>
                        </a:rPr>
                        <a:t>Paper Bowls</a:t>
                      </a:r>
                    </a:p>
                  </a:txBody>
                  <a:tcPr>
                    <a:solidFill>
                      <a:srgbClr val="F2F2F2"/>
                    </a:solidFill>
                  </a:tcPr>
                </a:tc>
                <a:tc>
                  <a:txBody>
                    <a:bodyPr wrap="square"/>
                    <a:lstStyle/>
                    <a:p>
                      <a:pPr algn="l"/>
                      <a:r>
                        <a:rPr sz="900">
                          <a:solidFill>
                            <a:srgbClr val="333333"/>
                          </a:solidFill>
                          <a:latin typeface="Calibri"/>
                        </a:rPr>
                        <a:t>48</a:t>
                      </a:r>
                    </a:p>
                  </a:txBody>
                  <a:tcPr>
                    <a:solidFill>
                      <a:srgbClr val="F2F2F2"/>
                    </a:solidFill>
                  </a:tcPr>
                </a:tc>
                <a:tc>
                  <a:txBody>
                    <a:bodyPr wrap="square"/>
                    <a:lstStyle/>
                    <a:p>
                      <a:pPr algn="l"/>
                      <a:r>
                        <a:rPr sz="900">
                          <a:solidFill>
                            <a:srgbClr val="333333"/>
                          </a:solidFill>
                          <a:latin typeface="Calibri"/>
                        </a:rPr>
                        <a:t>Jan (1.58x)</a:t>
                      </a:r>
                    </a:p>
                  </a:txBody>
                  <a:tcPr>
                    <a:solidFill>
                      <a:srgbClr val="F2F2F2"/>
                    </a:solidFill>
                  </a:tcPr>
                </a:tc>
                <a:tc>
                  <a:txBody>
                    <a:bodyPr wrap="square"/>
                    <a:lstStyle/>
                    <a:p>
                      <a:pPr algn="l"/>
                      <a:r>
                        <a:rPr sz="900">
                          <a:solidFill>
                            <a:srgbClr val="333333"/>
                          </a:solidFill>
                          <a:latin typeface="Calibri"/>
                        </a:rPr>
                        <a:t>Jan, Feb, Mar, Oct, Nov</a:t>
                      </a:r>
                    </a:p>
                  </a:txBody>
                  <a:tcPr>
                    <a:solidFill>
                      <a:srgbClr val="F2F2F2"/>
                    </a:solidFill>
                  </a:tcPr>
                </a:tc>
              </a:tr>
              <a:tr h="286351">
                <a:tc>
                  <a:txBody>
                    <a:bodyPr wrap="square"/>
                    <a:lstStyle/>
                    <a:p>
                      <a:pPr algn="l"/>
                      <a:r>
                        <a:rPr sz="900">
                          <a:solidFill>
                            <a:srgbClr val="333333"/>
                          </a:solidFill>
                          <a:latin typeface="Calibri"/>
                        </a:rPr>
                        <a:t>Disposable Tabletop</a:t>
                      </a:r>
                    </a:p>
                  </a:txBody>
                  <a:tcPr>
                    <a:solidFill>
                      <a:srgbClr val="FFFFFF"/>
                    </a:solidFill>
                  </a:tcPr>
                </a:tc>
                <a:tc>
                  <a:txBody>
                    <a:bodyPr wrap="square"/>
                    <a:lstStyle/>
                    <a:p>
                      <a:pPr algn="l"/>
                      <a:r>
                        <a:rPr sz="900">
                          <a:solidFill>
                            <a:srgbClr val="333333"/>
                          </a:solidFill>
                          <a:latin typeface="Calibri"/>
                        </a:rPr>
                        <a:t>Paper Cups</a:t>
                      </a:r>
                    </a:p>
                  </a:txBody>
                  <a:tcPr>
                    <a:solidFill>
                      <a:srgbClr val="FFFFFF"/>
                    </a:solidFill>
                  </a:tcPr>
                </a:tc>
                <a:tc>
                  <a:txBody>
                    <a:bodyPr wrap="square"/>
                    <a:lstStyle/>
                    <a:p>
                      <a:pPr algn="l"/>
                      <a:r>
                        <a:rPr sz="900">
                          <a:solidFill>
                            <a:srgbClr val="333333"/>
                          </a:solidFill>
                          <a:latin typeface="Calibri"/>
                        </a:rPr>
                        <a:t>35</a:t>
                      </a:r>
                    </a:p>
                  </a:txBody>
                  <a:tcPr>
                    <a:solidFill>
                      <a:srgbClr val="FFFFFF"/>
                    </a:solidFill>
                  </a:tcPr>
                </a:tc>
                <a:tc>
                  <a:txBody>
                    <a:bodyPr wrap="square"/>
                    <a:lstStyle/>
                    <a:p>
                      <a:pPr algn="l"/>
                      <a:r>
                        <a:rPr sz="900">
                          <a:solidFill>
                            <a:srgbClr val="333333"/>
                          </a:solidFill>
                          <a:latin typeface="Calibri"/>
                        </a:rPr>
                        <a:t>Mar (3.15x)</a:t>
                      </a:r>
                    </a:p>
                  </a:txBody>
                  <a:tcPr>
                    <a:solidFill>
                      <a:srgbClr val="FFFFFF"/>
                    </a:solidFill>
                  </a:tcPr>
                </a:tc>
                <a:tc>
                  <a:txBody>
                    <a:bodyPr wrap="square"/>
                    <a:lstStyle/>
                    <a:p>
                      <a:pPr algn="l"/>
                      <a:r>
                        <a:rPr sz="900">
                          <a:solidFill>
                            <a:srgbClr val="333333"/>
                          </a:solidFill>
                          <a:latin typeface="Calibri"/>
                        </a:rPr>
                        <a:t>Mar, Apr, May</a:t>
                      </a:r>
                    </a:p>
                  </a:txBody>
                  <a:tcPr>
                    <a:solidFill>
                      <a:srgbClr val="FFFFFF"/>
                    </a:solidFill>
                  </a:tcPr>
                </a:tc>
              </a:tr>
              <a:tr h="286351">
                <a:tc>
                  <a:txBody>
                    <a:bodyPr wrap="square"/>
                    <a:lstStyle/>
                    <a:p>
                      <a:pPr algn="l"/>
                      <a:r>
                        <a:rPr sz="900">
                          <a:solidFill>
                            <a:srgbClr val="333333"/>
                          </a:solidFill>
                          <a:latin typeface="Calibri"/>
                        </a:rPr>
                        <a:t>Disposable Tabletop</a:t>
                      </a:r>
                    </a:p>
                  </a:txBody>
                  <a:tcPr>
                    <a:solidFill>
                      <a:srgbClr val="F2F2F2"/>
                    </a:solidFill>
                  </a:tcPr>
                </a:tc>
                <a:tc>
                  <a:txBody>
                    <a:bodyPr wrap="square"/>
                    <a:lstStyle/>
                    <a:p>
                      <a:pPr algn="l"/>
                      <a:r>
                        <a:rPr sz="900">
                          <a:solidFill>
                            <a:srgbClr val="333333"/>
                          </a:solidFill>
                          <a:latin typeface="Calibri"/>
                        </a:rPr>
                        <a:t>Paper Plates</a:t>
                      </a:r>
                    </a:p>
                  </a:txBody>
                  <a:tcPr>
                    <a:solidFill>
                      <a:srgbClr val="F2F2F2"/>
                    </a:solidFill>
                  </a:tcPr>
                </a:tc>
                <a:tc>
                  <a:txBody>
                    <a:bodyPr wrap="square"/>
                    <a:lstStyle/>
                    <a:p>
                      <a:pPr algn="l"/>
                      <a:r>
                        <a:rPr sz="900">
                          <a:solidFill>
                            <a:srgbClr val="333333"/>
                          </a:solidFill>
                          <a:latin typeface="Calibri"/>
                        </a:rPr>
                        <a:t>100</a:t>
                      </a:r>
                    </a:p>
                  </a:txBody>
                  <a:tcPr>
                    <a:solidFill>
                      <a:srgbClr val="F2F2F2"/>
                    </a:solidFill>
                  </a:tcPr>
                </a:tc>
                <a:tc>
                  <a:txBody>
                    <a:bodyPr wrap="square"/>
                    <a:lstStyle/>
                    <a:p>
                      <a:pPr algn="l"/>
                      <a:r>
                        <a:rPr sz="900">
                          <a:solidFill>
                            <a:srgbClr val="333333"/>
                          </a:solidFill>
                          <a:latin typeface="Calibri"/>
                        </a:rPr>
                        <a:t>Jan (1.41x)</a:t>
                      </a:r>
                    </a:p>
                  </a:txBody>
                  <a:tcPr>
                    <a:solidFill>
                      <a:srgbClr val="F2F2F2"/>
                    </a:solidFill>
                  </a:tcPr>
                </a:tc>
                <a:tc>
                  <a:txBody>
                    <a:bodyPr wrap="square"/>
                    <a:lstStyle/>
                    <a:p>
                      <a:pPr algn="l"/>
                      <a:r>
                        <a:rPr sz="900">
                          <a:solidFill>
                            <a:srgbClr val="333333"/>
                          </a:solidFill>
                          <a:latin typeface="Calibri"/>
                        </a:rPr>
                        <a:t>Jan, Feb, Mar, Apr, Oct, Nov</a:t>
                      </a:r>
                    </a:p>
                  </a:txBody>
                  <a:tcPr>
                    <a:solidFill>
                      <a:srgbClr val="F2F2F2"/>
                    </a:solidFill>
                  </a:tcPr>
                </a:tc>
              </a:tr>
              <a:tr h="286351">
                <a:tc>
                  <a:txBody>
                    <a:bodyPr wrap="square"/>
                    <a:lstStyle/>
                    <a:p>
                      <a:pPr algn="l"/>
                      <a:r>
                        <a:rPr sz="900">
                          <a:solidFill>
                            <a:srgbClr val="333333"/>
                          </a:solidFill>
                          <a:latin typeface="Calibri"/>
                        </a:rPr>
                        <a:t>Disposable Tabletop</a:t>
                      </a:r>
                    </a:p>
                  </a:txBody>
                  <a:tcPr>
                    <a:solidFill>
                      <a:srgbClr val="FFFFFF"/>
                    </a:solidFill>
                  </a:tcPr>
                </a:tc>
                <a:tc>
                  <a:txBody>
                    <a:bodyPr wrap="square"/>
                    <a:lstStyle/>
                    <a:p>
                      <a:pPr algn="l"/>
                      <a:r>
                        <a:rPr sz="900">
                          <a:solidFill>
                            <a:srgbClr val="333333"/>
                          </a:solidFill>
                          <a:latin typeface="Calibri"/>
                        </a:rPr>
                        <a:t>Plastic Cups</a:t>
                      </a:r>
                    </a:p>
                  </a:txBody>
                  <a:tcPr>
                    <a:solidFill>
                      <a:srgbClr val="FFFFFF"/>
                    </a:solidFill>
                  </a:tcPr>
                </a:tc>
                <a:tc>
                  <a:txBody>
                    <a:bodyPr wrap="square"/>
                    <a:lstStyle/>
                    <a:p>
                      <a:pPr algn="l"/>
                      <a:r>
                        <a:rPr sz="900">
                          <a:solidFill>
                            <a:srgbClr val="333333"/>
                          </a:solidFill>
                          <a:latin typeface="Calibri"/>
                        </a:rPr>
                        <a:t>12</a:t>
                      </a:r>
                    </a:p>
                  </a:txBody>
                  <a:tcPr>
                    <a:solidFill>
                      <a:srgbClr val="FFFFFF"/>
                    </a:solidFill>
                  </a:tcPr>
                </a:tc>
                <a:tc>
                  <a:txBody>
                    <a:bodyPr wrap="square"/>
                    <a:lstStyle/>
                    <a:p>
                      <a:pPr algn="l"/>
                      <a:r>
                        <a:rPr sz="900">
                          <a:solidFill>
                            <a:srgbClr val="333333"/>
                          </a:solidFill>
                          <a:latin typeface="Calibri"/>
                        </a:rPr>
                        <a:t>Nov (1.74x)</a:t>
                      </a:r>
                    </a:p>
                  </a:txBody>
                  <a:tcPr>
                    <a:solidFill>
                      <a:srgbClr val="FFFFFF"/>
                    </a:solidFill>
                  </a:tcPr>
                </a:tc>
                <a:tc>
                  <a:txBody>
                    <a:bodyPr wrap="square"/>
                    <a:lstStyle/>
                    <a:p>
                      <a:pPr algn="l"/>
                      <a:r>
                        <a:rPr sz="900">
                          <a:solidFill>
                            <a:srgbClr val="333333"/>
                          </a:solidFill>
                          <a:latin typeface="Calibri"/>
                        </a:rPr>
                        <a:t>Feb, Apr, May, Sep, Oct, Nov</a:t>
                      </a:r>
                    </a:p>
                  </a:txBody>
                  <a:tcPr>
                    <a:solidFill>
                      <a:srgbClr val="FFFFFF"/>
                    </a:solidFill>
                  </a:tcPr>
                </a:tc>
              </a:tr>
              <a:tr h="286351">
                <a:tc>
                  <a:txBody>
                    <a:bodyPr wrap="square"/>
                    <a:lstStyle/>
                    <a:p>
                      <a:pPr algn="l"/>
                      <a:r>
                        <a:rPr sz="900">
                          <a:solidFill>
                            <a:srgbClr val="333333"/>
                          </a:solidFill>
                          <a:latin typeface="Calibri"/>
                        </a:rPr>
                        <a:t>Dog Dental Care</a:t>
                      </a:r>
                    </a:p>
                  </a:txBody>
                  <a:tcPr>
                    <a:solidFill>
                      <a:srgbClr val="F2F2F2"/>
                    </a:solidFill>
                  </a:tcPr>
                </a:tc>
                <a:tc>
                  <a:txBody>
                    <a:bodyPr wrap="square"/>
                    <a:lstStyle/>
                    <a:p>
                      <a:pPr algn="l"/>
                      <a:r>
                        <a:rPr sz="900">
                          <a:solidFill>
                            <a:srgbClr val="333333"/>
                          </a:solidFill>
                          <a:latin typeface="Calibri"/>
                        </a:rPr>
                        <a:t>Dental Kit</a:t>
                      </a:r>
                    </a:p>
                  </a:txBody>
                  <a:tcPr>
                    <a:solidFill>
                      <a:srgbClr val="F2F2F2"/>
                    </a:solidFill>
                  </a:tcPr>
                </a:tc>
                <a:tc>
                  <a:txBody>
                    <a:bodyPr wrap="square"/>
                    <a:lstStyle/>
                    <a:p>
                      <a:pPr algn="l"/>
                      <a:r>
                        <a:rPr sz="900">
                          <a:solidFill>
                            <a:srgbClr val="333333"/>
                          </a:solidFill>
                          <a:latin typeface="Calibri"/>
                        </a:rPr>
                        <a:t>31</a:t>
                      </a:r>
                    </a:p>
                  </a:txBody>
                  <a:tcPr>
                    <a:solidFill>
                      <a:srgbClr val="F2F2F2"/>
                    </a:solidFill>
                  </a:tcPr>
                </a:tc>
                <a:tc>
                  <a:txBody>
                    <a:bodyPr wrap="square"/>
                    <a:lstStyle/>
                    <a:p>
                      <a:pPr algn="l"/>
                      <a:r>
                        <a:rPr sz="900">
                          <a:solidFill>
                            <a:srgbClr val="333333"/>
                          </a:solidFill>
                          <a:latin typeface="Calibri"/>
                        </a:rPr>
                        <a:t>Jan (1.47x)</a:t>
                      </a:r>
                    </a:p>
                  </a:txBody>
                  <a:tcPr>
                    <a:solidFill>
                      <a:srgbClr val="F2F2F2"/>
                    </a:solidFill>
                  </a:tcPr>
                </a:tc>
                <a:tc>
                  <a:txBody>
                    <a:bodyPr wrap="square"/>
                    <a:lstStyle/>
                    <a:p>
                      <a:pPr algn="l"/>
                      <a:r>
                        <a:rPr sz="900">
                          <a:solidFill>
                            <a:srgbClr val="333333"/>
                          </a:solidFill>
                          <a:latin typeface="Calibri"/>
                        </a:rPr>
                        <a:t>Jan, Feb, Mar, Apr, Oct, Nov</a:t>
                      </a:r>
                    </a:p>
                  </a:txBody>
                  <a:tcPr>
                    <a:solidFill>
                      <a:srgbClr val="F2F2F2"/>
                    </a:solidFill>
                  </a:tcPr>
                </a:tc>
              </a:tr>
              <a:tr h="286351">
                <a:tc>
                  <a:txBody>
                    <a:bodyPr wrap="square"/>
                    <a:lstStyle/>
                    <a:p>
                      <a:pPr algn="l"/>
                      <a:r>
                        <a:rPr sz="900">
                          <a:solidFill>
                            <a:srgbClr val="333333"/>
                          </a:solidFill>
                          <a:latin typeface="Calibri"/>
                        </a:rPr>
                        <a:t>Dog Dental Care</a:t>
                      </a:r>
                    </a:p>
                  </a:txBody>
                  <a:tcPr>
                    <a:solidFill>
                      <a:srgbClr val="FFFFFF"/>
                    </a:solidFill>
                  </a:tcPr>
                </a:tc>
                <a:tc>
                  <a:txBody>
                    <a:bodyPr wrap="square"/>
                    <a:lstStyle/>
                    <a:p>
                      <a:pPr algn="l"/>
                      <a:r>
                        <a:rPr sz="900">
                          <a:solidFill>
                            <a:srgbClr val="333333"/>
                          </a:solidFill>
                          <a:latin typeface="Calibri"/>
                        </a:rPr>
                        <a:t>Toothpaste</a:t>
                      </a:r>
                    </a:p>
                  </a:txBody>
                  <a:tcPr>
                    <a:solidFill>
                      <a:srgbClr val="FFFFFF"/>
                    </a:solidFill>
                  </a:tcPr>
                </a:tc>
                <a:tc>
                  <a:txBody>
                    <a:bodyPr wrap="square"/>
                    <a:lstStyle/>
                    <a:p>
                      <a:pPr algn="l"/>
                      <a:r>
                        <a:rPr sz="900">
                          <a:solidFill>
                            <a:srgbClr val="333333"/>
                          </a:solidFill>
                          <a:latin typeface="Calibri"/>
                        </a:rPr>
                        <a:t>21</a:t>
                      </a:r>
                    </a:p>
                  </a:txBody>
                  <a:tcPr>
                    <a:solidFill>
                      <a:srgbClr val="FFFFFF"/>
                    </a:solidFill>
                  </a:tcPr>
                </a:tc>
                <a:tc>
                  <a:txBody>
                    <a:bodyPr wrap="square"/>
                    <a:lstStyle/>
                    <a:p>
                      <a:pPr algn="l"/>
                      <a:r>
                        <a:rPr sz="900">
                          <a:solidFill>
                            <a:srgbClr val="333333"/>
                          </a:solidFill>
                          <a:latin typeface="Calibri"/>
                        </a:rPr>
                        <a:t>Jan (1.66x)</a:t>
                      </a:r>
                    </a:p>
                  </a:txBody>
                  <a:tcPr>
                    <a:solidFill>
                      <a:srgbClr val="FFFFFF"/>
                    </a:solidFill>
                  </a:tcPr>
                </a:tc>
                <a:tc>
                  <a:txBody>
                    <a:bodyPr wrap="square"/>
                    <a:lstStyle/>
                    <a:p>
                      <a:pPr algn="l"/>
                      <a:r>
                        <a:rPr sz="900">
                          <a:solidFill>
                            <a:srgbClr val="333333"/>
                          </a:solidFill>
                          <a:latin typeface="Calibri"/>
                        </a:rPr>
                        <a:t>Jan, Feb, Oct, Nov</a:t>
                      </a:r>
                    </a:p>
                  </a:txBody>
                  <a:tcPr>
                    <a:solidFill>
                      <a:srgbClr val="FFFFFF"/>
                    </a:solidFill>
                  </a:tcPr>
                </a:tc>
              </a:tr>
              <a:tr h="286351">
                <a:tc>
                  <a:txBody>
                    <a:bodyPr wrap="square"/>
                    <a:lstStyle/>
                    <a:p>
                      <a:pPr algn="l"/>
                      <a:r>
                        <a:rPr sz="900">
                          <a:solidFill>
                            <a:srgbClr val="333333"/>
                          </a:solidFill>
                          <a:latin typeface="Calibri"/>
                        </a:rPr>
                        <a:t>Dog Dental Care</a:t>
                      </a:r>
                    </a:p>
                  </a:txBody>
                  <a:tcPr>
                    <a:solidFill>
                      <a:srgbClr val="F2F2F2"/>
                    </a:solidFill>
                  </a:tcPr>
                </a:tc>
                <a:tc>
                  <a:txBody>
                    <a:bodyPr wrap="square"/>
                    <a:lstStyle/>
                    <a:p>
                      <a:pPr algn="l"/>
                      <a:r>
                        <a:rPr sz="900">
                          <a:solidFill>
                            <a:srgbClr val="333333"/>
                          </a:solidFill>
                          <a:latin typeface="Calibri"/>
                        </a:rPr>
                        <a:t>Water Additive</a:t>
                      </a:r>
                    </a:p>
                  </a:txBody>
                  <a:tcPr>
                    <a:solidFill>
                      <a:srgbClr val="F2F2F2"/>
                    </a:solidFill>
                  </a:tcPr>
                </a:tc>
                <a:tc>
                  <a:txBody>
                    <a:bodyPr wrap="square"/>
                    <a:lstStyle/>
                    <a:p>
                      <a:pPr algn="l"/>
                      <a:r>
                        <a:rPr sz="900">
                          <a:solidFill>
                            <a:srgbClr val="333333"/>
                          </a:solidFill>
                          <a:latin typeface="Calibri"/>
                        </a:rPr>
                        <a:t>11</a:t>
                      </a:r>
                    </a:p>
                  </a:txBody>
                  <a:tcPr>
                    <a:solidFill>
                      <a:srgbClr val="F2F2F2"/>
                    </a:solidFill>
                  </a:tcPr>
                </a:tc>
                <a:tc>
                  <a:txBody>
                    <a:bodyPr wrap="square"/>
                    <a:lstStyle/>
                    <a:p>
                      <a:pPr algn="l"/>
                      <a:r>
                        <a:rPr sz="900">
                          <a:solidFill>
                            <a:srgbClr val="333333"/>
                          </a:solidFill>
                          <a:latin typeface="Calibri"/>
                        </a:rPr>
                        <a:t>Nov (1.99x)</a:t>
                      </a:r>
                    </a:p>
                  </a:txBody>
                  <a:tcPr>
                    <a:solidFill>
                      <a:srgbClr val="F2F2F2"/>
                    </a:solidFill>
                  </a:tcPr>
                </a:tc>
                <a:tc>
                  <a:txBody>
                    <a:bodyPr wrap="square"/>
                    <a:lstStyle/>
                    <a:p>
                      <a:pPr algn="l"/>
                      <a:r>
                        <a:rPr sz="900">
                          <a:solidFill>
                            <a:srgbClr val="333333"/>
                          </a:solidFill>
                          <a:latin typeface="Calibri"/>
                        </a:rPr>
                        <a:t>Feb, Oct, Nov, Dec</a:t>
                      </a:r>
                    </a:p>
                  </a:txBody>
                  <a:tcPr>
                    <a:solidFill>
                      <a:srgbClr val="F2F2F2"/>
                    </a:solidFill>
                  </a:tcPr>
                </a:tc>
              </a:tr>
              <a:tr h="286351">
                <a:tc>
                  <a:txBody>
                    <a:bodyPr wrap="square"/>
                    <a:lstStyle/>
                    <a:p>
                      <a:pPr algn="l"/>
                      <a:r>
                        <a:rPr sz="900">
                          <a:solidFill>
                            <a:srgbClr val="333333"/>
                          </a:solidFill>
                          <a:latin typeface="Calibri"/>
                        </a:rPr>
                        <a:t>Dog Toys</a:t>
                      </a:r>
                    </a:p>
                  </a:txBody>
                  <a:tcPr>
                    <a:solidFill>
                      <a:srgbClr val="FFFFFF"/>
                    </a:solidFill>
                  </a:tcPr>
                </a:tc>
                <a:tc>
                  <a:txBody>
                    <a:bodyPr wrap="square"/>
                    <a:lstStyle/>
                    <a:p>
                      <a:pPr algn="l"/>
                      <a:r>
                        <a:rPr sz="900">
                          <a:solidFill>
                            <a:srgbClr val="333333"/>
                          </a:solidFill>
                          <a:latin typeface="Calibri"/>
                        </a:rPr>
                        <a:t>Fabric - Plush</a:t>
                      </a:r>
                    </a:p>
                  </a:txBody>
                  <a:tcPr>
                    <a:solidFill>
                      <a:srgbClr val="FFFFFF"/>
                    </a:solidFill>
                  </a:tcPr>
                </a:tc>
                <a:tc>
                  <a:txBody>
                    <a:bodyPr wrap="square"/>
                    <a:lstStyle/>
                    <a:p>
                      <a:pPr algn="l"/>
                      <a:r>
                        <a:rPr sz="900">
                          <a:solidFill>
                            <a:srgbClr val="333333"/>
                          </a:solidFill>
                          <a:latin typeface="Calibri"/>
                        </a:rPr>
                        <a:t>12</a:t>
                      </a:r>
                    </a:p>
                  </a:txBody>
                  <a:tcPr>
                    <a:solidFill>
                      <a:srgbClr val="FFFFFF"/>
                    </a:solidFill>
                  </a:tcPr>
                </a:tc>
                <a:tc>
                  <a:txBody>
                    <a:bodyPr wrap="square"/>
                    <a:lstStyle/>
                    <a:p>
                      <a:pPr algn="l"/>
                      <a:r>
                        <a:rPr sz="900">
                          <a:solidFill>
                            <a:srgbClr val="333333"/>
                          </a:solidFill>
                          <a:latin typeface="Calibri"/>
                        </a:rPr>
                        <a:t>Nov (2.33x)</a:t>
                      </a:r>
                    </a:p>
                  </a:txBody>
                  <a:tcPr>
                    <a:solidFill>
                      <a:srgbClr val="FFFFFF"/>
                    </a:solidFill>
                  </a:tcPr>
                </a:tc>
                <a:tc>
                  <a:txBody>
                    <a:bodyPr wrap="square"/>
                    <a:lstStyle/>
                    <a:p>
                      <a:pPr algn="l"/>
                      <a:r>
                        <a:rPr sz="900">
                          <a:solidFill>
                            <a:srgbClr val="333333"/>
                          </a:solidFill>
                          <a:latin typeface="Calibri"/>
                        </a:rPr>
                        <a:t>Feb, Oct, Nov</a:t>
                      </a:r>
                    </a:p>
                  </a:txBody>
                  <a:tcPr>
                    <a:solidFill>
                      <a:srgbClr val="FFFFFF"/>
                    </a:solidFill>
                  </a:tcPr>
                </a:tc>
              </a:tr>
              <a:tr h="286362">
                <a:tc>
                  <a:txBody>
                    <a:bodyPr wrap="square"/>
                    <a:lstStyle/>
                    <a:p>
                      <a:pPr algn="l"/>
                      <a:r>
                        <a:rPr sz="900">
                          <a:solidFill>
                            <a:srgbClr val="333333"/>
                          </a:solidFill>
                          <a:latin typeface="Calibri"/>
                        </a:rPr>
                        <a:t>Dog Toys</a:t>
                      </a:r>
                    </a:p>
                  </a:txBody>
                  <a:tcPr>
                    <a:solidFill>
                      <a:srgbClr val="F2F2F2"/>
                    </a:solidFill>
                  </a:tcPr>
                </a:tc>
                <a:tc>
                  <a:txBody>
                    <a:bodyPr wrap="square"/>
                    <a:lstStyle/>
                    <a:p>
                      <a:pPr algn="l"/>
                      <a:r>
                        <a:rPr sz="900">
                          <a:solidFill>
                            <a:srgbClr val="333333"/>
                          </a:solidFill>
                          <a:latin typeface="Calibri"/>
                        </a:rPr>
                        <a:t>Toys: Fabric - Plush</a:t>
                      </a:r>
                    </a:p>
                  </a:txBody>
                  <a:tcPr>
                    <a:solidFill>
                      <a:srgbClr val="F2F2F2"/>
                    </a:solidFill>
                  </a:tcPr>
                </a:tc>
                <a:tc>
                  <a:txBody>
                    <a:bodyPr wrap="square"/>
                    <a:lstStyle/>
                    <a:p>
                      <a:pPr algn="l"/>
                      <a:r>
                        <a:rPr sz="900">
                          <a:solidFill>
                            <a:srgbClr val="333333"/>
                          </a:solidFill>
                          <a:latin typeface="Calibri"/>
                        </a:rPr>
                        <a:t>62</a:t>
                      </a:r>
                    </a:p>
                  </a:txBody>
                  <a:tcPr>
                    <a:solidFill>
                      <a:srgbClr val="F2F2F2"/>
                    </a:solidFill>
                  </a:tcPr>
                </a:tc>
                <a:tc>
                  <a:txBody>
                    <a:bodyPr wrap="square"/>
                    <a:lstStyle/>
                    <a:p>
                      <a:pPr algn="l"/>
                      <a:r>
                        <a:rPr sz="900">
                          <a:solidFill>
                            <a:srgbClr val="333333"/>
                          </a:solidFill>
                          <a:latin typeface="Calibri"/>
                        </a:rPr>
                        <a:t>Nov (1.77x)</a:t>
                      </a:r>
                    </a:p>
                  </a:txBody>
                  <a:tcPr>
                    <a:solidFill>
                      <a:srgbClr val="F2F2F2"/>
                    </a:solidFill>
                  </a:tcPr>
                </a:tc>
                <a:tc>
                  <a:txBody>
                    <a:bodyPr wrap="square"/>
                    <a:lstStyle/>
                    <a:p>
                      <a:pPr algn="l"/>
                      <a:r>
                        <a:rPr sz="900">
                          <a:solidFill>
                            <a:srgbClr val="333333"/>
                          </a:solidFill>
                          <a:latin typeface="Calibri"/>
                        </a:rPr>
                        <a:t>Feb, May, Oct, Nov, Dec</a:t>
                      </a:r>
                    </a:p>
                  </a:txBody>
                  <a:tcPr>
                    <a:solidFill>
                      <a:srgbClr val="F2F2F2"/>
                    </a:solidFill>
                  </a:tcPr>
                </a:tc>
              </a:tr>
            </a:tbl>
          </a:graphicData>
        </a:graphic>
      </p:graphicFrame>
      <p:sp>
        <p:nvSpPr>
          <p:cNvPr id="7" name="TextBox 6"/>
          <p:cNvSpPr txBox="1"/>
          <p:nvPr/>
        </p:nvSpPr>
        <p:spPr>
          <a:xfrm>
            <a:off x="457200" y="6446520"/>
            <a:ext cx="11277295" cy="182880"/>
          </a:xfrm>
          <a:prstGeom prst="rect">
            <a:avLst/>
          </a:prstGeom>
          <a:noFill/>
        </p:spPr>
        <p:txBody>
          <a:bodyPr wrap="square" lIns="45720" rIns="45720" tIns="18288" bIns="18288" anchor="t">
            <a:spAutoFit/>
          </a:bodyPr>
          <a:lstStyle/>
          <a:p>
            <a:pPr algn="l"/>
            <a:r>
              <a:rPr sz="900" b="0">
                <a:solidFill>
                  <a:srgbClr val="666666"/>
                </a:solidFill>
                <a:latin typeface="Calibri"/>
              </a:rPr>
              <a:t>SKUs = number of consistent SKUs in that subcategory. Floor=1.0 — only LIFTS, never cuts.</a:t>
            </a:r>
          </a:p>
        </p:txBody>
      </p:sp>
      <p:sp>
        <p:nvSpPr>
          <p:cNvPr id="8" name="TextBox 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9 / 35</a:t>
            </a:r>
          </a:p>
        </p:txBody>
      </p:sp>
      <p:sp>
        <p:nvSpPr>
          <p:cNvPr id="9" name="TextBox 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Priority 2 — Data-derived subcategory profiles (2 of 2)</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Built from 2024-2026 invoice ship history — 35 qualifying subcategories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914400"/>
          <a:ext cx="11277295" cy="544068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02260">
                <a:tc>
                  <a:txBody>
                    <a:bodyPr/>
                    <a:lstStyle/>
                    <a:p>
                      <a:pPr algn="l"/>
                      <a:r>
                        <a:rPr b="1" sz="1000">
                          <a:solidFill>
                            <a:srgbClr val="FFFFFF"/>
                          </a:solidFill>
                          <a:latin typeface="Calibri"/>
                        </a:rPr>
                        <a:t>Category</a:t>
                      </a:r>
                    </a:p>
                  </a:txBody>
                  <a:tcPr>
                    <a:solidFill>
                      <a:srgbClr val="1F3A5F"/>
                    </a:solidFill>
                  </a:tcPr>
                </a:tc>
                <a:tc>
                  <a:txBody>
                    <a:bodyPr/>
                    <a:lstStyle/>
                    <a:p>
                      <a:pPr algn="l"/>
                      <a:r>
                        <a:rPr b="1" sz="1000">
                          <a:solidFill>
                            <a:srgbClr val="FFFFFF"/>
                          </a:solidFill>
                          <a:latin typeface="Calibri"/>
                        </a:rPr>
                        <a:t>Subcategory</a:t>
                      </a:r>
                    </a:p>
                  </a:txBody>
                  <a:tcPr>
                    <a:solidFill>
                      <a:srgbClr val="1F3A5F"/>
                    </a:solidFill>
                  </a:tcPr>
                </a:tc>
                <a:tc>
                  <a:txBody>
                    <a:bodyPr/>
                    <a:lstStyle/>
                    <a:p>
                      <a:pPr algn="l"/>
                      <a:r>
                        <a:rPr b="1" sz="1000">
                          <a:solidFill>
                            <a:srgbClr val="FFFFFF"/>
                          </a:solidFill>
                          <a:latin typeface="Calibri"/>
                        </a:rPr>
                        <a:t>SKUs</a:t>
                      </a:r>
                    </a:p>
                  </a:txBody>
                  <a:tcPr>
                    <a:solidFill>
                      <a:srgbClr val="1F3A5F"/>
                    </a:solidFill>
                  </a:tcPr>
                </a:tc>
                <a:tc>
                  <a:txBody>
                    <a:bodyPr/>
                    <a:lstStyle/>
                    <a:p>
                      <a:pPr algn="l"/>
                      <a:r>
                        <a:rPr b="1" sz="1000">
                          <a:solidFill>
                            <a:srgbClr val="FFFFFF"/>
                          </a:solidFill>
                          <a:latin typeface="Calibri"/>
                        </a:rPr>
                        <a:t>Peak month (index)</a:t>
                      </a:r>
                    </a:p>
                  </a:txBody>
                  <a:tcPr>
                    <a:solidFill>
                      <a:srgbClr val="1F3A5F"/>
                    </a:solidFill>
                  </a:tcPr>
                </a:tc>
                <a:tc>
                  <a:txBody>
                    <a:bodyPr/>
                    <a:lstStyle/>
                    <a:p>
                      <a:pPr algn="l"/>
                      <a:r>
                        <a:rPr b="1" sz="1000">
                          <a:solidFill>
                            <a:srgbClr val="FFFFFF"/>
                          </a:solidFill>
                          <a:latin typeface="Calibri"/>
                        </a:rPr>
                        <a:t>Months that lift demand (&gt;1.05x)</a:t>
                      </a:r>
                    </a:p>
                  </a:txBody>
                  <a:tcPr>
                    <a:solidFill>
                      <a:srgbClr val="1F3A5F"/>
                    </a:solidFill>
                  </a:tcPr>
                </a:tc>
              </a:tr>
              <a:tr h="302260">
                <a:tc>
                  <a:txBody>
                    <a:bodyPr wrap="square"/>
                    <a:lstStyle/>
                    <a:p>
                      <a:pPr algn="l"/>
                      <a:r>
                        <a:rPr sz="900">
                          <a:solidFill>
                            <a:srgbClr val="333333"/>
                          </a:solidFill>
                          <a:latin typeface="Calibri"/>
                        </a:rPr>
                        <a:t>Foils &amp; Pans</a:t>
                      </a:r>
                    </a:p>
                  </a:txBody>
                  <a:tcPr>
                    <a:solidFill>
                      <a:srgbClr val="FFFFFF"/>
                    </a:solidFill>
                  </a:tcPr>
                </a:tc>
                <a:tc>
                  <a:txBody>
                    <a:bodyPr wrap="square"/>
                    <a:lstStyle/>
                    <a:p>
                      <a:pPr algn="l"/>
                      <a:r>
                        <a:rPr sz="900">
                          <a:solidFill>
                            <a:srgbClr val="333333"/>
                          </a:solidFill>
                          <a:latin typeface="Calibri"/>
                        </a:rPr>
                        <a:t>Pans &amp; Grillers</a:t>
                      </a:r>
                    </a:p>
                  </a:txBody>
                  <a:tcPr>
                    <a:solidFill>
                      <a:srgbClr val="FFFFFF"/>
                    </a:solidFill>
                  </a:tcPr>
                </a:tc>
                <a:tc>
                  <a:txBody>
                    <a:bodyPr wrap="square"/>
                    <a:lstStyle/>
                    <a:p>
                      <a:pPr algn="l"/>
                      <a:r>
                        <a:rPr sz="900">
                          <a:solidFill>
                            <a:srgbClr val="333333"/>
                          </a:solidFill>
                          <a:latin typeface="Calibri"/>
                        </a:rPr>
                        <a:t>19</a:t>
                      </a:r>
                    </a:p>
                  </a:txBody>
                  <a:tcPr>
                    <a:solidFill>
                      <a:srgbClr val="FFFFFF"/>
                    </a:solidFill>
                  </a:tcPr>
                </a:tc>
                <a:tc>
                  <a:txBody>
                    <a:bodyPr wrap="square"/>
                    <a:lstStyle/>
                    <a:p>
                      <a:pPr algn="l"/>
                      <a:r>
                        <a:rPr sz="900">
                          <a:solidFill>
                            <a:srgbClr val="333333"/>
                          </a:solidFill>
                          <a:latin typeface="Calibri"/>
                        </a:rPr>
                        <a:t>Oct (1.94x)</a:t>
                      </a:r>
                    </a:p>
                  </a:txBody>
                  <a:tcPr>
                    <a:solidFill>
                      <a:srgbClr val="FFFFFF"/>
                    </a:solidFill>
                  </a:tcPr>
                </a:tc>
                <a:tc>
                  <a:txBody>
                    <a:bodyPr wrap="square"/>
                    <a:lstStyle/>
                    <a:p>
                      <a:pPr algn="l"/>
                      <a:r>
                        <a:rPr sz="900">
                          <a:solidFill>
                            <a:srgbClr val="333333"/>
                          </a:solidFill>
                          <a:latin typeface="Calibri"/>
                        </a:rPr>
                        <a:t>Feb, Mar, Oct</a:t>
                      </a:r>
                    </a:p>
                  </a:txBody>
                  <a:tcPr>
                    <a:solidFill>
                      <a:srgbClr val="FFFFFF"/>
                    </a:solidFill>
                  </a:tcPr>
                </a:tc>
              </a:tr>
              <a:tr h="302260">
                <a:tc>
                  <a:txBody>
                    <a:bodyPr wrap="square"/>
                    <a:lstStyle/>
                    <a:p>
                      <a:pPr algn="l"/>
                      <a:r>
                        <a:rPr sz="900">
                          <a:solidFill>
                            <a:srgbClr val="333333"/>
                          </a:solidFill>
                          <a:latin typeface="Calibri"/>
                        </a:rPr>
                        <a:t>Food Protection</a:t>
                      </a:r>
                    </a:p>
                  </a:txBody>
                  <a:tcPr>
                    <a:solidFill>
                      <a:srgbClr val="F2F2F2"/>
                    </a:solidFill>
                  </a:tcPr>
                </a:tc>
                <a:tc>
                  <a:txBody>
                    <a:bodyPr wrap="square"/>
                    <a:lstStyle/>
                    <a:p>
                      <a:pPr algn="l"/>
                      <a:r>
                        <a:rPr sz="900">
                          <a:solidFill>
                            <a:srgbClr val="333333"/>
                          </a:solidFill>
                          <a:latin typeface="Calibri"/>
                        </a:rPr>
                        <a:t>Disposable Food Containers</a:t>
                      </a:r>
                    </a:p>
                  </a:txBody>
                  <a:tcPr>
                    <a:solidFill>
                      <a:srgbClr val="F2F2F2"/>
                    </a:solidFill>
                  </a:tcPr>
                </a:tc>
                <a:tc>
                  <a:txBody>
                    <a:bodyPr wrap="square"/>
                    <a:lstStyle/>
                    <a:p>
                      <a:pPr algn="l"/>
                      <a:r>
                        <a:rPr sz="900">
                          <a:solidFill>
                            <a:srgbClr val="333333"/>
                          </a:solidFill>
                          <a:latin typeface="Calibri"/>
                        </a:rPr>
                        <a:t>56</a:t>
                      </a:r>
                    </a:p>
                  </a:txBody>
                  <a:tcPr>
                    <a:solidFill>
                      <a:srgbClr val="F2F2F2"/>
                    </a:solidFill>
                  </a:tcPr>
                </a:tc>
                <a:tc>
                  <a:txBody>
                    <a:bodyPr wrap="square"/>
                    <a:lstStyle/>
                    <a:p>
                      <a:pPr algn="l"/>
                      <a:r>
                        <a:rPr sz="900">
                          <a:solidFill>
                            <a:srgbClr val="333333"/>
                          </a:solidFill>
                          <a:latin typeface="Calibri"/>
                        </a:rPr>
                        <a:t>Feb (1.26x)</a:t>
                      </a:r>
                    </a:p>
                  </a:txBody>
                  <a:tcPr>
                    <a:solidFill>
                      <a:srgbClr val="F2F2F2"/>
                    </a:solidFill>
                  </a:tcPr>
                </a:tc>
                <a:tc>
                  <a:txBody>
                    <a:bodyPr wrap="square"/>
                    <a:lstStyle/>
                    <a:p>
                      <a:pPr algn="l"/>
                      <a:r>
                        <a:rPr sz="900">
                          <a:solidFill>
                            <a:srgbClr val="333333"/>
                          </a:solidFill>
                          <a:latin typeface="Calibri"/>
                        </a:rPr>
                        <a:t>Jan, Feb, May, Sep, Oct, Nov</a:t>
                      </a:r>
                    </a:p>
                  </a:txBody>
                  <a:tcPr>
                    <a:solidFill>
                      <a:srgbClr val="F2F2F2"/>
                    </a:solidFill>
                  </a:tcPr>
                </a:tc>
              </a:tr>
              <a:tr h="302260">
                <a:tc>
                  <a:txBody>
                    <a:bodyPr wrap="square"/>
                    <a:lstStyle/>
                    <a:p>
                      <a:pPr algn="l"/>
                      <a:r>
                        <a:rPr sz="900">
                          <a:solidFill>
                            <a:srgbClr val="333333"/>
                          </a:solidFill>
                          <a:latin typeface="Calibri"/>
                        </a:rPr>
                        <a:t>Grooming</a:t>
                      </a:r>
                    </a:p>
                  </a:txBody>
                  <a:tcPr>
                    <a:solidFill>
                      <a:srgbClr val="FFFFFF"/>
                    </a:solidFill>
                  </a:tcPr>
                </a:tc>
                <a:tc>
                  <a:txBody>
                    <a:bodyPr wrap="square"/>
                    <a:lstStyle/>
                    <a:p>
                      <a:pPr algn="l"/>
                      <a:r>
                        <a:rPr sz="900">
                          <a:solidFill>
                            <a:srgbClr val="333333"/>
                          </a:solidFill>
                          <a:latin typeface="Calibri"/>
                        </a:rPr>
                        <a:t>Conditioner</a:t>
                      </a:r>
                    </a:p>
                  </a:txBody>
                  <a:tcPr>
                    <a:solidFill>
                      <a:srgbClr val="FFFFFF"/>
                    </a:solidFill>
                  </a:tcPr>
                </a:tc>
                <a:tc>
                  <a:txBody>
                    <a:bodyPr wrap="square"/>
                    <a:lstStyle/>
                    <a:p>
                      <a:pPr algn="l"/>
                      <a:r>
                        <a:rPr sz="900">
                          <a:solidFill>
                            <a:srgbClr val="333333"/>
                          </a:solidFill>
                          <a:latin typeface="Calibri"/>
                        </a:rPr>
                        <a:t>16</a:t>
                      </a:r>
                    </a:p>
                  </a:txBody>
                  <a:tcPr>
                    <a:solidFill>
                      <a:srgbClr val="FFFFFF"/>
                    </a:solidFill>
                  </a:tcPr>
                </a:tc>
                <a:tc>
                  <a:txBody>
                    <a:bodyPr wrap="square"/>
                    <a:lstStyle/>
                    <a:p>
                      <a:pPr algn="l"/>
                      <a:r>
                        <a:rPr sz="900">
                          <a:solidFill>
                            <a:srgbClr val="333333"/>
                          </a:solidFill>
                          <a:latin typeface="Calibri"/>
                        </a:rPr>
                        <a:t>Feb (1.53x)</a:t>
                      </a:r>
                    </a:p>
                  </a:txBody>
                  <a:tcPr>
                    <a:solidFill>
                      <a:srgbClr val="FFFFFF"/>
                    </a:solidFill>
                  </a:tcPr>
                </a:tc>
                <a:tc>
                  <a:txBody>
                    <a:bodyPr wrap="square"/>
                    <a:lstStyle/>
                    <a:p>
                      <a:pPr algn="l"/>
                      <a:r>
                        <a:rPr sz="900">
                          <a:solidFill>
                            <a:srgbClr val="333333"/>
                          </a:solidFill>
                          <a:latin typeface="Calibri"/>
                        </a:rPr>
                        <a:t>Jan, Feb, Mar, Oct, Nov</a:t>
                      </a:r>
                    </a:p>
                  </a:txBody>
                  <a:tcPr>
                    <a:solidFill>
                      <a:srgbClr val="FFFFFF"/>
                    </a:solidFill>
                  </a:tcPr>
                </a:tc>
              </a:tr>
              <a:tr h="302260">
                <a:tc>
                  <a:txBody>
                    <a:bodyPr wrap="square"/>
                    <a:lstStyle/>
                    <a:p>
                      <a:pPr algn="l"/>
                      <a:r>
                        <a:rPr sz="900">
                          <a:solidFill>
                            <a:srgbClr val="333333"/>
                          </a:solidFill>
                          <a:latin typeface="Calibri"/>
                        </a:rPr>
                        <a:t>Grooming</a:t>
                      </a:r>
                    </a:p>
                  </a:txBody>
                  <a:tcPr>
                    <a:solidFill>
                      <a:srgbClr val="F2F2F2"/>
                    </a:solidFill>
                  </a:tcPr>
                </a:tc>
                <a:tc>
                  <a:txBody>
                    <a:bodyPr wrap="square"/>
                    <a:lstStyle/>
                    <a:p>
                      <a:pPr algn="l"/>
                      <a:r>
                        <a:rPr sz="900">
                          <a:solidFill>
                            <a:srgbClr val="333333"/>
                          </a:solidFill>
                          <a:latin typeface="Calibri"/>
                        </a:rPr>
                        <a:t>Lotion</a:t>
                      </a:r>
                    </a:p>
                  </a:txBody>
                  <a:tcPr>
                    <a:solidFill>
                      <a:srgbClr val="F2F2F2"/>
                    </a:solidFill>
                  </a:tcPr>
                </a:tc>
                <a:tc>
                  <a:txBody>
                    <a:bodyPr wrap="square"/>
                    <a:lstStyle/>
                    <a:p>
                      <a:pPr algn="l"/>
                      <a:r>
                        <a:rPr sz="900">
                          <a:solidFill>
                            <a:srgbClr val="333333"/>
                          </a:solidFill>
                          <a:latin typeface="Calibri"/>
                        </a:rPr>
                        <a:t>12</a:t>
                      </a:r>
                    </a:p>
                  </a:txBody>
                  <a:tcPr>
                    <a:solidFill>
                      <a:srgbClr val="F2F2F2"/>
                    </a:solidFill>
                  </a:tcPr>
                </a:tc>
                <a:tc>
                  <a:txBody>
                    <a:bodyPr wrap="square"/>
                    <a:lstStyle/>
                    <a:p>
                      <a:pPr algn="l"/>
                      <a:r>
                        <a:rPr sz="900">
                          <a:solidFill>
                            <a:srgbClr val="333333"/>
                          </a:solidFill>
                          <a:latin typeface="Calibri"/>
                        </a:rPr>
                        <a:t>Nov (1.50x)</a:t>
                      </a:r>
                    </a:p>
                  </a:txBody>
                  <a:tcPr>
                    <a:solidFill>
                      <a:srgbClr val="F2F2F2"/>
                    </a:solidFill>
                  </a:tcPr>
                </a:tc>
                <a:tc>
                  <a:txBody>
                    <a:bodyPr wrap="square"/>
                    <a:lstStyle/>
                    <a:p>
                      <a:pPr algn="l"/>
                      <a:r>
                        <a:rPr sz="900">
                          <a:solidFill>
                            <a:srgbClr val="333333"/>
                          </a:solidFill>
                          <a:latin typeface="Calibri"/>
                        </a:rPr>
                        <a:t>Jan, Feb, Apr, Oct, Nov, Dec</a:t>
                      </a:r>
                    </a:p>
                  </a:txBody>
                  <a:tcPr>
                    <a:solidFill>
                      <a:srgbClr val="F2F2F2"/>
                    </a:solidFill>
                  </a:tcPr>
                </a:tc>
              </a:tr>
              <a:tr h="302260">
                <a:tc>
                  <a:txBody>
                    <a:bodyPr wrap="square"/>
                    <a:lstStyle/>
                    <a:p>
                      <a:pPr algn="l"/>
                      <a:r>
                        <a:rPr sz="900">
                          <a:solidFill>
                            <a:srgbClr val="333333"/>
                          </a:solidFill>
                          <a:latin typeface="Calibri"/>
                        </a:rPr>
                        <a:t>Grooming</a:t>
                      </a:r>
                    </a:p>
                  </a:txBody>
                  <a:tcPr>
                    <a:solidFill>
                      <a:srgbClr val="FFFFFF"/>
                    </a:solidFill>
                  </a:tcPr>
                </a:tc>
                <a:tc>
                  <a:txBody>
                    <a:bodyPr wrap="square"/>
                    <a:lstStyle/>
                    <a:p>
                      <a:pPr algn="l"/>
                      <a:r>
                        <a:rPr sz="900">
                          <a:solidFill>
                            <a:srgbClr val="333333"/>
                          </a:solidFill>
                          <a:latin typeface="Calibri"/>
                        </a:rPr>
                        <a:t>Shampoo</a:t>
                      </a:r>
                    </a:p>
                  </a:txBody>
                  <a:tcPr>
                    <a:solidFill>
                      <a:srgbClr val="FFFFFF"/>
                    </a:solidFill>
                  </a:tcPr>
                </a:tc>
                <a:tc>
                  <a:txBody>
                    <a:bodyPr wrap="square"/>
                    <a:lstStyle/>
                    <a:p>
                      <a:pPr algn="l"/>
                      <a:r>
                        <a:rPr sz="900">
                          <a:solidFill>
                            <a:srgbClr val="333333"/>
                          </a:solidFill>
                          <a:latin typeface="Calibri"/>
                        </a:rPr>
                        <a:t>179</a:t>
                      </a:r>
                    </a:p>
                  </a:txBody>
                  <a:tcPr>
                    <a:solidFill>
                      <a:srgbClr val="FFFFFF"/>
                    </a:solidFill>
                  </a:tcPr>
                </a:tc>
                <a:tc>
                  <a:txBody>
                    <a:bodyPr wrap="square"/>
                    <a:lstStyle/>
                    <a:p>
                      <a:pPr algn="l"/>
                      <a:r>
                        <a:rPr sz="900">
                          <a:solidFill>
                            <a:srgbClr val="333333"/>
                          </a:solidFill>
                          <a:latin typeface="Calibri"/>
                        </a:rPr>
                        <a:t>Mar (1.39x)</a:t>
                      </a:r>
                    </a:p>
                  </a:txBody>
                  <a:tcPr>
                    <a:solidFill>
                      <a:srgbClr val="FFFFFF"/>
                    </a:solidFill>
                  </a:tcPr>
                </a:tc>
                <a:tc>
                  <a:txBody>
                    <a:bodyPr wrap="square"/>
                    <a:lstStyle/>
                    <a:p>
                      <a:pPr algn="l"/>
                      <a:r>
                        <a:rPr sz="900">
                          <a:solidFill>
                            <a:srgbClr val="333333"/>
                          </a:solidFill>
                          <a:latin typeface="Calibri"/>
                        </a:rPr>
                        <a:t>Jan, Feb, Mar, Apr, Oct, Nov</a:t>
                      </a:r>
                    </a:p>
                  </a:txBody>
                  <a:tcPr>
                    <a:solidFill>
                      <a:srgbClr val="FFFFFF"/>
                    </a:solidFill>
                  </a:tcPr>
                </a:tc>
              </a:tr>
              <a:tr h="302260">
                <a:tc>
                  <a:txBody>
                    <a:bodyPr wrap="square"/>
                    <a:lstStyle/>
                    <a:p>
                      <a:pPr algn="l"/>
                      <a:r>
                        <a:rPr sz="900">
                          <a:solidFill>
                            <a:srgbClr val="333333"/>
                          </a:solidFill>
                          <a:latin typeface="Calibri"/>
                        </a:rPr>
                        <a:t>Grooming</a:t>
                      </a:r>
                    </a:p>
                  </a:txBody>
                  <a:tcPr>
                    <a:solidFill>
                      <a:srgbClr val="F2F2F2"/>
                    </a:solidFill>
                  </a:tcPr>
                </a:tc>
                <a:tc>
                  <a:txBody>
                    <a:bodyPr wrap="square"/>
                    <a:lstStyle/>
                    <a:p>
                      <a:pPr algn="l"/>
                      <a:r>
                        <a:rPr sz="900">
                          <a:solidFill>
                            <a:srgbClr val="333333"/>
                          </a:solidFill>
                          <a:latin typeface="Calibri"/>
                        </a:rPr>
                        <a:t>Spray</a:t>
                      </a:r>
                    </a:p>
                  </a:txBody>
                  <a:tcPr>
                    <a:solidFill>
                      <a:srgbClr val="F2F2F2"/>
                    </a:solidFill>
                  </a:tcPr>
                </a:tc>
                <a:tc>
                  <a:txBody>
                    <a:bodyPr wrap="square"/>
                    <a:lstStyle/>
                    <a:p>
                      <a:pPr algn="l"/>
                      <a:r>
                        <a:rPr sz="900">
                          <a:solidFill>
                            <a:srgbClr val="333333"/>
                          </a:solidFill>
                          <a:latin typeface="Calibri"/>
                        </a:rPr>
                        <a:t>65</a:t>
                      </a:r>
                    </a:p>
                  </a:txBody>
                  <a:tcPr>
                    <a:solidFill>
                      <a:srgbClr val="F2F2F2"/>
                    </a:solidFill>
                  </a:tcPr>
                </a:tc>
                <a:tc>
                  <a:txBody>
                    <a:bodyPr wrap="square"/>
                    <a:lstStyle/>
                    <a:p>
                      <a:pPr algn="l"/>
                      <a:r>
                        <a:rPr sz="900">
                          <a:solidFill>
                            <a:srgbClr val="333333"/>
                          </a:solidFill>
                          <a:latin typeface="Calibri"/>
                        </a:rPr>
                        <a:t>Jan (1.43x)</a:t>
                      </a:r>
                    </a:p>
                  </a:txBody>
                  <a:tcPr>
                    <a:solidFill>
                      <a:srgbClr val="F2F2F2"/>
                    </a:solidFill>
                  </a:tcPr>
                </a:tc>
                <a:tc>
                  <a:txBody>
                    <a:bodyPr wrap="square"/>
                    <a:lstStyle/>
                    <a:p>
                      <a:pPr algn="l"/>
                      <a:r>
                        <a:rPr sz="900">
                          <a:solidFill>
                            <a:srgbClr val="333333"/>
                          </a:solidFill>
                          <a:latin typeface="Calibri"/>
                        </a:rPr>
                        <a:t>Jan, Feb, Mar, Apr, Oct, Nov</a:t>
                      </a:r>
                    </a:p>
                  </a:txBody>
                  <a:tcPr>
                    <a:solidFill>
                      <a:srgbClr val="F2F2F2"/>
                    </a:solidFill>
                  </a:tcPr>
                </a:tc>
              </a:tr>
              <a:tr h="302260">
                <a:tc>
                  <a:txBody>
                    <a:bodyPr wrap="square"/>
                    <a:lstStyle/>
                    <a:p>
                      <a:pPr algn="l"/>
                      <a:r>
                        <a:rPr sz="900">
                          <a:solidFill>
                            <a:srgbClr val="333333"/>
                          </a:solidFill>
                          <a:latin typeface="Calibri"/>
                        </a:rPr>
                        <a:t>Grooming</a:t>
                      </a:r>
                    </a:p>
                  </a:txBody>
                  <a:tcPr>
                    <a:solidFill>
                      <a:srgbClr val="FFFFFF"/>
                    </a:solidFill>
                  </a:tcPr>
                </a:tc>
                <a:tc>
                  <a:txBody>
                    <a:bodyPr wrap="square"/>
                    <a:lstStyle/>
                    <a:p>
                      <a:pPr algn="l"/>
                      <a:r>
                        <a:rPr sz="900">
                          <a:solidFill>
                            <a:srgbClr val="333333"/>
                          </a:solidFill>
                          <a:latin typeface="Calibri"/>
                        </a:rPr>
                        <a:t>Wipes</a:t>
                      </a:r>
                    </a:p>
                  </a:txBody>
                  <a:tcPr>
                    <a:solidFill>
                      <a:srgbClr val="FFFFFF"/>
                    </a:solidFill>
                  </a:tcPr>
                </a:tc>
                <a:tc>
                  <a:txBody>
                    <a:bodyPr wrap="square"/>
                    <a:lstStyle/>
                    <a:p>
                      <a:pPr algn="l"/>
                      <a:r>
                        <a:rPr sz="900">
                          <a:solidFill>
                            <a:srgbClr val="333333"/>
                          </a:solidFill>
                          <a:latin typeface="Calibri"/>
                        </a:rPr>
                        <a:t>72</a:t>
                      </a:r>
                    </a:p>
                  </a:txBody>
                  <a:tcPr>
                    <a:solidFill>
                      <a:srgbClr val="FFFFFF"/>
                    </a:solidFill>
                  </a:tcPr>
                </a:tc>
                <a:tc>
                  <a:txBody>
                    <a:bodyPr wrap="square"/>
                    <a:lstStyle/>
                    <a:p>
                      <a:pPr algn="l"/>
                      <a:r>
                        <a:rPr sz="900">
                          <a:solidFill>
                            <a:srgbClr val="333333"/>
                          </a:solidFill>
                          <a:latin typeface="Calibri"/>
                        </a:rPr>
                        <a:t>Jan (1.51x)</a:t>
                      </a:r>
                    </a:p>
                  </a:txBody>
                  <a:tcPr>
                    <a:solidFill>
                      <a:srgbClr val="FFFFFF"/>
                    </a:solidFill>
                  </a:tcPr>
                </a:tc>
                <a:tc>
                  <a:txBody>
                    <a:bodyPr wrap="square"/>
                    <a:lstStyle/>
                    <a:p>
                      <a:pPr algn="l"/>
                      <a:r>
                        <a:rPr sz="900">
                          <a:solidFill>
                            <a:srgbClr val="333333"/>
                          </a:solidFill>
                          <a:latin typeface="Calibri"/>
                        </a:rPr>
                        <a:t>Jan, Feb, Mar, Apr, Oct, Nov</a:t>
                      </a:r>
                    </a:p>
                  </a:txBody>
                  <a:tcPr>
                    <a:solidFill>
                      <a:srgbClr val="FFFFFF"/>
                    </a:solidFill>
                  </a:tcPr>
                </a:tc>
              </a:tr>
              <a:tr h="302260">
                <a:tc>
                  <a:txBody>
                    <a:bodyPr wrap="square"/>
                    <a:lstStyle/>
                    <a:p>
                      <a:pPr algn="l"/>
                      <a:r>
                        <a:rPr sz="900">
                          <a:solidFill>
                            <a:srgbClr val="333333"/>
                          </a:solidFill>
                          <a:latin typeface="Calibri"/>
                        </a:rPr>
                        <a:t>Grooming Tools</a:t>
                      </a:r>
                    </a:p>
                  </a:txBody>
                  <a:tcPr>
                    <a:solidFill>
                      <a:srgbClr val="F2F2F2"/>
                    </a:solidFill>
                  </a:tcPr>
                </a:tc>
                <a:tc>
                  <a:txBody>
                    <a:bodyPr wrap="square"/>
                    <a:lstStyle/>
                    <a:p>
                      <a:pPr algn="l"/>
                      <a:r>
                        <a:rPr sz="900">
                          <a:solidFill>
                            <a:srgbClr val="333333"/>
                          </a:solidFill>
                          <a:latin typeface="Calibri"/>
                        </a:rPr>
                        <a:t>Brush</a:t>
                      </a:r>
                    </a:p>
                  </a:txBody>
                  <a:tcPr>
                    <a:solidFill>
                      <a:srgbClr val="F2F2F2"/>
                    </a:solidFill>
                  </a:tcPr>
                </a:tc>
                <a:tc>
                  <a:txBody>
                    <a:bodyPr wrap="square"/>
                    <a:lstStyle/>
                    <a:p>
                      <a:pPr algn="l"/>
                      <a:r>
                        <a:rPr sz="900">
                          <a:solidFill>
                            <a:srgbClr val="333333"/>
                          </a:solidFill>
                          <a:latin typeface="Calibri"/>
                        </a:rPr>
                        <a:t>13</a:t>
                      </a:r>
                    </a:p>
                  </a:txBody>
                  <a:tcPr>
                    <a:solidFill>
                      <a:srgbClr val="F2F2F2"/>
                    </a:solidFill>
                  </a:tcPr>
                </a:tc>
                <a:tc>
                  <a:txBody>
                    <a:bodyPr wrap="square"/>
                    <a:lstStyle/>
                    <a:p>
                      <a:pPr algn="l"/>
                      <a:r>
                        <a:rPr sz="900">
                          <a:solidFill>
                            <a:srgbClr val="333333"/>
                          </a:solidFill>
                          <a:latin typeface="Calibri"/>
                        </a:rPr>
                        <a:t>Sep (1.48x)</a:t>
                      </a:r>
                    </a:p>
                  </a:txBody>
                  <a:tcPr>
                    <a:solidFill>
                      <a:srgbClr val="F2F2F2"/>
                    </a:solidFill>
                  </a:tcPr>
                </a:tc>
                <a:tc>
                  <a:txBody>
                    <a:bodyPr wrap="square"/>
                    <a:lstStyle/>
                    <a:p>
                      <a:pPr algn="l"/>
                      <a:r>
                        <a:rPr sz="900">
                          <a:solidFill>
                            <a:srgbClr val="333333"/>
                          </a:solidFill>
                          <a:latin typeface="Calibri"/>
                        </a:rPr>
                        <a:t>Jan, Sep, Oct, Nov</a:t>
                      </a:r>
                    </a:p>
                  </a:txBody>
                  <a:tcPr>
                    <a:solidFill>
                      <a:srgbClr val="F2F2F2"/>
                    </a:solidFill>
                  </a:tcPr>
                </a:tc>
              </a:tr>
              <a:tr h="302260">
                <a:tc>
                  <a:txBody>
                    <a:bodyPr wrap="square"/>
                    <a:lstStyle/>
                    <a:p>
                      <a:pPr algn="l"/>
                      <a:r>
                        <a:rPr sz="900">
                          <a:solidFill>
                            <a:srgbClr val="333333"/>
                          </a:solidFill>
                          <a:latin typeface="Calibri"/>
                        </a:rPr>
                        <a:t>Laundry</a:t>
                      </a:r>
                    </a:p>
                  </a:txBody>
                  <a:tcPr>
                    <a:solidFill>
                      <a:srgbClr val="FFFFFF"/>
                    </a:solidFill>
                  </a:tcPr>
                </a:tc>
                <a:tc>
                  <a:txBody>
                    <a:bodyPr wrap="square"/>
                    <a:lstStyle/>
                    <a:p>
                      <a:pPr algn="l"/>
                      <a:r>
                        <a:rPr sz="900">
                          <a:solidFill>
                            <a:srgbClr val="333333"/>
                          </a:solidFill>
                          <a:latin typeface="Calibri"/>
                        </a:rPr>
                        <a:t>Crystals</a:t>
                      </a:r>
                    </a:p>
                  </a:txBody>
                  <a:tcPr>
                    <a:solidFill>
                      <a:srgbClr val="FFFFFF"/>
                    </a:solidFill>
                  </a:tcPr>
                </a:tc>
                <a:tc>
                  <a:txBody>
                    <a:bodyPr wrap="square"/>
                    <a:lstStyle/>
                    <a:p>
                      <a:pPr algn="l"/>
                      <a:r>
                        <a:rPr sz="900">
                          <a:solidFill>
                            <a:srgbClr val="333333"/>
                          </a:solidFill>
                          <a:latin typeface="Calibri"/>
                        </a:rPr>
                        <a:t>35</a:t>
                      </a:r>
                    </a:p>
                  </a:txBody>
                  <a:tcPr>
                    <a:solidFill>
                      <a:srgbClr val="FFFFFF"/>
                    </a:solidFill>
                  </a:tcPr>
                </a:tc>
                <a:tc>
                  <a:txBody>
                    <a:bodyPr wrap="square"/>
                    <a:lstStyle/>
                    <a:p>
                      <a:pPr algn="l"/>
                      <a:r>
                        <a:rPr sz="900">
                          <a:solidFill>
                            <a:srgbClr val="333333"/>
                          </a:solidFill>
                          <a:latin typeface="Calibri"/>
                        </a:rPr>
                        <a:t>Feb (1.35x)</a:t>
                      </a:r>
                    </a:p>
                  </a:txBody>
                  <a:tcPr>
                    <a:solidFill>
                      <a:srgbClr val="FFFFFF"/>
                    </a:solidFill>
                  </a:tcPr>
                </a:tc>
                <a:tc>
                  <a:txBody>
                    <a:bodyPr wrap="square"/>
                    <a:lstStyle/>
                    <a:p>
                      <a:pPr algn="l"/>
                      <a:r>
                        <a:rPr sz="900">
                          <a:solidFill>
                            <a:srgbClr val="333333"/>
                          </a:solidFill>
                          <a:latin typeface="Calibri"/>
                        </a:rPr>
                        <a:t>Jan, Feb, Apr, Jul, Oct, Nov</a:t>
                      </a:r>
                    </a:p>
                  </a:txBody>
                  <a:tcPr>
                    <a:solidFill>
                      <a:srgbClr val="FFFFFF"/>
                    </a:solidFill>
                  </a:tcPr>
                </a:tc>
              </a:tr>
              <a:tr h="302260">
                <a:tc>
                  <a:txBody>
                    <a:bodyPr wrap="square"/>
                    <a:lstStyle/>
                    <a:p>
                      <a:pPr algn="l"/>
                      <a:r>
                        <a:rPr sz="900">
                          <a:solidFill>
                            <a:srgbClr val="333333"/>
                          </a:solidFill>
                          <a:latin typeface="Calibri"/>
                        </a:rPr>
                        <a:t>Laundry</a:t>
                      </a:r>
                    </a:p>
                  </a:txBody>
                  <a:tcPr>
                    <a:solidFill>
                      <a:srgbClr val="F2F2F2"/>
                    </a:solidFill>
                  </a:tcPr>
                </a:tc>
                <a:tc>
                  <a:txBody>
                    <a:bodyPr wrap="square"/>
                    <a:lstStyle/>
                    <a:p>
                      <a:pPr algn="l"/>
                      <a:r>
                        <a:rPr sz="900">
                          <a:solidFill>
                            <a:srgbClr val="333333"/>
                          </a:solidFill>
                          <a:latin typeface="Calibri"/>
                        </a:rPr>
                        <a:t>Dryer Sheets</a:t>
                      </a:r>
                    </a:p>
                  </a:txBody>
                  <a:tcPr>
                    <a:solidFill>
                      <a:srgbClr val="F2F2F2"/>
                    </a:solidFill>
                  </a:tcPr>
                </a:tc>
                <a:tc>
                  <a:txBody>
                    <a:bodyPr wrap="square"/>
                    <a:lstStyle/>
                    <a:p>
                      <a:pPr algn="l"/>
                      <a:r>
                        <a:rPr sz="900">
                          <a:solidFill>
                            <a:srgbClr val="333333"/>
                          </a:solidFill>
                          <a:latin typeface="Calibri"/>
                        </a:rPr>
                        <a:t>14</a:t>
                      </a:r>
                    </a:p>
                  </a:txBody>
                  <a:tcPr>
                    <a:solidFill>
                      <a:srgbClr val="F2F2F2"/>
                    </a:solidFill>
                  </a:tcPr>
                </a:tc>
                <a:tc>
                  <a:txBody>
                    <a:bodyPr wrap="square"/>
                    <a:lstStyle/>
                    <a:p>
                      <a:pPr algn="l"/>
                      <a:r>
                        <a:rPr sz="900">
                          <a:solidFill>
                            <a:srgbClr val="333333"/>
                          </a:solidFill>
                          <a:latin typeface="Calibri"/>
                        </a:rPr>
                        <a:t>Nov (1.50x)</a:t>
                      </a:r>
                    </a:p>
                  </a:txBody>
                  <a:tcPr>
                    <a:solidFill>
                      <a:srgbClr val="F2F2F2"/>
                    </a:solidFill>
                  </a:tcPr>
                </a:tc>
                <a:tc>
                  <a:txBody>
                    <a:bodyPr wrap="square"/>
                    <a:lstStyle/>
                    <a:p>
                      <a:pPr algn="l"/>
                      <a:r>
                        <a:rPr sz="900">
                          <a:solidFill>
                            <a:srgbClr val="333333"/>
                          </a:solidFill>
                          <a:latin typeface="Calibri"/>
                        </a:rPr>
                        <a:t>Feb, Mar, Jun, Aug, Oct, Nov</a:t>
                      </a:r>
                    </a:p>
                  </a:txBody>
                  <a:tcPr>
                    <a:solidFill>
                      <a:srgbClr val="F2F2F2"/>
                    </a:solidFill>
                  </a:tcPr>
                </a:tc>
              </a:tr>
              <a:tr h="302260">
                <a:tc>
                  <a:txBody>
                    <a:bodyPr wrap="square"/>
                    <a:lstStyle/>
                    <a:p>
                      <a:pPr algn="l"/>
                      <a:r>
                        <a:rPr sz="900">
                          <a:solidFill>
                            <a:srgbClr val="333333"/>
                          </a:solidFill>
                          <a:latin typeface="Calibri"/>
                        </a:rPr>
                        <a:t>Laundry</a:t>
                      </a:r>
                    </a:p>
                  </a:txBody>
                  <a:tcPr>
                    <a:solidFill>
                      <a:srgbClr val="FFFFFF"/>
                    </a:solidFill>
                  </a:tcPr>
                </a:tc>
                <a:tc>
                  <a:txBody>
                    <a:bodyPr wrap="square"/>
                    <a:lstStyle/>
                    <a:p>
                      <a:pPr algn="l"/>
                      <a:r>
                        <a:rPr sz="900">
                          <a:solidFill>
                            <a:srgbClr val="333333"/>
                          </a:solidFill>
                          <a:latin typeface="Calibri"/>
                        </a:rPr>
                        <a:t>Refresher Spray</a:t>
                      </a:r>
                    </a:p>
                  </a:txBody>
                  <a:tcPr>
                    <a:solidFill>
                      <a:srgbClr val="FFFFFF"/>
                    </a:solidFill>
                  </a:tcPr>
                </a:tc>
                <a:tc>
                  <a:txBody>
                    <a:bodyPr wrap="square"/>
                    <a:lstStyle/>
                    <a:p>
                      <a:pPr algn="l"/>
                      <a:r>
                        <a:rPr sz="900">
                          <a:solidFill>
                            <a:srgbClr val="333333"/>
                          </a:solidFill>
                          <a:latin typeface="Calibri"/>
                        </a:rPr>
                        <a:t>16</a:t>
                      </a:r>
                    </a:p>
                  </a:txBody>
                  <a:tcPr>
                    <a:solidFill>
                      <a:srgbClr val="FFFFFF"/>
                    </a:solidFill>
                  </a:tcPr>
                </a:tc>
                <a:tc>
                  <a:txBody>
                    <a:bodyPr wrap="square"/>
                    <a:lstStyle/>
                    <a:p>
                      <a:pPr algn="l"/>
                      <a:r>
                        <a:rPr sz="900">
                          <a:solidFill>
                            <a:srgbClr val="333333"/>
                          </a:solidFill>
                          <a:latin typeface="Calibri"/>
                        </a:rPr>
                        <a:t>Nov (2.46x)</a:t>
                      </a:r>
                    </a:p>
                  </a:txBody>
                  <a:tcPr>
                    <a:solidFill>
                      <a:srgbClr val="FFFFFF"/>
                    </a:solidFill>
                  </a:tcPr>
                </a:tc>
                <a:tc>
                  <a:txBody>
                    <a:bodyPr wrap="square"/>
                    <a:lstStyle/>
                    <a:p>
                      <a:pPr algn="l"/>
                      <a:r>
                        <a:rPr sz="900">
                          <a:solidFill>
                            <a:srgbClr val="333333"/>
                          </a:solidFill>
                          <a:latin typeface="Calibri"/>
                        </a:rPr>
                        <a:t>Jan, May, Sep, Oct, Nov</a:t>
                      </a:r>
                    </a:p>
                  </a:txBody>
                  <a:tcPr>
                    <a:solidFill>
                      <a:srgbClr val="FFFFFF"/>
                    </a:solidFill>
                  </a:tcPr>
                </a:tc>
              </a:tr>
              <a:tr h="302260">
                <a:tc>
                  <a:txBody>
                    <a:bodyPr wrap="square"/>
                    <a:lstStyle/>
                    <a:p>
                      <a:pPr algn="l"/>
                      <a:r>
                        <a:rPr sz="900">
                          <a:solidFill>
                            <a:srgbClr val="333333"/>
                          </a:solidFill>
                          <a:latin typeface="Calibri"/>
                        </a:rPr>
                        <a:t>Litter Accessories</a:t>
                      </a:r>
                    </a:p>
                  </a:txBody>
                  <a:tcPr>
                    <a:solidFill>
                      <a:srgbClr val="F2F2F2"/>
                    </a:solidFill>
                  </a:tcPr>
                </a:tc>
                <a:tc>
                  <a:txBody>
                    <a:bodyPr wrap="square"/>
                    <a:lstStyle/>
                    <a:p>
                      <a:pPr algn="l"/>
                      <a:r>
                        <a:rPr sz="900">
                          <a:solidFill>
                            <a:srgbClr val="333333"/>
                          </a:solidFill>
                          <a:latin typeface="Calibri"/>
                        </a:rPr>
                        <a:t>Crystals</a:t>
                      </a:r>
                    </a:p>
                  </a:txBody>
                  <a:tcPr>
                    <a:solidFill>
                      <a:srgbClr val="F2F2F2"/>
                    </a:solidFill>
                  </a:tcPr>
                </a:tc>
                <a:tc>
                  <a:txBody>
                    <a:bodyPr wrap="square"/>
                    <a:lstStyle/>
                    <a:p>
                      <a:pPr algn="l"/>
                      <a:r>
                        <a:rPr sz="900">
                          <a:solidFill>
                            <a:srgbClr val="333333"/>
                          </a:solidFill>
                          <a:latin typeface="Calibri"/>
                        </a:rPr>
                        <a:t>25</a:t>
                      </a:r>
                    </a:p>
                  </a:txBody>
                  <a:tcPr>
                    <a:solidFill>
                      <a:srgbClr val="F2F2F2"/>
                    </a:solidFill>
                  </a:tcPr>
                </a:tc>
                <a:tc>
                  <a:txBody>
                    <a:bodyPr wrap="square"/>
                    <a:lstStyle/>
                    <a:p>
                      <a:pPr algn="l"/>
                      <a:r>
                        <a:rPr sz="900">
                          <a:solidFill>
                            <a:srgbClr val="333333"/>
                          </a:solidFill>
                          <a:latin typeface="Calibri"/>
                        </a:rPr>
                        <a:t>Mar (2.11x)</a:t>
                      </a:r>
                    </a:p>
                  </a:txBody>
                  <a:tcPr>
                    <a:solidFill>
                      <a:srgbClr val="F2F2F2"/>
                    </a:solidFill>
                  </a:tcPr>
                </a:tc>
                <a:tc>
                  <a:txBody>
                    <a:bodyPr wrap="square"/>
                    <a:lstStyle/>
                    <a:p>
                      <a:pPr algn="l"/>
                      <a:r>
                        <a:rPr sz="900">
                          <a:solidFill>
                            <a:srgbClr val="333333"/>
                          </a:solidFill>
                          <a:latin typeface="Calibri"/>
                        </a:rPr>
                        <a:t>Jan, Mar, Apr, Oct, Dec</a:t>
                      </a:r>
                    </a:p>
                  </a:txBody>
                  <a:tcPr>
                    <a:solidFill>
                      <a:srgbClr val="F2F2F2"/>
                    </a:solidFill>
                  </a:tcPr>
                </a:tc>
              </a:tr>
              <a:tr h="302260">
                <a:tc>
                  <a:txBody>
                    <a:bodyPr wrap="square"/>
                    <a:lstStyle/>
                    <a:p>
                      <a:pPr algn="l"/>
                      <a:r>
                        <a:rPr sz="900">
                          <a:solidFill>
                            <a:srgbClr val="333333"/>
                          </a:solidFill>
                          <a:latin typeface="Calibri"/>
                        </a:rPr>
                        <a:t>Litter Accessories</a:t>
                      </a:r>
                    </a:p>
                  </a:txBody>
                  <a:tcPr>
                    <a:solidFill>
                      <a:srgbClr val="FFFFFF"/>
                    </a:solidFill>
                  </a:tcPr>
                </a:tc>
                <a:tc>
                  <a:txBody>
                    <a:bodyPr wrap="square"/>
                    <a:lstStyle/>
                    <a:p>
                      <a:pPr algn="l"/>
                      <a:r>
                        <a:rPr sz="900">
                          <a:solidFill>
                            <a:srgbClr val="333333"/>
                          </a:solidFill>
                          <a:latin typeface="Calibri"/>
                        </a:rPr>
                        <a:t>Litter Box Liners</a:t>
                      </a:r>
                    </a:p>
                  </a:txBody>
                  <a:tcPr>
                    <a:solidFill>
                      <a:srgbClr val="FFFFFF"/>
                    </a:solidFill>
                  </a:tcPr>
                </a:tc>
                <a:tc>
                  <a:txBody>
                    <a:bodyPr wrap="square"/>
                    <a:lstStyle/>
                    <a:p>
                      <a:pPr algn="l"/>
                      <a:r>
                        <a:rPr sz="900">
                          <a:solidFill>
                            <a:srgbClr val="333333"/>
                          </a:solidFill>
                          <a:latin typeface="Calibri"/>
                        </a:rPr>
                        <a:t>20</a:t>
                      </a:r>
                    </a:p>
                  </a:txBody>
                  <a:tcPr>
                    <a:solidFill>
                      <a:srgbClr val="FFFFFF"/>
                    </a:solidFill>
                  </a:tcPr>
                </a:tc>
                <a:tc>
                  <a:txBody>
                    <a:bodyPr wrap="square"/>
                    <a:lstStyle/>
                    <a:p>
                      <a:pPr algn="l"/>
                      <a:r>
                        <a:rPr sz="900">
                          <a:solidFill>
                            <a:srgbClr val="333333"/>
                          </a:solidFill>
                          <a:latin typeface="Calibri"/>
                        </a:rPr>
                        <a:t>Nov (1.49x)</a:t>
                      </a:r>
                    </a:p>
                  </a:txBody>
                  <a:tcPr>
                    <a:solidFill>
                      <a:srgbClr val="FFFFFF"/>
                    </a:solidFill>
                  </a:tcPr>
                </a:tc>
                <a:tc>
                  <a:txBody>
                    <a:bodyPr wrap="square"/>
                    <a:lstStyle/>
                    <a:p>
                      <a:pPr algn="l"/>
                      <a:r>
                        <a:rPr sz="900">
                          <a:solidFill>
                            <a:srgbClr val="333333"/>
                          </a:solidFill>
                          <a:latin typeface="Calibri"/>
                        </a:rPr>
                        <a:t>Jan, Feb, Mar, Apr, Oct, Nov</a:t>
                      </a:r>
                    </a:p>
                  </a:txBody>
                  <a:tcPr>
                    <a:solidFill>
                      <a:srgbClr val="FFFFFF"/>
                    </a:solidFill>
                  </a:tcPr>
                </a:tc>
              </a:tr>
              <a:tr h="302260">
                <a:tc>
                  <a:txBody>
                    <a:bodyPr wrap="square"/>
                    <a:lstStyle/>
                    <a:p>
                      <a:pPr algn="l"/>
                      <a:r>
                        <a:rPr sz="900">
                          <a:solidFill>
                            <a:srgbClr val="333333"/>
                          </a:solidFill>
                          <a:latin typeface="Calibri"/>
                        </a:rPr>
                        <a:t>Treats &amp; Chews</a:t>
                      </a:r>
                    </a:p>
                  </a:txBody>
                  <a:tcPr>
                    <a:solidFill>
                      <a:srgbClr val="F2F2F2"/>
                    </a:solidFill>
                  </a:tcPr>
                </a:tc>
                <a:tc>
                  <a:txBody>
                    <a:bodyPr wrap="square"/>
                    <a:lstStyle/>
                    <a:p>
                      <a:pPr algn="l"/>
                      <a:r>
                        <a:rPr sz="900">
                          <a:solidFill>
                            <a:srgbClr val="333333"/>
                          </a:solidFill>
                          <a:latin typeface="Calibri"/>
                        </a:rPr>
                        <a:t>Dental Chew</a:t>
                      </a:r>
                    </a:p>
                  </a:txBody>
                  <a:tcPr>
                    <a:solidFill>
                      <a:srgbClr val="F2F2F2"/>
                    </a:solidFill>
                  </a:tcPr>
                </a:tc>
                <a:tc>
                  <a:txBody>
                    <a:bodyPr wrap="square"/>
                    <a:lstStyle/>
                    <a:p>
                      <a:pPr algn="l"/>
                      <a:r>
                        <a:rPr sz="900">
                          <a:solidFill>
                            <a:srgbClr val="333333"/>
                          </a:solidFill>
                          <a:latin typeface="Calibri"/>
                        </a:rPr>
                        <a:t>20</a:t>
                      </a:r>
                    </a:p>
                  </a:txBody>
                  <a:tcPr>
                    <a:solidFill>
                      <a:srgbClr val="F2F2F2"/>
                    </a:solidFill>
                  </a:tcPr>
                </a:tc>
                <a:tc>
                  <a:txBody>
                    <a:bodyPr wrap="square"/>
                    <a:lstStyle/>
                    <a:p>
                      <a:pPr algn="l"/>
                      <a:r>
                        <a:rPr sz="900">
                          <a:solidFill>
                            <a:srgbClr val="333333"/>
                          </a:solidFill>
                          <a:latin typeface="Calibri"/>
                        </a:rPr>
                        <a:t>Oct (1.71x)</a:t>
                      </a:r>
                    </a:p>
                  </a:txBody>
                  <a:tcPr>
                    <a:solidFill>
                      <a:srgbClr val="F2F2F2"/>
                    </a:solidFill>
                  </a:tcPr>
                </a:tc>
                <a:tc>
                  <a:txBody>
                    <a:bodyPr wrap="square"/>
                    <a:lstStyle/>
                    <a:p>
                      <a:pPr algn="l"/>
                      <a:r>
                        <a:rPr sz="900">
                          <a:solidFill>
                            <a:srgbClr val="333333"/>
                          </a:solidFill>
                          <a:latin typeface="Calibri"/>
                        </a:rPr>
                        <a:t>Jan, Mar, Apr, May, Oct, Nov</a:t>
                      </a:r>
                    </a:p>
                  </a:txBody>
                  <a:tcPr>
                    <a:solidFill>
                      <a:srgbClr val="F2F2F2"/>
                    </a:solidFill>
                  </a:tcPr>
                </a:tc>
              </a:tr>
              <a:tr h="302260">
                <a:tc>
                  <a:txBody>
                    <a:bodyPr wrap="square"/>
                    <a:lstStyle/>
                    <a:p>
                      <a:pPr algn="l"/>
                      <a:r>
                        <a:rPr sz="900">
                          <a:solidFill>
                            <a:srgbClr val="333333"/>
                          </a:solidFill>
                          <a:latin typeface="Calibri"/>
                        </a:rPr>
                        <a:t>Treats &amp; Chews</a:t>
                      </a:r>
                    </a:p>
                  </a:txBody>
                  <a:tcPr>
                    <a:solidFill>
                      <a:srgbClr val="FFFFFF"/>
                    </a:solidFill>
                  </a:tcPr>
                </a:tc>
                <a:tc>
                  <a:txBody>
                    <a:bodyPr wrap="square"/>
                    <a:lstStyle/>
                    <a:p>
                      <a:pPr algn="l"/>
                      <a:r>
                        <a:rPr sz="900">
                          <a:solidFill>
                            <a:srgbClr val="333333"/>
                          </a:solidFill>
                          <a:latin typeface="Calibri"/>
                        </a:rPr>
                        <a:t>Treats</a:t>
                      </a:r>
                    </a:p>
                  </a:txBody>
                  <a:tcPr>
                    <a:solidFill>
                      <a:srgbClr val="FFFFFF"/>
                    </a:solidFill>
                  </a:tcPr>
                </a:tc>
                <a:tc>
                  <a:txBody>
                    <a:bodyPr wrap="square"/>
                    <a:lstStyle/>
                    <a:p>
                      <a:pPr algn="l"/>
                      <a:r>
                        <a:rPr sz="900">
                          <a:solidFill>
                            <a:srgbClr val="333333"/>
                          </a:solidFill>
                          <a:latin typeface="Calibri"/>
                        </a:rPr>
                        <a:t>40</a:t>
                      </a:r>
                    </a:p>
                  </a:txBody>
                  <a:tcPr>
                    <a:solidFill>
                      <a:srgbClr val="FFFFFF"/>
                    </a:solidFill>
                  </a:tcPr>
                </a:tc>
                <a:tc>
                  <a:txBody>
                    <a:bodyPr wrap="square"/>
                    <a:lstStyle/>
                    <a:p>
                      <a:pPr algn="l"/>
                      <a:r>
                        <a:rPr sz="900">
                          <a:solidFill>
                            <a:srgbClr val="333333"/>
                          </a:solidFill>
                          <a:latin typeface="Calibri"/>
                        </a:rPr>
                        <a:t>Apr (1.82x)</a:t>
                      </a:r>
                    </a:p>
                  </a:txBody>
                  <a:tcPr>
                    <a:solidFill>
                      <a:srgbClr val="FFFFFF"/>
                    </a:solidFill>
                  </a:tcPr>
                </a:tc>
                <a:tc>
                  <a:txBody>
                    <a:bodyPr wrap="square"/>
                    <a:lstStyle/>
                    <a:p>
                      <a:pPr algn="l"/>
                      <a:r>
                        <a:rPr sz="900">
                          <a:solidFill>
                            <a:srgbClr val="333333"/>
                          </a:solidFill>
                          <a:latin typeface="Calibri"/>
                        </a:rPr>
                        <a:t>Jan, Feb, Apr, Oct, Nov, Dec</a:t>
                      </a:r>
                    </a:p>
                  </a:txBody>
                  <a:tcPr>
                    <a:solidFill>
                      <a:srgbClr val="FFFFFF"/>
                    </a:solidFill>
                  </a:tcPr>
                </a:tc>
              </a:tr>
              <a:tr h="302260">
                <a:tc>
                  <a:txBody>
                    <a:bodyPr wrap="square"/>
                    <a:lstStyle/>
                    <a:p>
                      <a:pPr algn="l"/>
                      <a:r>
                        <a:rPr sz="900">
                          <a:solidFill>
                            <a:srgbClr val="333333"/>
                          </a:solidFill>
                          <a:latin typeface="Calibri"/>
                        </a:rPr>
                        <a:t>Waste Management</a:t>
                      </a:r>
                    </a:p>
                  </a:txBody>
                  <a:tcPr>
                    <a:solidFill>
                      <a:srgbClr val="F2F2F2"/>
                    </a:solidFill>
                  </a:tcPr>
                </a:tc>
                <a:tc>
                  <a:txBody>
                    <a:bodyPr wrap="square"/>
                    <a:lstStyle/>
                    <a:p>
                      <a:pPr algn="l"/>
                      <a:r>
                        <a:rPr sz="900">
                          <a:solidFill>
                            <a:srgbClr val="333333"/>
                          </a:solidFill>
                          <a:latin typeface="Calibri"/>
                        </a:rPr>
                        <a:t>Diapers/Wraps</a:t>
                      </a:r>
                    </a:p>
                  </a:txBody>
                  <a:tcPr>
                    <a:solidFill>
                      <a:srgbClr val="F2F2F2"/>
                    </a:solidFill>
                  </a:tcPr>
                </a:tc>
                <a:tc>
                  <a:txBody>
                    <a:bodyPr wrap="square"/>
                    <a:lstStyle/>
                    <a:p>
                      <a:pPr algn="l"/>
                      <a:r>
                        <a:rPr sz="900">
                          <a:solidFill>
                            <a:srgbClr val="333333"/>
                          </a:solidFill>
                          <a:latin typeface="Calibri"/>
                        </a:rPr>
                        <a:t>30</a:t>
                      </a:r>
                    </a:p>
                  </a:txBody>
                  <a:tcPr>
                    <a:solidFill>
                      <a:srgbClr val="F2F2F2"/>
                    </a:solidFill>
                  </a:tcPr>
                </a:tc>
                <a:tc>
                  <a:txBody>
                    <a:bodyPr wrap="square"/>
                    <a:lstStyle/>
                    <a:p>
                      <a:pPr algn="l"/>
                      <a:r>
                        <a:rPr sz="900">
                          <a:solidFill>
                            <a:srgbClr val="333333"/>
                          </a:solidFill>
                          <a:latin typeface="Calibri"/>
                        </a:rPr>
                        <a:t>Nov (1.62x)</a:t>
                      </a:r>
                    </a:p>
                  </a:txBody>
                  <a:tcPr>
                    <a:solidFill>
                      <a:srgbClr val="F2F2F2"/>
                    </a:solidFill>
                  </a:tcPr>
                </a:tc>
                <a:tc>
                  <a:txBody>
                    <a:bodyPr wrap="square"/>
                    <a:lstStyle/>
                    <a:p>
                      <a:pPr algn="l"/>
                      <a:r>
                        <a:rPr sz="900">
                          <a:solidFill>
                            <a:srgbClr val="333333"/>
                          </a:solidFill>
                          <a:latin typeface="Calibri"/>
                        </a:rPr>
                        <a:t>Jan, Feb, Mar, Apr, Oct, Nov</a:t>
                      </a:r>
                    </a:p>
                  </a:txBody>
                  <a:tcPr>
                    <a:solidFill>
                      <a:srgbClr val="F2F2F2"/>
                    </a:solidFill>
                  </a:tcPr>
                </a:tc>
              </a:tr>
              <a:tr h="302260">
                <a:tc>
                  <a:txBody>
                    <a:bodyPr wrap="square"/>
                    <a:lstStyle/>
                    <a:p>
                      <a:pPr algn="l"/>
                      <a:r>
                        <a:rPr sz="900">
                          <a:solidFill>
                            <a:srgbClr val="333333"/>
                          </a:solidFill>
                          <a:latin typeface="Calibri"/>
                        </a:rPr>
                        <a:t>Waste Management</a:t>
                      </a:r>
                    </a:p>
                  </a:txBody>
                  <a:tcPr>
                    <a:solidFill>
                      <a:srgbClr val="FFFFFF"/>
                    </a:solidFill>
                  </a:tcPr>
                </a:tc>
                <a:tc>
                  <a:txBody>
                    <a:bodyPr wrap="square"/>
                    <a:lstStyle/>
                    <a:p>
                      <a:pPr algn="l"/>
                      <a:r>
                        <a:rPr sz="900">
                          <a:solidFill>
                            <a:srgbClr val="333333"/>
                          </a:solidFill>
                          <a:latin typeface="Calibri"/>
                        </a:rPr>
                        <a:t>Training Pads</a:t>
                      </a:r>
                    </a:p>
                  </a:txBody>
                  <a:tcPr>
                    <a:solidFill>
                      <a:srgbClr val="FFFFFF"/>
                    </a:solidFill>
                  </a:tcPr>
                </a:tc>
                <a:tc>
                  <a:txBody>
                    <a:bodyPr wrap="square"/>
                    <a:lstStyle/>
                    <a:p>
                      <a:pPr algn="l"/>
                      <a:r>
                        <a:rPr sz="900">
                          <a:solidFill>
                            <a:srgbClr val="333333"/>
                          </a:solidFill>
                          <a:latin typeface="Calibri"/>
                        </a:rPr>
                        <a:t>56</a:t>
                      </a:r>
                    </a:p>
                  </a:txBody>
                  <a:tcPr>
                    <a:solidFill>
                      <a:srgbClr val="FFFFFF"/>
                    </a:solidFill>
                  </a:tcPr>
                </a:tc>
                <a:tc>
                  <a:txBody>
                    <a:bodyPr wrap="square"/>
                    <a:lstStyle/>
                    <a:p>
                      <a:pPr algn="l"/>
                      <a:r>
                        <a:rPr sz="900">
                          <a:solidFill>
                            <a:srgbClr val="333333"/>
                          </a:solidFill>
                          <a:latin typeface="Calibri"/>
                        </a:rPr>
                        <a:t>Feb (1.38x)</a:t>
                      </a:r>
                    </a:p>
                  </a:txBody>
                  <a:tcPr>
                    <a:solidFill>
                      <a:srgbClr val="FFFFFF"/>
                    </a:solidFill>
                  </a:tcPr>
                </a:tc>
                <a:tc>
                  <a:txBody>
                    <a:bodyPr wrap="square"/>
                    <a:lstStyle/>
                    <a:p>
                      <a:pPr algn="l"/>
                      <a:r>
                        <a:rPr sz="900">
                          <a:solidFill>
                            <a:srgbClr val="333333"/>
                          </a:solidFill>
                          <a:latin typeface="Calibri"/>
                        </a:rPr>
                        <a:t>Jan, Feb, Mar, Apr, Oct, Nov, Dec</a:t>
                      </a:r>
                    </a:p>
                  </a:txBody>
                  <a:tcPr>
                    <a:solidFill>
                      <a:srgbClr val="FFFFFF"/>
                    </a:solidFill>
                  </a:tcPr>
                </a:tc>
              </a:tr>
            </a:tbl>
          </a:graphicData>
        </a:graphic>
      </p:graphicFrame>
      <p:sp>
        <p:nvSpPr>
          <p:cNvPr id="7" name="TextBox 6"/>
          <p:cNvSpPr txBox="1"/>
          <p:nvPr/>
        </p:nvSpPr>
        <p:spPr>
          <a:xfrm>
            <a:off x="457200" y="6446520"/>
            <a:ext cx="11277295" cy="182880"/>
          </a:xfrm>
          <a:prstGeom prst="rect">
            <a:avLst/>
          </a:prstGeom>
          <a:noFill/>
        </p:spPr>
        <p:txBody>
          <a:bodyPr wrap="square" lIns="45720" rIns="45720" tIns="18288" bIns="18288" anchor="t">
            <a:spAutoFit/>
          </a:bodyPr>
          <a:lstStyle/>
          <a:p>
            <a:pPr algn="l"/>
            <a:r>
              <a:rPr sz="900" b="0">
                <a:solidFill>
                  <a:srgbClr val="666666"/>
                </a:solidFill>
                <a:latin typeface="Calibri"/>
              </a:rPr>
              <a:t>SKUs = number of consistent SKUs in that subcategory. Floor=1.0 — only LIFTS, never cuts.</a:t>
            </a:r>
          </a:p>
        </p:txBody>
      </p:sp>
      <p:sp>
        <p:nvSpPr>
          <p:cNvPr id="8" name="TextBox 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10 / 35</a:t>
            </a:r>
          </a:p>
        </p:txBody>
      </p:sp>
      <p:sp>
        <p:nvSpPr>
          <p:cNvPr id="9" name="TextBox 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Priority 4 — Keyword fallback profiles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Hand-curated patterns for items that don't have structured category tags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14400"/>
            <a:ext cx="11277295" cy="502920"/>
          </a:xfrm>
          <a:prstGeom prst="rect">
            <a:avLst/>
          </a:prstGeom>
          <a:noFill/>
        </p:spPr>
        <p:txBody>
          <a:bodyPr wrap="square" lIns="45720" rIns="45720" tIns="18288" bIns="18288" anchor="t">
            <a:spAutoFit/>
          </a:bodyPr>
          <a:lstStyle/>
          <a:p>
            <a:pPr algn="l"/>
            <a:r>
              <a:rPr sz="1100" b="0">
                <a:solidFill>
                  <a:srgbClr val="333333"/>
                </a:solidFill>
                <a:latin typeface="Calibri"/>
              </a:rPr>
              <a:t>When an item has no Season tag and its category/subcategory hasn't qualified for a data-derived profile, the tool checks the description text against these keyword groups. First match wins. Each group has its own 12-month profile floored at 1.0.</a:t>
            </a:r>
          </a:p>
        </p:txBody>
      </p:sp>
      <p:graphicFrame>
        <p:nvGraphicFramePr>
          <p:cNvPr id="7" name="Table 6"/>
          <p:cNvGraphicFramePr>
            <a:graphicFrameLocks noGrp="1"/>
          </p:cNvGraphicFramePr>
          <p:nvPr/>
        </p:nvGraphicFramePr>
        <p:xfrm>
          <a:off x="457200" y="1691640"/>
          <a:ext cx="11277295" cy="4114800"/>
        </p:xfrm>
        <a:graphic>
          <a:graphicData uri="http://schemas.openxmlformats.org/drawingml/2006/table">
            <a:tbl>
              <a:tblPr firstRow="1" bandRow="1">
                <a:tableStyleId>{5C22544A-7EE6-4342-B048-85BDC9FD1C3A}</a:tableStyleId>
              </a:tblPr>
              <a:tblGrid>
                <a:gridCol w="2819323"/>
                <a:gridCol w="2819323"/>
                <a:gridCol w="2819323"/>
                <a:gridCol w="2819326"/>
              </a:tblGrid>
              <a:tr h="514350">
                <a:tc>
                  <a:txBody>
                    <a:bodyPr/>
                    <a:lstStyle/>
                    <a:p>
                      <a:pPr algn="l"/>
                      <a:r>
                        <a:rPr b="1" sz="1100">
                          <a:solidFill>
                            <a:srgbClr val="FFFFFF"/>
                          </a:solidFill>
                          <a:latin typeface="Calibri"/>
                        </a:rPr>
                        <a:t>Group</a:t>
                      </a:r>
                    </a:p>
                  </a:txBody>
                  <a:tcPr>
                    <a:solidFill>
                      <a:srgbClr val="1F3A5F"/>
                    </a:solidFill>
                  </a:tcPr>
                </a:tc>
                <a:tc>
                  <a:txBody>
                    <a:bodyPr/>
                    <a:lstStyle/>
                    <a:p>
                      <a:pPr algn="l"/>
                      <a:r>
                        <a:rPr b="1" sz="1100">
                          <a:solidFill>
                            <a:srgbClr val="FFFFFF"/>
                          </a:solidFill>
                          <a:latin typeface="Calibri"/>
                        </a:rPr>
                        <a:t>Keywords (case-insensitive)</a:t>
                      </a:r>
                    </a:p>
                  </a:txBody>
                  <a:tcPr>
                    <a:solidFill>
                      <a:srgbClr val="1F3A5F"/>
                    </a:solidFill>
                  </a:tcPr>
                </a:tc>
                <a:tc>
                  <a:txBody>
                    <a:bodyPr/>
                    <a:lstStyle/>
                    <a:p>
                      <a:pPr algn="l"/>
                      <a:r>
                        <a:rPr b="1" sz="1100">
                          <a:solidFill>
                            <a:srgbClr val="FFFFFF"/>
                          </a:solidFill>
                          <a:latin typeface="Calibri"/>
                        </a:rPr>
                        <a:t>Order window</a:t>
                      </a:r>
                    </a:p>
                  </a:txBody>
                  <a:tcPr>
                    <a:solidFill>
                      <a:srgbClr val="1F3A5F"/>
                    </a:solidFill>
                  </a:tcPr>
                </a:tc>
                <a:tc>
                  <a:txBody>
                    <a:bodyPr/>
                    <a:lstStyle/>
                    <a:p>
                      <a:pPr algn="l"/>
                      <a:r>
                        <a:rPr b="1" sz="1100">
                          <a:solidFill>
                            <a:srgbClr val="FFFFFF"/>
                          </a:solidFill>
                          <a:latin typeface="Calibri"/>
                        </a:rPr>
                        <a:t>Order peak</a:t>
                      </a:r>
                    </a:p>
                  </a:txBody>
                  <a:tcPr>
                    <a:solidFill>
                      <a:srgbClr val="1F3A5F"/>
                    </a:solidFill>
                  </a:tcPr>
                </a:tc>
              </a:tr>
              <a:tr h="514350">
                <a:tc>
                  <a:txBody>
                    <a:bodyPr wrap="square"/>
                    <a:lstStyle/>
                    <a:p>
                      <a:pPr algn="l"/>
                      <a:r>
                        <a:rPr sz="900">
                          <a:solidFill>
                            <a:srgbClr val="333333"/>
                          </a:solidFill>
                          <a:latin typeface="Calibri"/>
                        </a:rPr>
                        <a:t>Outdoor cooking / grilling</a:t>
                      </a:r>
                    </a:p>
                  </a:txBody>
                  <a:tcPr>
                    <a:solidFill>
                      <a:srgbClr val="FFFFFF"/>
                    </a:solidFill>
                  </a:tcPr>
                </a:tc>
                <a:tc>
                  <a:txBody>
                    <a:bodyPr wrap="square"/>
                    <a:lstStyle/>
                    <a:p>
                      <a:pPr algn="l"/>
                      <a:r>
                        <a:rPr sz="900">
                          <a:solidFill>
                            <a:srgbClr val="333333"/>
                          </a:solidFill>
                          <a:latin typeface="Calibri"/>
                        </a:rPr>
                        <a:t>charcoal · chimney · fire starter · lighter fluid · grill brush · grill cleaner · Kingsford · wooden fire</a:t>
                      </a:r>
                    </a:p>
                  </a:txBody>
                  <a:tcPr>
                    <a:solidFill>
                      <a:srgbClr val="FFFFFF"/>
                    </a:solidFill>
                  </a:tcPr>
                </a:tc>
                <a:tc>
                  <a:txBody>
                    <a:bodyPr wrap="square"/>
                    <a:lstStyle/>
                    <a:p>
                      <a:pPr algn="l"/>
                      <a:r>
                        <a:rPr sz="900">
                          <a:solidFill>
                            <a:srgbClr val="333333"/>
                          </a:solidFill>
                          <a:latin typeface="Calibri"/>
                        </a:rPr>
                        <a:t>Apr-Aug</a:t>
                      </a:r>
                    </a:p>
                  </a:txBody>
                  <a:tcPr>
                    <a:solidFill>
                      <a:srgbClr val="FFFFFF"/>
                    </a:solidFill>
                  </a:tcPr>
                </a:tc>
                <a:tc>
                  <a:txBody>
                    <a:bodyPr wrap="square"/>
                    <a:lstStyle/>
                    <a:p>
                      <a:pPr algn="l"/>
                      <a:r>
                        <a:rPr sz="900">
                          <a:solidFill>
                            <a:srgbClr val="333333"/>
                          </a:solidFill>
                          <a:latin typeface="Calibri"/>
                        </a:rPr>
                        <a:t>Jun (2.05x)</a:t>
                      </a:r>
                    </a:p>
                  </a:txBody>
                  <a:tcPr>
                    <a:solidFill>
                      <a:srgbClr val="FFFFFF"/>
                    </a:solidFill>
                  </a:tcPr>
                </a:tc>
              </a:tr>
              <a:tr h="514350">
                <a:tc>
                  <a:txBody>
                    <a:bodyPr wrap="square"/>
                    <a:lstStyle/>
                    <a:p>
                      <a:pPr algn="l"/>
                      <a:r>
                        <a:rPr sz="900">
                          <a:solidFill>
                            <a:srgbClr val="333333"/>
                          </a:solidFill>
                          <a:latin typeface="Calibri"/>
                        </a:rPr>
                        <a:t>Pest control / repellent</a:t>
                      </a:r>
                    </a:p>
                  </a:txBody>
                  <a:tcPr>
                    <a:solidFill>
                      <a:srgbClr val="F2F2F2"/>
                    </a:solidFill>
                  </a:tcPr>
                </a:tc>
                <a:tc>
                  <a:txBody>
                    <a:bodyPr wrap="square"/>
                    <a:lstStyle/>
                    <a:p>
                      <a:pPr algn="l"/>
                      <a:r>
                        <a:rPr sz="900">
                          <a:solidFill>
                            <a:srgbClr val="333333"/>
                          </a:solidFill>
                          <a:latin typeface="Calibri"/>
                        </a:rPr>
                        <a:t>mosquito · insect repel · bug repel</a:t>
                      </a:r>
                    </a:p>
                  </a:txBody>
                  <a:tcPr>
                    <a:solidFill>
                      <a:srgbClr val="F2F2F2"/>
                    </a:solidFill>
                  </a:tcPr>
                </a:tc>
                <a:tc>
                  <a:txBody>
                    <a:bodyPr wrap="square"/>
                    <a:lstStyle/>
                    <a:p>
                      <a:pPr algn="l"/>
                      <a:r>
                        <a:rPr sz="900">
                          <a:solidFill>
                            <a:srgbClr val="333333"/>
                          </a:solidFill>
                          <a:latin typeface="Calibri"/>
                        </a:rPr>
                        <a:t>May-Sep</a:t>
                      </a:r>
                    </a:p>
                  </a:txBody>
                  <a:tcPr>
                    <a:solidFill>
                      <a:srgbClr val="F2F2F2"/>
                    </a:solidFill>
                  </a:tcPr>
                </a:tc>
                <a:tc>
                  <a:txBody>
                    <a:bodyPr wrap="square"/>
                    <a:lstStyle/>
                    <a:p>
                      <a:pPr algn="l"/>
                      <a:r>
                        <a:rPr sz="900">
                          <a:solidFill>
                            <a:srgbClr val="333333"/>
                          </a:solidFill>
                          <a:latin typeface="Calibri"/>
                        </a:rPr>
                        <a:t>Jul (2.05x)</a:t>
                      </a:r>
                    </a:p>
                  </a:txBody>
                  <a:tcPr>
                    <a:solidFill>
                      <a:srgbClr val="F2F2F2"/>
                    </a:solidFill>
                  </a:tcPr>
                </a:tc>
              </a:tr>
              <a:tr h="514350">
                <a:tc>
                  <a:txBody>
                    <a:bodyPr wrap="square"/>
                    <a:lstStyle/>
                    <a:p>
                      <a:pPr algn="l"/>
                      <a:r>
                        <a:rPr sz="900">
                          <a:solidFill>
                            <a:srgbClr val="333333"/>
                          </a:solidFill>
                          <a:latin typeface="Calibri"/>
                        </a:rPr>
                        <a:t>Sun care</a:t>
                      </a:r>
                    </a:p>
                  </a:txBody>
                  <a:tcPr>
                    <a:solidFill>
                      <a:srgbClr val="FFFFFF"/>
                    </a:solidFill>
                  </a:tcPr>
                </a:tc>
                <a:tc>
                  <a:txBody>
                    <a:bodyPr wrap="square"/>
                    <a:lstStyle/>
                    <a:p>
                      <a:pPr algn="l"/>
                      <a:r>
                        <a:rPr sz="900">
                          <a:solidFill>
                            <a:srgbClr val="333333"/>
                          </a:solidFill>
                          <a:latin typeface="Calibri"/>
                        </a:rPr>
                        <a:t>sunscreen · sun care · sunblock</a:t>
                      </a:r>
                    </a:p>
                  </a:txBody>
                  <a:tcPr>
                    <a:solidFill>
                      <a:srgbClr val="FFFFFF"/>
                    </a:solidFill>
                  </a:tcPr>
                </a:tc>
                <a:tc>
                  <a:txBody>
                    <a:bodyPr wrap="square"/>
                    <a:lstStyle/>
                    <a:p>
                      <a:pPr algn="l"/>
                      <a:r>
                        <a:rPr sz="900">
                          <a:solidFill>
                            <a:srgbClr val="333333"/>
                          </a:solidFill>
                          <a:latin typeface="Calibri"/>
                        </a:rPr>
                        <a:t>May-Aug</a:t>
                      </a:r>
                    </a:p>
                  </a:txBody>
                  <a:tcPr>
                    <a:solidFill>
                      <a:srgbClr val="FFFFFF"/>
                    </a:solidFill>
                  </a:tcPr>
                </a:tc>
                <a:tc>
                  <a:txBody>
                    <a:bodyPr wrap="square"/>
                    <a:lstStyle/>
                    <a:p>
                      <a:pPr algn="l"/>
                      <a:r>
                        <a:rPr sz="900">
                          <a:solidFill>
                            <a:srgbClr val="333333"/>
                          </a:solidFill>
                          <a:latin typeface="Calibri"/>
                        </a:rPr>
                        <a:t>Jun-Jul (2.05x)</a:t>
                      </a:r>
                    </a:p>
                  </a:txBody>
                  <a:tcPr>
                    <a:solidFill>
                      <a:srgbClr val="FFFFFF"/>
                    </a:solidFill>
                  </a:tcPr>
                </a:tc>
              </a:tr>
              <a:tr h="514350">
                <a:tc>
                  <a:txBody>
                    <a:bodyPr wrap="square"/>
                    <a:lstStyle/>
                    <a:p>
                      <a:pPr algn="l"/>
                      <a:r>
                        <a:rPr sz="900">
                          <a:solidFill>
                            <a:srgbClr val="333333"/>
                          </a:solidFill>
                          <a:latin typeface="Calibri"/>
                        </a:rPr>
                        <a:t>Home fragrance / air-care</a:t>
                      </a:r>
                    </a:p>
                  </a:txBody>
                  <a:tcPr>
                    <a:solidFill>
                      <a:srgbClr val="F2F2F2"/>
                    </a:solidFill>
                  </a:tcPr>
                </a:tc>
                <a:tc>
                  <a:txBody>
                    <a:bodyPr wrap="square"/>
                    <a:lstStyle/>
                    <a:p>
                      <a:pPr algn="l"/>
                      <a:r>
                        <a:rPr sz="900">
                          <a:solidFill>
                            <a:srgbClr val="333333"/>
                          </a:solidFill>
                          <a:latin typeface="Calibri"/>
                        </a:rPr>
                        <a:t>air freshener · deodorizing ball · scent booster · Fraganzia</a:t>
                      </a:r>
                    </a:p>
                  </a:txBody>
                  <a:tcPr>
                    <a:solidFill>
                      <a:srgbClr val="F2F2F2"/>
                    </a:solidFill>
                  </a:tcPr>
                </a:tc>
                <a:tc>
                  <a:txBody>
                    <a:bodyPr wrap="square"/>
                    <a:lstStyle/>
                    <a:p>
                      <a:pPr algn="l"/>
                      <a:r>
                        <a:rPr sz="900">
                          <a:solidFill>
                            <a:srgbClr val="333333"/>
                          </a:solidFill>
                          <a:latin typeface="Calibri"/>
                        </a:rPr>
                        <a:t>Apr-Aug</a:t>
                      </a:r>
                    </a:p>
                  </a:txBody>
                  <a:tcPr>
                    <a:solidFill>
                      <a:srgbClr val="F2F2F2"/>
                    </a:solidFill>
                  </a:tcPr>
                </a:tc>
                <a:tc>
                  <a:txBody>
                    <a:bodyPr wrap="square"/>
                    <a:lstStyle/>
                    <a:p>
                      <a:pPr algn="l"/>
                      <a:r>
                        <a:rPr sz="900">
                          <a:solidFill>
                            <a:srgbClr val="333333"/>
                          </a:solidFill>
                          <a:latin typeface="Calibri"/>
                        </a:rPr>
                        <a:t>Jun (1.35x)</a:t>
                      </a:r>
                    </a:p>
                  </a:txBody>
                  <a:tcPr>
                    <a:solidFill>
                      <a:srgbClr val="F2F2F2"/>
                    </a:solidFill>
                  </a:tcPr>
                </a:tc>
              </a:tr>
              <a:tr h="514350">
                <a:tc>
                  <a:txBody>
                    <a:bodyPr wrap="square"/>
                    <a:lstStyle/>
                    <a:p>
                      <a:pPr algn="l"/>
                      <a:r>
                        <a:rPr sz="900">
                          <a:solidFill>
                            <a:srgbClr val="333333"/>
                          </a:solidFill>
                          <a:latin typeface="Calibri"/>
                        </a:rPr>
                        <a:t>Outdoor party disposables</a:t>
                      </a:r>
                    </a:p>
                  </a:txBody>
                  <a:tcPr>
                    <a:solidFill>
                      <a:srgbClr val="FFFFFF"/>
                    </a:solidFill>
                  </a:tcPr>
                </a:tc>
                <a:tc>
                  <a:txBody>
                    <a:bodyPr wrap="square"/>
                    <a:lstStyle/>
                    <a:p>
                      <a:pPr algn="l"/>
                      <a:r>
                        <a:rPr sz="900">
                          <a:solidFill>
                            <a:srgbClr val="333333"/>
                          </a:solidFill>
                          <a:latin typeface="Calibri"/>
                        </a:rPr>
                        <a:t>snack bowl · paper bowl · paper plate · paper cup</a:t>
                      </a:r>
                    </a:p>
                  </a:txBody>
                  <a:tcPr>
                    <a:solidFill>
                      <a:srgbClr val="FFFFFF"/>
                    </a:solidFill>
                  </a:tcPr>
                </a:tc>
                <a:tc>
                  <a:txBody>
                    <a:bodyPr wrap="square"/>
                    <a:lstStyle/>
                    <a:p>
                      <a:pPr algn="l"/>
                      <a:r>
                        <a:rPr sz="900">
                          <a:solidFill>
                            <a:srgbClr val="333333"/>
                          </a:solidFill>
                          <a:latin typeface="Calibri"/>
                        </a:rPr>
                        <a:t>Apr-Aug</a:t>
                      </a:r>
                    </a:p>
                  </a:txBody>
                  <a:tcPr>
                    <a:solidFill>
                      <a:srgbClr val="FFFFFF"/>
                    </a:solidFill>
                  </a:tcPr>
                </a:tc>
                <a:tc>
                  <a:txBody>
                    <a:bodyPr wrap="square"/>
                    <a:lstStyle/>
                    <a:p>
                      <a:pPr algn="l"/>
                      <a:r>
                        <a:rPr sz="900">
                          <a:solidFill>
                            <a:srgbClr val="333333"/>
                          </a:solidFill>
                          <a:latin typeface="Calibri"/>
                        </a:rPr>
                        <a:t>Jun (1.65x)</a:t>
                      </a:r>
                    </a:p>
                  </a:txBody>
                  <a:tcPr>
                    <a:solidFill>
                      <a:srgbClr val="FFFFFF"/>
                    </a:solidFill>
                  </a:tcPr>
                </a:tc>
              </a:tr>
              <a:tr h="514350">
                <a:tc>
                  <a:txBody>
                    <a:bodyPr wrap="square"/>
                    <a:lstStyle/>
                    <a:p>
                      <a:pPr algn="l"/>
                      <a:r>
                        <a:rPr sz="900">
                          <a:solidFill>
                            <a:srgbClr val="333333"/>
                          </a:solidFill>
                          <a:latin typeface="Calibri"/>
                        </a:rPr>
                        <a:t>Holiday / Christmas</a:t>
                      </a:r>
                    </a:p>
                  </a:txBody>
                  <a:tcPr>
                    <a:solidFill>
                      <a:srgbClr val="F2F2F2"/>
                    </a:solidFill>
                  </a:tcPr>
                </a:tc>
                <a:tc>
                  <a:txBody>
                    <a:bodyPr wrap="square"/>
                    <a:lstStyle/>
                    <a:p>
                      <a:pPr algn="l"/>
                      <a:r>
                        <a:rPr sz="900">
                          <a:solidFill>
                            <a:srgbClr val="333333"/>
                          </a:solidFill>
                          <a:latin typeface="Calibri"/>
                        </a:rPr>
                        <a:t>holiday · christmas</a:t>
                      </a:r>
                    </a:p>
                  </a:txBody>
                  <a:tcPr>
                    <a:solidFill>
                      <a:srgbClr val="F2F2F2"/>
                    </a:solidFill>
                  </a:tcPr>
                </a:tc>
                <a:tc>
                  <a:txBody>
                    <a:bodyPr wrap="square"/>
                    <a:lstStyle/>
                    <a:p>
                      <a:pPr algn="l"/>
                      <a:r>
                        <a:rPr sz="900">
                          <a:solidFill>
                            <a:srgbClr val="333333"/>
                          </a:solidFill>
                          <a:latin typeface="Calibri"/>
                        </a:rPr>
                        <a:t>Sep-Jan</a:t>
                      </a:r>
                    </a:p>
                  </a:txBody>
                  <a:tcPr>
                    <a:solidFill>
                      <a:srgbClr val="F2F2F2"/>
                    </a:solidFill>
                  </a:tcPr>
                </a:tc>
                <a:tc>
                  <a:txBody>
                    <a:bodyPr wrap="square"/>
                    <a:lstStyle/>
                    <a:p>
                      <a:pPr algn="l"/>
                      <a:r>
                        <a:rPr sz="900">
                          <a:solidFill>
                            <a:srgbClr val="333333"/>
                          </a:solidFill>
                          <a:latin typeface="Calibri"/>
                        </a:rPr>
                        <a:t>Dec (2.50x)</a:t>
                      </a:r>
                    </a:p>
                  </a:txBody>
                  <a:tcPr>
                    <a:solidFill>
                      <a:srgbClr val="F2F2F2"/>
                    </a:solidFill>
                  </a:tcPr>
                </a:tc>
              </a:tr>
              <a:tr h="514350">
                <a:tc>
                  <a:txBody>
                    <a:bodyPr wrap="square"/>
                    <a:lstStyle/>
                    <a:p>
                      <a:pPr algn="l"/>
                      <a:r>
                        <a:rPr sz="900">
                          <a:solidFill>
                            <a:srgbClr val="333333"/>
                          </a:solidFill>
                          <a:latin typeface="Calibri"/>
                        </a:rPr>
                        <a:t>Ice melt / de-icer</a:t>
                      </a:r>
                    </a:p>
                  </a:txBody>
                  <a:tcPr>
                    <a:solidFill>
                      <a:srgbClr val="FFFFFF"/>
                    </a:solidFill>
                  </a:tcPr>
                </a:tc>
                <a:tc>
                  <a:txBody>
                    <a:bodyPr wrap="square"/>
                    <a:lstStyle/>
                    <a:p>
                      <a:pPr algn="l"/>
                      <a:r>
                        <a:rPr sz="900">
                          <a:solidFill>
                            <a:srgbClr val="333333"/>
                          </a:solidFill>
                          <a:latin typeface="Calibri"/>
                        </a:rPr>
                        <a:t>ice melt · de-icer</a:t>
                      </a:r>
                    </a:p>
                  </a:txBody>
                  <a:tcPr>
                    <a:solidFill>
                      <a:srgbClr val="FFFFFF"/>
                    </a:solidFill>
                  </a:tcPr>
                </a:tc>
                <a:tc>
                  <a:txBody>
                    <a:bodyPr wrap="square"/>
                    <a:lstStyle/>
                    <a:p>
                      <a:pPr algn="l"/>
                      <a:r>
                        <a:rPr sz="900">
                          <a:solidFill>
                            <a:srgbClr val="333333"/>
                          </a:solidFill>
                          <a:latin typeface="Calibri"/>
                        </a:rPr>
                        <a:t>Nov-Feb</a:t>
                      </a:r>
                    </a:p>
                  </a:txBody>
                  <a:tcPr>
                    <a:solidFill>
                      <a:srgbClr val="FFFFFF"/>
                    </a:solidFill>
                  </a:tcPr>
                </a:tc>
                <a:tc>
                  <a:txBody>
                    <a:bodyPr wrap="square"/>
                    <a:lstStyle/>
                    <a:p>
                      <a:pPr algn="l"/>
                      <a:r>
                        <a:rPr sz="900">
                          <a:solidFill>
                            <a:srgbClr val="333333"/>
                          </a:solidFill>
                          <a:latin typeface="Calibri"/>
                        </a:rPr>
                        <a:t>Dec (2.00x)</a:t>
                      </a:r>
                    </a:p>
                  </a:txBody>
                  <a:tcPr>
                    <a:solidFill>
                      <a:srgbClr val="FFFFFF"/>
                    </a:solidFill>
                  </a:tcPr>
                </a:tc>
              </a:tr>
            </a:tbl>
          </a:graphicData>
        </a:graphic>
      </p:graphicFrame>
      <p:sp>
        <p:nvSpPr>
          <p:cNvPr id="8" name="TextBox 7"/>
          <p:cNvSpPr txBox="1"/>
          <p:nvPr/>
        </p:nvSpPr>
        <p:spPr>
          <a:xfrm>
            <a:off x="457200" y="5989320"/>
            <a:ext cx="11277295" cy="411480"/>
          </a:xfrm>
          <a:prstGeom prst="rect">
            <a:avLst/>
          </a:prstGeom>
          <a:noFill/>
        </p:spPr>
        <p:txBody>
          <a:bodyPr wrap="square" lIns="45720" rIns="45720" tIns="18288" bIns="18288" anchor="t">
            <a:spAutoFit/>
          </a:bodyPr>
          <a:lstStyle/>
          <a:p>
            <a:pPr algn="l"/>
            <a:r>
              <a:rPr sz="1300" b="1">
                <a:solidFill>
                  <a:srgbClr val="1F3A5F"/>
                </a:solidFill>
                <a:latin typeface="Calibri"/>
              </a:rPr>
              <a:t>Why a fallback?</a:t>
            </a:r>
          </a:p>
        </p:txBody>
      </p:sp>
      <p:sp>
        <p:nvSpPr>
          <p:cNvPr id="9" name="TextBox 8"/>
          <p:cNvSpPr txBox="1"/>
          <p:nvPr/>
        </p:nvSpPr>
        <p:spPr>
          <a:xfrm>
            <a:off x="457200" y="6355080"/>
            <a:ext cx="11277295" cy="274320"/>
          </a:xfrm>
          <a:prstGeom prst="rect">
            <a:avLst/>
          </a:prstGeom>
          <a:noFill/>
        </p:spPr>
        <p:txBody>
          <a:bodyPr wrap="square" lIns="45720" rIns="45720" tIns="18288" bIns="18288" anchor="t">
            <a:spAutoFit/>
          </a:bodyPr>
          <a:lstStyle/>
          <a:p>
            <a:pPr algn="l"/>
            <a:r>
              <a:rPr sz="1000" b="0">
                <a:solidFill>
                  <a:srgbClr val="666666"/>
                </a:solidFill>
                <a:latin typeface="Calibri"/>
              </a:rPr>
              <a:t>Some items have legacy / sparse category data. Keyword match catches them by description text (e.g. 'Kingsford 16 lb Charcoal Bag' → grill profile).</a:t>
            </a:r>
          </a:p>
        </p:txBody>
      </p:sp>
      <p:sp>
        <p:nvSpPr>
          <p:cNvPr id="10" name="TextBox 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11 / 35</a:t>
            </a:r>
          </a:p>
        </p:txBody>
      </p:sp>
      <p:sp>
        <p:nvSpPr>
          <p:cNvPr id="11" name="TextBox 1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We tuned the tool 29 times. Here's why.</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Real-world buying behavior is messier than any one formula handles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411480"/>
          </a:xfrm>
          <a:prstGeom prst="rect">
            <a:avLst/>
          </a:prstGeom>
          <a:noFill/>
        </p:spPr>
        <p:txBody>
          <a:bodyPr wrap="square" lIns="45720" rIns="45720" tIns="18288" bIns="18288" anchor="t">
            <a:spAutoFit/>
          </a:bodyPr>
          <a:lstStyle/>
          <a:p>
            <a:pPr algn="l"/>
            <a:r>
              <a:rPr sz="1400" b="0">
                <a:solidFill>
                  <a:srgbClr val="333333"/>
                </a:solidFill>
                <a:latin typeface="Calibri"/>
              </a:rPr>
              <a:t>When the tool first launched, we noticed things like:</a:t>
            </a:r>
          </a:p>
        </p:txBody>
      </p:sp>
      <p:sp>
        <p:nvSpPr>
          <p:cNvPr id="7" name="TextBox 6"/>
          <p:cNvSpPr txBox="1"/>
          <p:nvPr/>
        </p:nvSpPr>
        <p:spPr>
          <a:xfrm>
            <a:off x="731520" y="1371600"/>
            <a:ext cx="11002975" cy="2011680"/>
          </a:xfrm>
          <a:prstGeom prst="rect">
            <a:avLst/>
          </a:prstGeom>
          <a:noFill/>
        </p:spPr>
        <p:txBody>
          <a:bodyPr wrap="square" lIns="45720">
            <a:spAutoFit/>
          </a:bodyPr>
          <a:lstStyle/>
          <a:p>
            <a:pPr algn="l">
              <a:spcAft>
                <a:spcPts val="500"/>
              </a:spcAft>
            </a:pPr>
            <a:r>
              <a:rPr sz="1200" b="1">
                <a:solidFill>
                  <a:srgbClr val="2A9D8F"/>
                </a:solidFill>
                <a:latin typeface="Calibri"/>
              </a:rPr>
              <a:t>●  </a:t>
            </a:r>
            <a:r>
              <a:rPr sz="1200">
                <a:solidFill>
                  <a:srgbClr val="333333"/>
                </a:solidFill>
                <a:latin typeface="Calibri"/>
              </a:rPr>
              <a:t>Forecasts dropped off after Prime Day because the post-event 'quiet weeks' looked like demand died</a:t>
            </a:r>
          </a:p>
          <a:p>
            <a:pPr algn="l">
              <a:spcAft>
                <a:spcPts val="500"/>
              </a:spcAft>
            </a:pPr>
            <a:r>
              <a:rPr sz="1200" b="1">
                <a:solidFill>
                  <a:srgbClr val="2A9D8F"/>
                </a:solidFill>
                <a:latin typeface="Calibri"/>
              </a:rPr>
              <a:t>●  </a:t>
            </a:r>
            <a:r>
              <a:rPr sz="1200">
                <a:solidFill>
                  <a:srgbClr val="333333"/>
                </a:solidFill>
                <a:latin typeface="Calibri"/>
              </a:rPr>
              <a:t>Off-price retailers (Burlington, Big Lots) got phantom weekly forecasts when they actually buy in lumps</a:t>
            </a:r>
          </a:p>
          <a:p>
            <a:pPr algn="l">
              <a:spcAft>
                <a:spcPts val="500"/>
              </a:spcAft>
            </a:pPr>
            <a:r>
              <a:rPr sz="1200" b="1">
                <a:solidFill>
                  <a:srgbClr val="2A9D8F"/>
                </a:solidFill>
                <a:latin typeface="Calibri"/>
              </a:rPr>
              <a:t>●  </a:t>
            </a:r>
            <a:r>
              <a:rPr sz="1200">
                <a:solidFill>
                  <a:srgbClr val="333333"/>
                </a:solidFill>
                <a:latin typeface="Calibri"/>
              </a:rPr>
              <a:t>Items in real decline kept getting full-strength forecasts — no decline detection</a:t>
            </a:r>
          </a:p>
          <a:p>
            <a:pPr algn="l">
              <a:spcAft>
                <a:spcPts val="500"/>
              </a:spcAft>
            </a:pPr>
            <a:r>
              <a:rPr sz="1200" b="1">
                <a:solidFill>
                  <a:srgbClr val="2A9D8F"/>
                </a:solidFill>
                <a:latin typeface="Calibri"/>
              </a:rPr>
              <a:t>●  </a:t>
            </a:r>
            <a:r>
              <a:rPr sz="1200">
                <a:solidFill>
                  <a:srgbClr val="333333"/>
                </a:solidFill>
                <a:latin typeface="Calibri"/>
              </a:rPr>
              <a:t>Amazon's confirmed POs were already in the system, but the AI added MORE on top → over-projection</a:t>
            </a:r>
          </a:p>
          <a:p>
            <a:pPr algn="l">
              <a:spcAft>
                <a:spcPts val="500"/>
              </a:spcAft>
            </a:pPr>
            <a:r>
              <a:rPr sz="1200" b="1">
                <a:solidFill>
                  <a:srgbClr val="2A9D8F"/>
                </a:solidFill>
                <a:latin typeface="Calibri"/>
              </a:rPr>
              <a:t>●  </a:t>
            </a:r>
            <a:r>
              <a:rPr sz="1200">
                <a:solidFill>
                  <a:srgbClr val="333333"/>
                </a:solidFill>
                <a:latin typeface="Calibri"/>
              </a:rPr>
              <a:t>Heavy-seasonal items (charcoal, grill brushes) got their seasonal shape softened too much</a:t>
            </a:r>
          </a:p>
        </p:txBody>
      </p:sp>
      <p:sp>
        <p:nvSpPr>
          <p:cNvPr id="8" name="TextBox 7"/>
          <p:cNvSpPr txBox="1"/>
          <p:nvPr/>
        </p:nvSpPr>
        <p:spPr>
          <a:xfrm>
            <a:off x="457200" y="3520440"/>
            <a:ext cx="11277295" cy="411480"/>
          </a:xfrm>
          <a:prstGeom prst="rect">
            <a:avLst/>
          </a:prstGeom>
          <a:noFill/>
        </p:spPr>
        <p:txBody>
          <a:bodyPr wrap="square" lIns="45720" rIns="45720" tIns="18288" bIns="18288" anchor="t">
            <a:spAutoFit/>
          </a:bodyPr>
          <a:lstStyle/>
          <a:p>
            <a:pPr algn="l"/>
            <a:r>
              <a:rPr sz="1400" b="0">
                <a:solidFill>
                  <a:srgbClr val="333333"/>
                </a:solidFill>
                <a:latin typeface="Calibri"/>
              </a:rPr>
              <a:t>The 33 refinements address those patterns. They fall into three families:</a:t>
            </a:r>
          </a:p>
        </p:txBody>
      </p:sp>
      <p:sp>
        <p:nvSpPr>
          <p:cNvPr id="9" name="Rectangle 8"/>
          <p:cNvSpPr/>
          <p:nvPr/>
        </p:nvSpPr>
        <p:spPr>
          <a:xfrm>
            <a:off x="457200" y="4160520"/>
            <a:ext cx="3749039" cy="21031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160520"/>
            <a:ext cx="3749039" cy="5029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160520"/>
            <a:ext cx="3749039" cy="502920"/>
          </a:xfrm>
          <a:prstGeom prst="rect">
            <a:avLst/>
          </a:prstGeom>
          <a:noFill/>
        </p:spPr>
        <p:txBody>
          <a:bodyPr wrap="square" lIns="45720" rIns="45720" tIns="18288" bIns="18288" anchor="ctr">
            <a:spAutoFit/>
          </a:bodyPr>
          <a:lstStyle/>
          <a:p>
            <a:pPr algn="ctr"/>
            <a:r>
              <a:rPr sz="1400" b="1">
                <a:solidFill>
                  <a:srgbClr val="FFFFFF"/>
                </a:solidFill>
                <a:latin typeface="Calibri"/>
              </a:rPr>
              <a:t>Big-picture rules</a:t>
            </a:r>
          </a:p>
        </p:txBody>
      </p:sp>
      <p:sp>
        <p:nvSpPr>
          <p:cNvPr id="12" name="TextBox 11"/>
          <p:cNvSpPr txBox="1"/>
          <p:nvPr/>
        </p:nvSpPr>
        <p:spPr>
          <a:xfrm>
            <a:off x="457200" y="4754880"/>
            <a:ext cx="3749039" cy="320040"/>
          </a:xfrm>
          <a:prstGeom prst="rect">
            <a:avLst/>
          </a:prstGeom>
          <a:noFill/>
        </p:spPr>
        <p:txBody>
          <a:bodyPr wrap="square" lIns="45720" rIns="45720" tIns="18288" bIns="18288" anchor="t">
            <a:spAutoFit/>
          </a:bodyPr>
          <a:lstStyle/>
          <a:p>
            <a:pPr algn="ctr"/>
            <a:r>
              <a:rPr sz="1200" b="1">
                <a:solidFill>
                  <a:srgbClr val="1F3A5F"/>
                </a:solidFill>
                <a:latin typeface="Calibri"/>
              </a:rPr>
              <a:t>4 rules</a:t>
            </a:r>
          </a:p>
        </p:txBody>
      </p:sp>
      <p:sp>
        <p:nvSpPr>
          <p:cNvPr id="13" name="TextBox 12"/>
          <p:cNvSpPr txBox="1"/>
          <p:nvPr/>
        </p:nvSpPr>
        <p:spPr>
          <a:xfrm>
            <a:off x="640080" y="5120640"/>
            <a:ext cx="3383279" cy="1005840"/>
          </a:xfrm>
          <a:prstGeom prst="rect">
            <a:avLst/>
          </a:prstGeom>
          <a:noFill/>
        </p:spPr>
        <p:txBody>
          <a:bodyPr wrap="square" lIns="45720" rIns="45720" tIns="18288" bIns="18288" anchor="t">
            <a:spAutoFit/>
          </a:bodyPr>
          <a:lstStyle/>
          <a:p>
            <a:pPr algn="l"/>
            <a:r>
              <a:rPr sz="1100" b="0">
                <a:solidFill>
                  <a:srgbClr val="333333"/>
                </a:solidFill>
                <a:latin typeface="Calibri"/>
              </a:rPr>
              <a:t>From the VP of Planning. Highest impact: how to define 'normal demand', how to handle stockouts, when to enforce ordering rhythms, and how to handle confirmed POs.</a:t>
            </a:r>
          </a:p>
        </p:txBody>
      </p:sp>
      <p:sp>
        <p:nvSpPr>
          <p:cNvPr id="14" name="Rectangle 13"/>
          <p:cNvSpPr/>
          <p:nvPr/>
        </p:nvSpPr>
        <p:spPr>
          <a:xfrm>
            <a:off x="4297680" y="4160520"/>
            <a:ext cx="3749039" cy="21031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4160520"/>
            <a:ext cx="3749039" cy="5029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4160520"/>
            <a:ext cx="3749039" cy="502920"/>
          </a:xfrm>
          <a:prstGeom prst="rect">
            <a:avLst/>
          </a:prstGeom>
          <a:noFill/>
        </p:spPr>
        <p:txBody>
          <a:bodyPr wrap="square" lIns="45720" rIns="45720" tIns="18288" bIns="18288" anchor="ctr">
            <a:spAutoFit/>
          </a:bodyPr>
          <a:lstStyle/>
          <a:p>
            <a:pPr algn="ctr"/>
            <a:r>
              <a:rPr sz="1400" b="1">
                <a:solidFill>
                  <a:srgbClr val="FFFFFF"/>
                </a:solidFill>
                <a:latin typeface="Calibri"/>
              </a:rPr>
              <a:t>Customer-type overrides</a:t>
            </a:r>
          </a:p>
        </p:txBody>
      </p:sp>
      <p:sp>
        <p:nvSpPr>
          <p:cNvPr id="17" name="TextBox 16"/>
          <p:cNvSpPr txBox="1"/>
          <p:nvPr/>
        </p:nvSpPr>
        <p:spPr>
          <a:xfrm>
            <a:off x="4297680" y="4754880"/>
            <a:ext cx="3749039" cy="320040"/>
          </a:xfrm>
          <a:prstGeom prst="rect">
            <a:avLst/>
          </a:prstGeom>
          <a:noFill/>
        </p:spPr>
        <p:txBody>
          <a:bodyPr wrap="square" lIns="45720" rIns="45720" tIns="18288" bIns="18288" anchor="t">
            <a:spAutoFit/>
          </a:bodyPr>
          <a:lstStyle/>
          <a:p>
            <a:pPr algn="ctr"/>
            <a:r>
              <a:rPr sz="1200" b="1">
                <a:solidFill>
                  <a:srgbClr val="E76F51"/>
                </a:solidFill>
                <a:latin typeface="Calibri"/>
              </a:rPr>
              <a:t>8 rules</a:t>
            </a:r>
          </a:p>
        </p:txBody>
      </p:sp>
      <p:sp>
        <p:nvSpPr>
          <p:cNvPr id="18" name="TextBox 17"/>
          <p:cNvSpPr txBox="1"/>
          <p:nvPr/>
        </p:nvSpPr>
        <p:spPr>
          <a:xfrm>
            <a:off x="4480560" y="5120640"/>
            <a:ext cx="3383279" cy="1005840"/>
          </a:xfrm>
          <a:prstGeom prst="rect">
            <a:avLst/>
          </a:prstGeom>
          <a:noFill/>
        </p:spPr>
        <p:txBody>
          <a:bodyPr wrap="square" lIns="45720" rIns="45720" tIns="18288" bIns="18288" anchor="t">
            <a:spAutoFit/>
          </a:bodyPr>
          <a:lstStyle/>
          <a:p>
            <a:pPr algn="l"/>
            <a:r>
              <a:rPr sz="1100" b="0">
                <a:solidFill>
                  <a:srgbClr val="333333"/>
                </a:solidFill>
                <a:latin typeface="Calibri"/>
              </a:rPr>
              <a:t>Different retailers buy differently. Off-price chains, international wholesalers, online-only stores, lumpy big-volume buyers — each gets its own treatment.</a:t>
            </a:r>
          </a:p>
        </p:txBody>
      </p:sp>
      <p:sp>
        <p:nvSpPr>
          <p:cNvPr id="19" name="Rectangle 18"/>
          <p:cNvSpPr/>
          <p:nvPr/>
        </p:nvSpPr>
        <p:spPr>
          <a:xfrm>
            <a:off x="8138160" y="4160520"/>
            <a:ext cx="3749039" cy="21031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4160520"/>
            <a:ext cx="3749039"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4160520"/>
            <a:ext cx="3749039" cy="502920"/>
          </a:xfrm>
          <a:prstGeom prst="rect">
            <a:avLst/>
          </a:prstGeom>
          <a:noFill/>
        </p:spPr>
        <p:txBody>
          <a:bodyPr wrap="square" lIns="45720" rIns="45720" tIns="18288" bIns="18288" anchor="ctr">
            <a:spAutoFit/>
          </a:bodyPr>
          <a:lstStyle/>
          <a:p>
            <a:pPr algn="ctr"/>
            <a:r>
              <a:rPr sz="1400" b="1">
                <a:solidFill>
                  <a:srgbClr val="FFFFFF"/>
                </a:solidFill>
                <a:latin typeface="Calibri"/>
              </a:rPr>
              <a:t>Math fine-tuning</a:t>
            </a:r>
          </a:p>
        </p:txBody>
      </p:sp>
      <p:sp>
        <p:nvSpPr>
          <p:cNvPr id="22" name="TextBox 21"/>
          <p:cNvSpPr txBox="1"/>
          <p:nvPr/>
        </p:nvSpPr>
        <p:spPr>
          <a:xfrm>
            <a:off x="8138160" y="4754880"/>
            <a:ext cx="3749039" cy="320040"/>
          </a:xfrm>
          <a:prstGeom prst="rect">
            <a:avLst/>
          </a:prstGeom>
          <a:noFill/>
        </p:spPr>
        <p:txBody>
          <a:bodyPr wrap="square" lIns="45720" rIns="45720" tIns="18288" bIns="18288" anchor="t">
            <a:spAutoFit/>
          </a:bodyPr>
          <a:lstStyle/>
          <a:p>
            <a:pPr algn="ctr"/>
            <a:r>
              <a:rPr sz="1200" b="1">
                <a:solidFill>
                  <a:srgbClr val="2A9D8F"/>
                </a:solidFill>
                <a:latin typeface="Calibri"/>
              </a:rPr>
              <a:t>17 rules</a:t>
            </a:r>
          </a:p>
        </p:txBody>
      </p:sp>
      <p:sp>
        <p:nvSpPr>
          <p:cNvPr id="23" name="TextBox 22"/>
          <p:cNvSpPr txBox="1"/>
          <p:nvPr/>
        </p:nvSpPr>
        <p:spPr>
          <a:xfrm>
            <a:off x="8321040" y="5120640"/>
            <a:ext cx="3383279" cy="1005840"/>
          </a:xfrm>
          <a:prstGeom prst="rect">
            <a:avLst/>
          </a:prstGeom>
          <a:noFill/>
        </p:spPr>
        <p:txBody>
          <a:bodyPr wrap="square" lIns="45720" rIns="45720" tIns="18288" bIns="18288" anchor="t">
            <a:spAutoFit/>
          </a:bodyPr>
          <a:lstStyle/>
          <a:p>
            <a:pPr algn="l"/>
            <a:r>
              <a:rPr sz="1100" b="0">
                <a:solidFill>
                  <a:srgbClr val="333333"/>
                </a:solidFill>
                <a:latin typeface="Calibri"/>
              </a:rPr>
              <a:t>Smaller fixes for specific patterns: thin order history, recent slowdowns, stuck cadences, drawdown detection, end-of-life items.</a:t>
            </a:r>
          </a:p>
        </p:txBody>
      </p:sp>
      <p:sp>
        <p:nvSpPr>
          <p:cNvPr id="24" name="TextBox 23"/>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12 / 35</a:t>
            </a:r>
          </a:p>
        </p:txBody>
      </p:sp>
      <p:sp>
        <p:nvSpPr>
          <p:cNvPr id="25" name="TextBox 24"/>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Big-picture rules — the VP-Q stack</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VP-led changes (page 1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VP-Q1</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How we define 'normal demand'</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We averaged ALL 13 weeks of recent history — including the quiet weeks right after Prime Day. Those quiet weeks aren't a real demand drop; they're just leftover Prime Day inventory burning off. Including them dragged our 'normal' baseline down 15-20%.</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Now we average ONLY the weeks where orders actually happened — the quiet 'drawdown' weeks are skipped. If we don't have enough non-zero weeks to use, we fall back to looking at 6 months instead of 3.</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Your AI forecast better reflects steady-state demand — not a number suppressed by a normal post-event lull. On account 1864, this alone added 18.5% to total predicted demand because it stopped under-projecting.</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23011, Mstyle BB0237</a:t>
            </a:r>
            <a:r>
              <a:rPr sz="1000">
                <a:solidFill>
                  <a:srgbClr val="333333"/>
                </a:solidFill>
                <a:latin typeface="Calibri"/>
              </a:rPr>
              <a:t> — Walmart Seasonal Baseline. Baseline mode 'L13 nz-avg (OOS: fill-rate 8% over 9,024 units)'. The all-weeks average would have been dragged down by post-event quiet weeks where Walmart drew down stock; we use the non-zero average (5,760 forecast units vs 5,150 manual flat-200/wk plan) so the baseline reflects true per-order rate.</a:t>
            </a:r>
          </a:p>
        </p:txBody>
      </p:sp>
      <p:sp>
        <p:nvSpPr>
          <p:cNvPr id="18" name="Rectangle 17"/>
          <p:cNvSpPr/>
          <p:nvPr/>
        </p:nvSpPr>
        <p:spPr>
          <a:xfrm>
            <a:off x="457200" y="342900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42900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2900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VP-Q2</a:t>
            </a:r>
          </a:p>
        </p:txBody>
      </p:sp>
      <p:sp>
        <p:nvSpPr>
          <p:cNvPr id="21" name="TextBox 20"/>
          <p:cNvSpPr txBox="1"/>
          <p:nvPr/>
        </p:nvSpPr>
        <p:spPr>
          <a:xfrm>
            <a:off x="1325880" y="34472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Treating stockouts like the demand they really were</a:t>
            </a:r>
          </a:p>
        </p:txBody>
      </p:sp>
      <p:sp>
        <p:nvSpPr>
          <p:cNvPr id="22" name="TextBox 21"/>
          <p:cNvSpPr txBox="1"/>
          <p:nvPr/>
        </p:nvSpPr>
        <p:spPr>
          <a:xfrm>
            <a:off x="1371600" y="36667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36667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When Amazon's order got cancelled because we were out of stock, the system saw '0 orders' for that week — as if customers didn't want it. That artificially shrank our forecast for the next time.</a:t>
            </a:r>
          </a:p>
        </p:txBody>
      </p:sp>
      <p:sp>
        <p:nvSpPr>
          <p:cNvPr id="24" name="TextBox 23"/>
          <p:cNvSpPr txBox="1"/>
          <p:nvPr/>
        </p:nvSpPr>
        <p:spPr>
          <a:xfrm>
            <a:off x="1371600" y="39776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9776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We now pull the cancellation reason from Order History. If it was OOS-driven (inventory error, supplier delay), we keep the original order quantity as 'demand intent'. If it was demand-driven (customer cancellation, future delete), we treat it as zero. Ambiguous cases stay as-is.</a:t>
            </a:r>
          </a:p>
        </p:txBody>
      </p:sp>
      <p:sp>
        <p:nvSpPr>
          <p:cNvPr id="26" name="TextBox 25"/>
          <p:cNvSpPr txBox="1"/>
          <p:nvPr/>
        </p:nvSpPr>
        <p:spPr>
          <a:xfrm>
            <a:off x="1371600" y="44805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44805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Items that have a history of stockouts will now get correctly-sized forecasts going forward — we won't punish a SKU because OUR stock issue made it look like demand died.</a:t>
            </a:r>
          </a:p>
        </p:txBody>
      </p:sp>
      <p:sp>
        <p:nvSpPr>
          <p:cNvPr id="28" name="TextBox 27"/>
          <p:cNvSpPr txBox="1"/>
          <p:nvPr/>
        </p:nvSpPr>
        <p:spPr>
          <a:xfrm>
            <a:off x="1371600" y="48097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80974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23011, Mstyle FF12660</a:t>
            </a:r>
            <a:r>
              <a:rPr sz="1000">
                <a:solidFill>
                  <a:srgbClr val="333333"/>
                </a:solidFill>
                <a:latin typeface="Calibri"/>
              </a:rPr>
              <a:t> — Walmart, 3% fill-rate over 45,720 units (massive backlog from a long stockout). VP-Q2 keeps the unfilled order qty as 'demand intent' rather than reading the missed weeks as zero demand. AI projects 75,036 units vs 40,258 planned (+86%) because the per-order true rate is ~2x the suppressed all-weeks average.</a:t>
            </a:r>
          </a:p>
        </p:txBody>
      </p:sp>
      <p:sp>
        <p:nvSpPr>
          <p:cNvPr id="30" name="TextBox 2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8 / 35</a:t>
            </a:r>
          </a:p>
        </p:txBody>
      </p:sp>
      <p:sp>
        <p:nvSpPr>
          <p:cNvPr id="31" name="TextBox 3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Big-picture rules — the VP-Q stack</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VP-led changes (page 2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VP-Q3</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Stop forcing fake bi-weekly patterns</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If the system saw a few quiet weeks in the recent past, it would assume the customer orders every other week and start INSERTING zeros into the forecast — even when the latest pattern was weekly again.</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We only enforce a rhythm if the gaps are at least 3 weeks long AND consistent (monthly, every 5 weeks, etc.). Anything shorter just gets smoothed across weeks without forced zeros.</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Forecasts no longer alternate between 'big' and 'zero' weeks for items that quietly returned to weekly ordering. You'll see fewer 'why is the AI predicting zero?' moments.</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23011, Mstyle BB33708</a:t>
            </a:r>
            <a:r>
              <a:rPr sz="1000">
                <a:solidFill>
                  <a:srgbClr val="333333"/>
                </a:solidFill>
                <a:latin typeface="Calibri"/>
              </a:rPr>
              <a:t> — Walmart Croston's, fired with a drawdown signature: ≥3-week consistent gap detected, so cadence enforcement kicks in. Without VP-Q3 the system would have inserted phantom zero weeks; here the rule confirms the gap is real (post-event drawdown) and smooths around it instead of forcing alternation.</a:t>
            </a:r>
          </a:p>
        </p:txBody>
      </p:sp>
      <p:sp>
        <p:nvSpPr>
          <p:cNvPr id="18" name="Rectangle 17"/>
          <p:cNvSpPr/>
          <p:nvPr/>
        </p:nvSpPr>
        <p:spPr>
          <a:xfrm>
            <a:off x="457200" y="342900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42900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2900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VP-Q4</a:t>
            </a:r>
          </a:p>
        </p:txBody>
      </p:sp>
      <p:sp>
        <p:nvSpPr>
          <p:cNvPr id="21" name="TextBox 20"/>
          <p:cNvSpPr txBox="1"/>
          <p:nvPr/>
        </p:nvSpPr>
        <p:spPr>
          <a:xfrm>
            <a:off x="1325880" y="34472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Don't double-count confirmed customer POs</a:t>
            </a:r>
          </a:p>
        </p:txBody>
      </p:sp>
      <p:sp>
        <p:nvSpPr>
          <p:cNvPr id="22" name="TextBox 21"/>
          <p:cNvSpPr txBox="1"/>
          <p:nvPr/>
        </p:nvSpPr>
        <p:spPr>
          <a:xfrm>
            <a:off x="1371600" y="36667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36667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If a customer already had a confirmed open PO for week 3, the AI was projecting MORE units on top — as if the PO didn't exist. The replenishment system was then double-counting those units.</a:t>
            </a:r>
          </a:p>
        </p:txBody>
      </p:sp>
      <p:sp>
        <p:nvSpPr>
          <p:cNvPr id="24" name="TextBox 23"/>
          <p:cNvSpPr txBox="1"/>
          <p:nvPr/>
        </p:nvSpPr>
        <p:spPr>
          <a:xfrm>
            <a:off x="1371600" y="39776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9776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For each item, we pull every open PO with a customer ship-by date. Any AI forecast week that falls in the same week as a confirmed PO is set to ZERO — the PO IS the demand for that week.</a:t>
            </a:r>
          </a:p>
        </p:txBody>
      </p:sp>
      <p:sp>
        <p:nvSpPr>
          <p:cNvPr id="26" name="TextBox 25"/>
          <p:cNvSpPr txBox="1"/>
          <p:nvPr/>
        </p:nvSpPr>
        <p:spPr>
          <a:xfrm>
            <a:off x="1371600" y="44805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44805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AI forecasts now match what your replenishment system thinks. Stops the chronic over-ordering in the first 4–6 forward weeks where most confirmed POs land.</a:t>
            </a:r>
          </a:p>
        </p:txBody>
      </p:sp>
      <p:sp>
        <p:nvSpPr>
          <p:cNvPr id="28" name="TextBox 27"/>
          <p:cNvSpPr txBox="1"/>
          <p:nvPr/>
        </p:nvSpPr>
        <p:spPr>
          <a:xfrm>
            <a:off x="1371600" y="48097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80974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23011, Mstyle BB13435CLR/12</a:t>
            </a:r>
            <a:r>
              <a:rPr sz="1000">
                <a:solidFill>
                  <a:srgbClr val="333333"/>
                </a:solidFill>
                <a:latin typeface="Calibri"/>
              </a:rPr>
              <a:t> — Walmart Croston's. There is a confirmed open PO landing in W3, so VP-Q4 zeroes out that specific week's AI projection (the PO already covers the demand). Without this rule, replenishment would double-count the PO + AI projection and overstock the DC by 1 week's worth.</a:t>
            </a:r>
          </a:p>
        </p:txBody>
      </p:sp>
      <p:sp>
        <p:nvSpPr>
          <p:cNvPr id="30" name="TextBox 2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9 / 35</a:t>
            </a:r>
          </a:p>
        </p:txBody>
      </p:sp>
      <p:sp>
        <p:nvSpPr>
          <p:cNvPr id="31" name="TextBox 3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Customer-type overrides (1 of 3)</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R-series - R1, R2, R3</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R1</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Off-price retailers buy in lumps, not weekly</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Burlington, Ross, TJ Maxx, Big Lots, Five Below, Kohl's, etc. were getting weekly forecasts based on a sparse history with 1-3 big orders.</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Detect the lump pattern (a few big orders separated by long gaps). Set the recipe to 'One-Time-Buy' — forecast zero between events.</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No more phantom W1 demand for accounts that buy 3 times a year and would never order weekly.</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13640, Mstyle FF38675</a:t>
            </a:r>
            <a:r>
              <a:rPr sz="1000">
                <a:solidFill>
                  <a:srgbClr val="333333"/>
                </a:solidFill>
                <a:latin typeface="Calibri"/>
              </a:rPr>
              <a:t> — Burlington Coat Factory, model 'OTB (zero)'. Classic off-price pattern: 1-2 big lump orders in L52, then dormant for 4+ months. Forecast = 0 for 26w because Burlington buys in occasional bulk closeouts, not weekly cadence. Manual had 7,800 units that R1 wiped out — Burlington isn't going to reorder this week-by-week. Amazon gate (2026-05-07): Amazon items are NEVER classified as OTB regardless of pattern — Amazon ordering is centrally managed and even sparse-looking histories reflect ongoing replenishment. Amazon items that look 'OTB-shaped' route to the standard Inactive recipe instead, which restarts forecasting the moment orders resume.</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R2</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Cap on lumpy retailers — sanity ceiling</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Sparse-recipe items at off-price retailers were over-predicting by 38% — one big historical order amplified by seasonal scaling.</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Cap the total 26-week forecast at 1.5x what they'd buy at their average pace over 6 months.</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Forecasts for these accounts can't run away even if one outlier order hits the math.</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BB0092PCS2</a:t>
            </a:r>
            <a:r>
              <a:rPr sz="1000">
                <a:solidFill>
                  <a:srgbClr val="333333"/>
                </a:solidFill>
                <a:latin typeface="Calibri"/>
              </a:rPr>
              <a:t> — Walmart Sparse Intermittent. R2's 1.5× sanity ceiling binds: a single big historical order would otherwise inflate the 26-week total to ~38% above what the account's average pace can support over 6 months. Cap pulls it back to a defensible level — no phantom amplification from one outlier order.</a:t>
            </a:r>
          </a:p>
        </p:txBody>
      </p:sp>
      <p:sp>
        <p:nvSpPr>
          <p:cNvPr id="30" name="Rectangle 29"/>
          <p:cNvSpPr/>
          <p:nvPr/>
        </p:nvSpPr>
        <p:spPr>
          <a:xfrm>
            <a:off x="457200" y="4709159"/>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59"/>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59"/>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R3</a:t>
            </a:r>
          </a:p>
        </p:txBody>
      </p:sp>
      <p:sp>
        <p:nvSpPr>
          <p:cNvPr id="33" name="TextBox 32"/>
          <p:cNvSpPr txBox="1"/>
          <p:nvPr/>
        </p:nvSpPr>
        <p:spPr>
          <a:xfrm>
            <a:off x="1325880" y="4727447"/>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Inactive items with real residual demand</a:t>
            </a:r>
          </a:p>
        </p:txBody>
      </p:sp>
      <p:sp>
        <p:nvSpPr>
          <p:cNvPr id="34" name="TextBox 33"/>
          <p:cNvSpPr txBox="1"/>
          <p:nvPr/>
        </p:nvSpPr>
        <p:spPr>
          <a:xfrm>
            <a:off x="1371600" y="4946903"/>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3"/>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Items routed 'Inactive' had forecast = 0, but some had small but real activity over the prior 6-12 months.</a:t>
            </a:r>
          </a:p>
        </p:txBody>
      </p:sp>
      <p:sp>
        <p:nvSpPr>
          <p:cNvPr id="36" name="TextBox 35"/>
          <p:cNvSpPr txBox="1"/>
          <p:nvPr/>
        </p:nvSpPr>
        <p:spPr>
          <a:xfrm>
            <a:off x="1371600" y="5257799"/>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799"/>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the customer ordered at least 4 times in the last 6 months and 8 times in the last year, apply a small floor instead of zero.</a:t>
            </a:r>
          </a:p>
        </p:txBody>
      </p:sp>
      <p:sp>
        <p:nvSpPr>
          <p:cNvPr id="38" name="TextBox 37"/>
          <p:cNvSpPr txBox="1"/>
          <p:nvPr/>
        </p:nvSpPr>
        <p:spPr>
          <a:xfrm>
            <a:off x="1371600" y="5760719"/>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19"/>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Catches the 'slow steady seller' that wouldn't otherwise show up in the AI.</a:t>
            </a:r>
          </a:p>
        </p:txBody>
      </p:sp>
      <p:sp>
        <p:nvSpPr>
          <p:cNvPr id="40" name="TextBox 39"/>
          <p:cNvSpPr txBox="1"/>
          <p:nvPr/>
        </p:nvSpPr>
        <p:spPr>
          <a:xfrm>
            <a:off x="1371600" y="6089903"/>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3"/>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BB35237</a:t>
            </a:r>
            <a:r>
              <a:rPr sz="1000">
                <a:solidFill>
                  <a:srgbClr val="333333"/>
                </a:solidFill>
                <a:latin typeface="Calibri"/>
              </a:rPr>
              <a:t> — model 'Inactive+Floor (R3)'. Customer ordered ≥4 times in last 6 months AND ≥8 times in last year, so instead of forcing AI=0, R3 applies a small steady floor. Catches the slow-but-real seller that VP-Q1's strict Inactive rule would otherwise zero out. Avoids leaving a real account dry.</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17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Customer-type overrides (2 of 3)</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R-series - R5, R6, R7</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R5</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International retailers order seasonally, not weekly</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Petbarn (Australia), Loblaws (Canada), Mexican retailers ('Comercializadora', 'Grup') were marked 'Inactive' because they hadn't ordered in 13 weeks.</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For these accounts, only mark Inactive if there's been NO order in 26 weeks (not 13).</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International retailers come back; we shouldn't write them off after one quiet quarter.</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Any international retailer (e.g. Petbarn AU, Loblaws CA, Comercializadora MX). They place big orders quarterly</a:t>
            </a:r>
            <a:r>
              <a:rPr sz="1000">
                <a:solidFill>
                  <a:srgbClr val="333333"/>
                </a:solidFill>
                <a:latin typeface="Calibri"/>
              </a:rPr>
              <a:t> — at week 14 of silence the standard 13-week Inactive rule would mark them dead. R5 bumps the threshold to 26 weeks, so a customer who naturally orders every 14-20 weeks still gets a forecast through the quiet quarter.</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R6</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Lumpy recipe needed help on big steady items</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The Lumpy recipe was systematically under-predicting big stable items by ~511K units across 368 records.</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When recent order sizes are consistent and big enough (50+ per week), boost the predicted order size toward the actual recent average.</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Closes a known gap on high-volume retailers that order big regular orders.</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FF31287</a:t>
            </a:r>
            <a:r>
              <a:rPr sz="1000">
                <a:solidFill>
                  <a:srgbClr val="333333"/>
                </a:solidFill>
                <a:latin typeface="Calibri"/>
              </a:rPr>
              <a:t> — Walmart Croston's, ordered 7 of last 13 weeks at ~13 units/order. R6's high-volume override boosts the predicted order size toward the recent average instead of letting Croston's z-estimate drift down. AI lands at 208 units vs the manual flat 23/wk plan (which would have over-projected for an account in the middle of a draw-down).</a:t>
            </a:r>
          </a:p>
        </p:txBody>
      </p:sp>
      <p:sp>
        <p:nvSpPr>
          <p:cNvPr id="30" name="Rectangle 29"/>
          <p:cNvSpPr/>
          <p:nvPr/>
        </p:nvSpPr>
        <p:spPr>
          <a:xfrm>
            <a:off x="457200" y="4709159"/>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59"/>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59"/>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R7</a:t>
            </a:r>
          </a:p>
        </p:txBody>
      </p:sp>
      <p:sp>
        <p:nvSpPr>
          <p:cNvPr id="33" name="TextBox 32"/>
          <p:cNvSpPr txBox="1"/>
          <p:nvPr/>
        </p:nvSpPr>
        <p:spPr>
          <a:xfrm>
            <a:off x="1325880" y="4727447"/>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Make sure Amazon items participate in Fall Deal</a:t>
            </a:r>
          </a:p>
        </p:txBody>
      </p:sp>
      <p:sp>
        <p:nvSpPr>
          <p:cNvPr id="34" name="TextBox 33"/>
          <p:cNvSpPr txBox="1"/>
          <p:nvPr/>
        </p:nvSpPr>
        <p:spPr>
          <a:xfrm>
            <a:off x="1371600" y="4946903"/>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3"/>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If an Amazon item had no historical signal for the Fall Deal weeks, the forecast missed it entirely — no fall pre-buy at all.</a:t>
            </a:r>
          </a:p>
        </p:txBody>
      </p:sp>
      <p:sp>
        <p:nvSpPr>
          <p:cNvPr id="36" name="TextBox 35"/>
          <p:cNvSpPr txBox="1"/>
          <p:nvPr/>
        </p:nvSpPr>
        <p:spPr>
          <a:xfrm>
            <a:off x="1371600" y="5257799"/>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799"/>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we don't see anything in the Fall Deal weeks, we INSERT an extra order at +12% lift.</a:t>
            </a:r>
          </a:p>
        </p:txBody>
      </p:sp>
      <p:sp>
        <p:nvSpPr>
          <p:cNvPr id="38" name="TextBox 37"/>
          <p:cNvSpPr txBox="1"/>
          <p:nvPr/>
        </p:nvSpPr>
        <p:spPr>
          <a:xfrm>
            <a:off x="1371600" y="5760719"/>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19"/>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Amazon items don't get skipped on the second-biggest event of the year.</a:t>
            </a:r>
          </a:p>
        </p:txBody>
      </p:sp>
      <p:sp>
        <p:nvSpPr>
          <p:cNvPr id="40" name="TextBox 39"/>
          <p:cNvSpPr txBox="1"/>
          <p:nvPr/>
        </p:nvSpPr>
        <p:spPr>
          <a:xfrm>
            <a:off x="1371600" y="6089903"/>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3"/>
            <a:ext cx="9402776" cy="502920"/>
          </a:xfrm>
          <a:prstGeom prst="rect">
            <a:avLst/>
          </a:prstGeom>
          <a:noFill/>
        </p:spPr>
        <p:txBody>
          <a:bodyPr wrap="square" lIns="45720" rIns="45720" tIns="0" bIns="18288">
            <a:spAutoFit/>
          </a:bodyPr>
          <a:lstStyle/>
          <a:p>
            <a:pPr algn="l"/>
            <a:r>
              <a:rPr sz="1000" b="1">
                <a:solidFill>
                  <a:srgbClr val="1F3A5F"/>
                </a:solidFill>
                <a:latin typeface="Calibri"/>
              </a:rPr>
              <a:t>Any Amazon item with zero historical signal in W23-W25 (Fall Deal weeks). Without history, the AI would skip the Fall Deal entirely. R7 inserts a synthetic order in the W23-W25 window scaled at +12% lift over the L13 baseline, so Amazon items still participate in the second-biggest event of the year even when last year's history is missing.</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18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Customer-type overrides (3 of 3)</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R-series - R8, R9</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R8</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When 2 big orders dominate a 'busy' history</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Items with 9 active weeks BUT where 2 huge orders dwarfed the others were getting an inflated 'average'.</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the top 2 orders are more than 60% of the recent total, use the MEDIAN order size instead of the average.</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The median tells the truth about repeat-order size; the average gets hijacked by 2 burst weeks.</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 record with ≥9 active weeks where the top 2 orders make up &gt;60% of L13 total (e.g. one 800-unit order, one 600-unit order, the rest 50-100 units). The plain average gets hijacked by the two bursts. R8 swaps to median per-order, which tells the truth about the repeat-order size and ignores the two outliers.</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R9</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Hard ceiling on Reactivating-recipe items</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The Reactivating recipe was over-projecting by 24% on items coming back from a quiet period.</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Cap baseline at 2x the long-run weekly average over the past year.</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Recovering items get predicted, but never more than twice their historical pace.</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3102, Mstyle FF33495</a:t>
            </a:r>
            <a:r>
              <a:rPr sz="1000">
                <a:solidFill>
                  <a:srgbClr val="333333"/>
                </a:solidFill>
                <a:latin typeface="Calibri"/>
              </a:rPr>
              <a:t> — Chewy Heuristic. Reactivating-recipe item bouncing back from a quiet period. R9 caps the baseline at 2× the L52W weekly average so the recovering forecast can't run hotter than 2× its long-run pace. AI lands at 8 units vs 558 manual (Chewy's flat 30/wk plan was way over the actual L13 sparse rate of 4/wk). 2026-05-07 fix: R9 is now applied UNCONDITIONALLY (was previously skipped when F23b trailing-zero discount also fired, which let single-PO patterns escape the ceiling). Concrete case: FF7612 Petco had L13 = single 5,208-unit PO ~12w ago then dormant; F23b discounted baseline by 0.30× to 1,562, which projected ~37K vs L26 all-weeks avg 426/wk. Multiplier raised to 2.5× when F23b also fires, to soften the double-discount.</a:t>
            </a:r>
          </a:p>
        </p:txBody>
      </p:sp>
      <p:sp>
        <p:nvSpPr>
          <p:cNvPr id="30" name="TextBox 2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19 / 35</a:t>
            </a:r>
          </a:p>
        </p:txBody>
      </p:sp>
      <p:sp>
        <p:nvSpPr>
          <p:cNvPr id="31" name="TextBox 3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recent vs. older history</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1 of 10</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F4</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When the last 3 months are too thin to trust</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An item with only 3-4 active weeks in the last 13 was producing baselines near zero, even when the past 12 months looked healthy.</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the recent window has fewer than 5 active weeks AND the past year has 8+, pull in the year-long average as a floor.</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Quiet quarters can't make a real product look dead.</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1864, Mstyle FF31061</a:t>
            </a:r>
            <a:r>
              <a:rPr sz="1000">
                <a:solidFill>
                  <a:srgbClr val="333333"/>
                </a:solidFill>
                <a:latin typeface="Calibri"/>
              </a:rPr>
              <a:t> — Amazon, baseline mode 'L26 nz-avg (sparse L13)'. L13 had fewer than 5 active weeks but L52 had 8+ active weeks. F4 detected the thin recent quarter and pulled in the 26-week non-zero average as the floor — so a quiet quarter doesn't make a real product look dead. AI 534 units vs 990 manual flat 40/wk.</a:t>
            </a:r>
          </a:p>
        </p:txBody>
      </p:sp>
      <p:sp>
        <p:nvSpPr>
          <p:cNvPr id="18" name="Rectangle 17"/>
          <p:cNvSpPr/>
          <p:nvPr/>
        </p:nvSpPr>
        <p:spPr>
          <a:xfrm>
            <a:off x="457200" y="342900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42900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2900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F6 / F26 / F27</a:t>
            </a:r>
          </a:p>
        </p:txBody>
      </p:sp>
      <p:sp>
        <p:nvSpPr>
          <p:cNvPr id="21" name="TextBox 20"/>
          <p:cNvSpPr txBox="1"/>
          <p:nvPr/>
        </p:nvSpPr>
        <p:spPr>
          <a:xfrm>
            <a:off x="1325880" y="34472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Catching a recent slowdown — or pickup</a:t>
            </a:r>
          </a:p>
        </p:txBody>
      </p:sp>
      <p:sp>
        <p:nvSpPr>
          <p:cNvPr id="22" name="TextBox 21"/>
          <p:cNvSpPr txBox="1"/>
          <p:nvPr/>
        </p:nvSpPr>
        <p:spPr>
          <a:xfrm>
            <a:off x="1371600" y="36667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36667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If the last 4 weeks were running half the rate of the last 13, the tool ignored it.</a:t>
            </a:r>
          </a:p>
        </p:txBody>
      </p:sp>
      <p:sp>
        <p:nvSpPr>
          <p:cNvPr id="24" name="TextBox 23"/>
          <p:cNvSpPr txBox="1"/>
          <p:nvPr/>
        </p:nvSpPr>
        <p:spPr>
          <a:xfrm>
            <a:off x="1371600" y="39776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9776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recent rate ≤ 50% of recent-quarter rate → cut baseline to 65%. If 50–70% → cut to 85%. If 30–60% ABOVE recent → bump baseline to 110% (a gentle ramp signal).</a:t>
            </a:r>
          </a:p>
        </p:txBody>
      </p:sp>
      <p:sp>
        <p:nvSpPr>
          <p:cNvPr id="26" name="TextBox 25"/>
          <p:cNvSpPr txBox="1"/>
          <p:nvPr/>
        </p:nvSpPr>
        <p:spPr>
          <a:xfrm>
            <a:off x="1371600" y="44805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44805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The forecast leans into what you're seeing in the last month — not just the last quarter.</a:t>
            </a:r>
          </a:p>
        </p:txBody>
      </p:sp>
      <p:sp>
        <p:nvSpPr>
          <p:cNvPr id="28" name="TextBox 27"/>
          <p:cNvSpPr txBox="1"/>
          <p:nvPr/>
        </p:nvSpPr>
        <p:spPr>
          <a:xfrm>
            <a:off x="1371600" y="48097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80974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23011, Mstyle BB0237</a:t>
            </a:r>
            <a:r>
              <a:rPr sz="1000">
                <a:solidFill>
                  <a:srgbClr val="333333"/>
                </a:solidFill>
                <a:latin typeface="Calibri"/>
              </a:rPr>
              <a:t> — Walmart Seasonal Baseline. F6 detected L4 non-zero average ≤ 50% of L13 non-zero average — a real recent slowdown — and multiplied the baseline by 0.65. (F26: 50-70% threshold → 0.85x. F27: reverse for ramp-up where L4 is 30-60% above L13 → 1.10x.) Forecast leans into the last month, not just the last quarter.</a:t>
            </a:r>
          </a:p>
        </p:txBody>
      </p:sp>
      <p:sp>
        <p:nvSpPr>
          <p:cNvPr id="30" name="TextBox 2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20 / 35</a:t>
            </a:r>
          </a:p>
        </p:txBody>
      </p:sp>
      <p:sp>
        <p:nvSpPr>
          <p:cNvPr id="31" name="TextBox 3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outliers &amp; ceilings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2 of 10</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F25</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Drop one-off freak orders entirely</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 lone 744-unit order vs. a normal 50/week was dragging the average up wildly.</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a single value is 5x the median AND there are 4+ other normal weeks, drop it from the average instead of trying to cap it.</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One weird order doesn't define the next 6 months.</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1188720"/>
          </a:xfrm>
          <a:prstGeom prst="rect">
            <a:avLst/>
          </a:prstGeom>
          <a:noFill/>
        </p:spPr>
        <p:txBody>
          <a:bodyPr wrap="square" lIns="45720" rIns="45720" tIns="0" bIns="18288">
            <a:spAutoFit/>
          </a:bodyPr>
          <a:lstStyle/>
          <a:p>
            <a:pPr algn="l"/>
            <a:r>
              <a:rPr sz="1000" b="1">
                <a:solidFill>
                  <a:srgbClr val="1F3A5F"/>
                </a:solidFill>
                <a:latin typeface="Calibri"/>
              </a:rPr>
              <a:t>A record with one big freak order (e.g. 744 units) when normal weeks are ~50/wk and there are 4+ other healthy weeks. F25 drops the outlier from the L13 average entirely (rather than just capping it). One weird buy doesn't get to set the next 6 months of forecast.</a:t>
            </a:r>
          </a:p>
        </p:txBody>
      </p:sp>
      <p:sp>
        <p:nvSpPr>
          <p:cNvPr id="18" name="Rectangle 17"/>
          <p:cNvSpPr/>
          <p:nvPr/>
        </p:nvSpPr>
        <p:spPr>
          <a:xfrm>
            <a:off x="457200" y="342900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42900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2900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F24</a:t>
            </a:r>
          </a:p>
        </p:txBody>
      </p:sp>
      <p:sp>
        <p:nvSpPr>
          <p:cNvPr id="21" name="TextBox 20"/>
          <p:cNvSpPr txBox="1"/>
          <p:nvPr/>
        </p:nvSpPr>
        <p:spPr>
          <a:xfrm>
            <a:off x="1325880" y="34472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Sanity ceiling on the final number</a:t>
            </a:r>
          </a:p>
        </p:txBody>
      </p:sp>
      <p:sp>
        <p:nvSpPr>
          <p:cNvPr id="22" name="TextBox 21"/>
          <p:cNvSpPr txBox="1"/>
          <p:nvPr/>
        </p:nvSpPr>
        <p:spPr>
          <a:xfrm>
            <a:off x="1371600" y="36667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36667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After all the boosts (Amazon POS blend, drawdown lift, order-coverage lift) stacked up, the baseline could end up at 3-4x the recent rate.</a:t>
            </a:r>
          </a:p>
        </p:txBody>
      </p:sp>
      <p:sp>
        <p:nvSpPr>
          <p:cNvPr id="24" name="TextBox 23"/>
          <p:cNvSpPr txBox="1"/>
          <p:nvPr/>
        </p:nvSpPr>
        <p:spPr>
          <a:xfrm>
            <a:off x="1371600" y="39776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9776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Cap the final baseline at L13 weekly avg × 2.0 (eased from 1.5× on 2026-05-06 for seasonal items). Profile and event lifts still apply on top.</a:t>
            </a:r>
          </a:p>
        </p:txBody>
      </p:sp>
      <p:sp>
        <p:nvSpPr>
          <p:cNvPr id="26" name="TextBox 25"/>
          <p:cNvSpPr txBox="1"/>
          <p:nvPr/>
        </p:nvSpPr>
        <p:spPr>
          <a:xfrm>
            <a:off x="1371600" y="44805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44805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Hard upper limit so the math can't run away.</a:t>
            </a:r>
          </a:p>
        </p:txBody>
      </p:sp>
      <p:sp>
        <p:nvSpPr>
          <p:cNvPr id="28" name="TextBox 27"/>
          <p:cNvSpPr txBox="1"/>
          <p:nvPr/>
        </p:nvSpPr>
        <p:spPr>
          <a:xfrm>
            <a:off x="1371600" y="48097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80974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23011, Mstyle BB0096PCS2</a:t>
            </a:r>
            <a:r>
              <a:rPr sz="1000">
                <a:solidFill>
                  <a:srgbClr val="333333"/>
                </a:solidFill>
                <a:latin typeface="Calibri"/>
              </a:rPr>
              <a:t> — Walmart Seasonal Baseline, fill-rate 7% over 408 units. After POS blend, drawdown lift, and order-coverage lift stacked, the baseline drifted to ~3-4× the recent L13 rate. F24 caps final baseline at L13 avg × 2.0 — flat history can't be inflated indefinitely. AI 1,404 units vs 1,040 manual flat 40/wk (+35%).</a:t>
            </a:r>
          </a:p>
        </p:txBody>
      </p:sp>
      <p:sp>
        <p:nvSpPr>
          <p:cNvPr id="30" name="TextBox 2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21 / 35</a:t>
            </a:r>
          </a:p>
        </p:txBody>
      </p:sp>
      <p:sp>
        <p:nvSpPr>
          <p:cNvPr id="31" name="TextBox 3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seasonality &amp; events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3 of 10</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F7</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Use the seasonal peak, not the trough</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 grill brush in week 5 was anchored on its winter trough demand (low) — not its summer peak (high) where it was actually heading.</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the category has a known seasonal pattern AND the year shows a strong peak, anchor on the historical peak adjusted for current week's seasonal factor.</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Items entering peak season get realistic forecasts, not ones based on the dead winter rate.</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 grill brush in week 5 (winter trough, ~10/wk) with a known summer peak of ~30/wk. F7 detects the seasonal category AND the steep peak/trough ratio, so instead of anchoring on the dead winter rate it anchors on the historical peak adjusted by current week's seasonal factor. Item entering peak gets a realistic forecast, not one stuck on the trough rate.</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F11</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Prime Day lift shape — ramp up, then taper</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We were applying a flat +25% lift across weeks 7–9. Real pre-buys ramp up and taper off.</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Weeks 5/6/7/8/9 = +10%, +15%, +25%, +25%, +20%. Matches what planners actually see.</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AI forecast looks like a real Prime Day pattern, not a step function.</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Any Amazon item in W5-W9 (Prime Day pre-buy weeks). Instead of a flat +25% lift across W7-W9, F11 applies a ramp: W5 +10%, W6 +15%, W7 +25%, W8 +25%, W9 +20%. Matches what planners actually see</a:t>
            </a:r>
            <a:r>
              <a:rPr sz="1000">
                <a:solidFill>
                  <a:srgbClr val="333333"/>
                </a:solidFill>
                <a:latin typeface="Calibri"/>
              </a:rPr>
              <a:t> — orders ramp up toward peak then taper, not a step function.</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F16 / F16b</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Don't soften strong seasonal items too much</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Heavy-seasonal items (charcoal, fire starters, grill brushes) had their pattern dampened to ±20% — which crushed their natural 3x summer peak.</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the category is known-seasonal AND the peak/trough ratio is steep enough AND volume is real (50+/week), let the raw seasonal shape through.</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Strong-seasonal items get their natural shape; everyone else stays softened.</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BB0237</a:t>
            </a:r>
            <a:r>
              <a:rPr sz="1000">
                <a:solidFill>
                  <a:srgbClr val="333333"/>
                </a:solidFill>
                <a:latin typeface="Calibri"/>
              </a:rPr>
              <a:t> — steep peak/trough ratio AND L13 avg ≥ 50/wk AND seasonal category match. F16 disables the standard ±20% damping and lets the raw seasonal shape pass through with the relaxed 0.30-2.5× cap, so the natural 3× summer peak isn't crushed to a flat profile.</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22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Amazon &amp; online retailers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4 of 10 (page 1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F13</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Drawdown means a refill is coming (Amazon)</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Amazon was selling product to consumers FASTER than they were ordering from us — they were burning down inventory. The order-side lull made AI under-forecast the upcoming refill.</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consumer sales rate is meaningfully higher than the order rate AND consumer sales are healthy, raise the baseline to account for the inevitable replenishment.</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Catches Amazon's 'drawdown then big refill' pattern.</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BB22116</a:t>
            </a:r>
            <a:r>
              <a:rPr sz="1000">
                <a:solidFill>
                  <a:srgbClr val="333333"/>
                </a:solidFill>
                <a:latin typeface="Calibri"/>
              </a:rPr>
              <a:t> — Amazon Seasonal Baseline. POS sell-through rate is meaningfully higher than the order rate AND POS is healthy — Amazon is burning down inventory faster than they're ordering from us. F13 raises the baseline to anticipate the impending refill order. Catches Amazon's classic 'drawdown then big refill' pattern.</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F14a / F14b</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Don't kill an item that's just having a buyer-side pause</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F10 (decline detection) was scaling Amazon items DOWN whenever buyer-side ordering paused — even when consumers were still buying through fine.</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consumer sales stay strong (recent month is 50%+ of recent quarter, AND volume is meaningful), skip the decline-detection scale-down. Trust consumer sales over a buyer-side hiccup.</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Items don't get prematurely killed by a 1-2 week ordering lull.</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BB0012AMZ6</a:t>
            </a:r>
            <a:r>
              <a:rPr sz="1000">
                <a:solidFill>
                  <a:srgbClr val="333333"/>
                </a:solidFill>
                <a:latin typeface="Calibri"/>
              </a:rPr>
              <a:t> — Amazon Croston's. POS L4/L13 ratio = 1.0 (consumers still buying). F14a blocks F10's decline-detection from scaling the item down on a buyer-side ordering pause: trust consumer sales over a buyer-side hiccup. Item doesn't get prematurely killed by a 1-2 week ordering lull when POS proves it's still alive.</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F15</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Some accounts buy a bit more than they sell</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Some Amazon items showed planner orders consistently 30%+ above consumer sales rate — that's the buyer's choice for safety stock or distribution coverage.</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When the order/consumer-sales ratio is consistently &gt;1.15 AND consumer sales are healthy, blend toward the higher order rate.</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AI respects the buyer's structural premium, not just consumer demand.</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An Amazon item with order rate consistently &gt;1.15× the consumer POS rate</a:t>
            </a:r>
            <a:r>
              <a:rPr sz="1000">
                <a:solidFill>
                  <a:srgbClr val="333333"/>
                </a:solidFill>
                <a:latin typeface="Calibri"/>
              </a:rPr>
              <a:t> — buyer is keeping a structural premium for safety stock or distribution coverage. F15 blends the baseline toward the higher order rate so the AI respects the buyer's choice rather than chasing only consumer demand.</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23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Amazon &amp; online retailers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4 of 10 (page 2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F18</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When Amazon shoppers are buying faster than orders imply</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Lumpy-recipe Amazon items had quantities that were too low because Amazon was selling through faster.</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consumer sales are healthy AND running faster than the order pattern would predict, raise the predicted order size.</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Forecast catches up to actual consumer velocity.</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An Amazon Lumpy-recipe item with healthy POS and consumer sales running faster than the order pattern would predict. F18 raises the predicted order size to match consumer velocity. Forecast catches up to actual consumer sell-through instead of staying anchored on the (lagging) order pattern.</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T4</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Online-only retailers — Chewy, Petco.com, PetSmart.com</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These ecommerce stores have no consumer-sales feed for us, but planners see late-cycle ramps.</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the last 4 weeks are running 5%+ above the last 13 weeks, blend baseline toward the recent rate (more weight if it's running 15%+ hot).</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Captures online retailers' fast acceleration without needing a POS feed.</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 Chewy/Petco.com/PetSmart.com Seasonal Baseline item where L4 non-zero avg is running ≥5% above L13. These ecommerce stores have no consumer-sales feed, but planners see late-cycle ramps. T4 blends the baseline toward the recent rate (heavier weight if L4 is ≥15% above L13), capturing acceleration the AI can't see from raw orders.</a:t>
            </a:r>
          </a:p>
        </p:txBody>
      </p:sp>
      <p:sp>
        <p:nvSpPr>
          <p:cNvPr id="30" name="TextBox 2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24 / 35</a:t>
            </a:r>
          </a:p>
        </p:txBody>
      </p:sp>
      <p:sp>
        <p:nvSpPr>
          <p:cNvPr id="31" name="TextBox 3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declining &amp; end-of-life items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5 of 10</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F10</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Detecting real declines (year-over-year check)</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Items in genuine decline were getting full-strength forecasts.</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Two checks must BOTH pass: recent month ≤ 70% of recent quarter AND year-over-year is also down. If both fire, scale the forecast down to the recent rate.</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The YoY check prevents firing on seasonal troughs that LOOK like decline but recover.</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BB13435CLR/12</a:t>
            </a:r>
            <a:r>
              <a:rPr sz="1000">
                <a:solidFill>
                  <a:srgbClr val="333333"/>
                </a:solidFill>
                <a:latin typeface="Calibri"/>
              </a:rPr>
              <a:t> — Walmart Croston's. F10's two checks both passed: L4 ≤ 70% of L13 AND year-over-year is also down. Without both checks, a seasonal trough could trigger a false-positive decline; the YoY guard ensures we only scale down on a real decline. AI lands at 87,588 units vs 75,075 manual.</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F22a / F22c</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Trailing zeros mean a drawdown — discount accordingly</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Items ending the recent history with 4-5 zero weeks in a row were mid-drawdown. The 'per-order' average was right, but the volume going forward should be lower.</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Discount baseline by trailing-zero count out of 13. Cap final baseline at recent average when the recent window is thin (less than 7 active weeks).</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Drawdown items get realistic next-quarter forecasts, not full-pace ones.</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 record ending the recent history with 4-5 zero weeks in a row (mid-drawdown). F22a discounts the baseline by trailing-zero-count / 13. F22c additionally caps the final baseline at the recent average when the L13 window is thin (&lt; 7 active weeks). Drawdown items get realistic next-quarter forecasts, not full-pace ones.</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F23a / F23b</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Reactivating items — same drawdown logic + tame the seasonal shape</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Reactivating-recipe items on sparse history sometimes had a single big order multiplied 10x by seasonal positioning.</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Soften the seasonal shape (same as Seasonal Baseline). Apply trailing-zero discount up to 70%.</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No more wild seasonal multipliers from a single position-lucky order.</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BB0094PCS2</a:t>
            </a:r>
            <a:r>
              <a:rPr sz="1000">
                <a:solidFill>
                  <a:srgbClr val="333333"/>
                </a:solidFill>
                <a:latin typeface="Calibri"/>
              </a:rPr>
              <a:t> — Walmart Heuristic on sparse history. F23b applied the same DAMP=0.85 seasonal shape used by Seasonal Baseline plus the trailing-zero discount (up to 70%), so a single big historical order doesn't get amplified 10× by seasonal positioning. AI 1,500 units vs 1,240 manual flat 50/wk (+21%).</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25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volume floors &amp; sparse items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6 of 10 (page 1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F9</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Big-volume sparse items — use the MAX, not average</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Sparse items with 15K+ annual units sometimes had a quiet recent quarter that pulled the average down.</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Use whichever is highest: the recent 3-month, 6-month, or 12-month non-zero average.</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Strong-but-lumpy items don't get under-forecast by one quiet quarter.</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 15K+ annual-units sparse item where the L13 average is below both the L26 and L52 averages</a:t>
            </a:r>
            <a:r>
              <a:rPr sz="1000">
                <a:solidFill>
                  <a:srgbClr val="333333"/>
                </a:solidFill>
                <a:latin typeface="Calibri"/>
              </a:rPr>
              <a:t> — recent quarter happened to be quiet. F9 picks the MAX of the three windows as the baseline so a strong-but-lumpy item doesn't get under-forecast by one quiet quarter that's not representative of true demand.</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F17 / F17b</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Get week-1 right for stuck cadences</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The Sparse recipe placed the next predicted order several weeks out — but the planner was expecting an order in week 1.</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Shift the cadence so week 1 gets seeded. Only do this if the item has enough volume (25+/week recent average).</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AI's first week aligns with what the planner sees coming. Low-volume tail items don't get inflated.</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BB0100PCS2</a:t>
            </a:r>
            <a:r>
              <a:rPr sz="1000">
                <a:solidFill>
                  <a:srgbClr val="333333"/>
                </a:solidFill>
                <a:latin typeface="Calibri"/>
              </a:rPr>
              <a:t> — Walmart Sparse Intermittent with 25+/wk recent average. F17 shifted the next predicted order into W1 because the planner expected an order then. Low-volume tail items (under 25/wk) skip this — F17 only fires when there's enough real volume to justify pulling forward.</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F28</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Lumpy recipe — don't go below recent average</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The Lumpy recipe was systematically running 15% below the recent quarter average across 414 records.</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Floor: don't let the Lumpy recipe output go below a fixed share of recent quarter average.</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Closes a known under-forecast bias on the Lumpy recipe.</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 Lumpy-recipe item where the model output would run 15%+ below the L13 quarterly average. F28 floors at a fixed share of L13 avg so Lumpy doesn't systematically under-forecast against the recent quarter pace. Closes a known under-forecast bias of ~511K units across 414 records pre-fix.</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26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volume floors &amp; sparse items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6 of 10 (page 2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F29</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New items with one shipping week</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 brand-new item that just started shipping might have only 1 active week in the last month — the original rule needed 2.</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Loosened to use any shipped week (last 4 or last 8) as the floor for the new-item forecast.</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Catches first-quarter shipping reality without over-restricting.</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1188720"/>
          </a:xfrm>
          <a:prstGeom prst="rect">
            <a:avLst/>
          </a:prstGeom>
          <a:noFill/>
        </p:spPr>
        <p:txBody>
          <a:bodyPr wrap="square" lIns="45720" rIns="45720" tIns="0" bIns="18288">
            <a:spAutoFit/>
          </a:bodyPr>
          <a:lstStyle/>
          <a:p>
            <a:pPr algn="l"/>
            <a:r>
              <a:rPr sz="1000" b="1">
                <a:solidFill>
                  <a:srgbClr val="1F3A5F"/>
                </a:solidFill>
                <a:latin typeface="Calibri"/>
              </a:rPr>
              <a:t>A new item that just started shipping with only 1 active week in last 4. The original rule needed 2 active weeks to apply the new-item floor. F29 loosens to use any shipped week from L4 or L8</a:t>
            </a:r>
            <a:r>
              <a:rPr sz="1000">
                <a:solidFill>
                  <a:srgbClr val="333333"/>
                </a:solidFill>
                <a:latin typeface="Calibri"/>
              </a:rPr>
              <a:t> — catches first-quarter shipping reality without over-restricting brand-new items.</a:t>
            </a:r>
          </a:p>
        </p:txBody>
      </p:sp>
      <p:sp>
        <p:nvSpPr>
          <p:cNvPr id="18" name="TextBox 1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27 / 35</a:t>
            </a:r>
          </a:p>
        </p:txBody>
      </p:sp>
      <p:sp>
        <p:nvSpPr>
          <p:cNvPr id="19" name="TextBox 1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front-week guard rails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7 of 10 (page 1 of 3)</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F30</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Cap on big-volume Seasonal Baseline items</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Top-volume Seasonal Baseline records were running 13% over recent rate on average.</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Tighter cap on baseline-vs-recent-rate ratio for big items. Buyer-driven items have human plans we shouldn't out-forecast.</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Top items don't run hot from stacked lifts.</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Top-volume Seasonal-Baseline records (the 80th-percentile big items). F30 enforces a tighter baseline-vs-recent-rate ratio cap so big items can't run hot from stacked lifts. These are buyer-driven</a:t>
            </a:r>
            <a:r>
              <a:rPr sz="1000">
                <a:solidFill>
                  <a:srgbClr val="333333"/>
                </a:solidFill>
                <a:latin typeface="Calibri"/>
              </a:rPr>
              <a:t> — the AI shouldn't out-forecast a human plan when the human has high-fidelity context.</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F30 (rev)</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Zero order history → zero forecast (always)</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Some recipes could synthesize forecasts from consumer sales alone on items with NO orders in 6+ months.</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Hard rule: if there are zero orders in the last 6 months, the AI forecast is zero — no exceptions.</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Customer hasn't ordered for half a year — POS alone isn't enough to project orders.</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BB0083</a:t>
            </a:r>
            <a:r>
              <a:rPr sz="1000">
                <a:solidFill>
                  <a:srgbClr val="333333"/>
                </a:solidFill>
                <a:latin typeface="Calibri"/>
              </a:rPr>
              <a:t> — model 'Inactive (zero order history)' with manual still showing 442 units. F30(rev) hard rule: zero orders in 26+ weeks → AI = 0, no exceptions. Doesn't matter if POS sells through — the customer hasn't ordered for half a year, POS alone isn't enough to project orders.</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F31</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Two W1 problems in one rule</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 Brand new items with NEW status had bogus AI forecasts. (b) Steady-Demand recipe occasionally produced wild W1 numbers from trend extrapolation.</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(a) If status contains 'NEW' and zero history, pass through the planner's manual. (b) Cap W1 outliers when the median W1 across all items is +177% (sign that something's wrong).</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Pre-launch items don't get random predictions; W1 outliers don't blow up the front of the forecast.</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BB24711</a:t>
            </a:r>
            <a:r>
              <a:rPr sz="1000">
                <a:solidFill>
                  <a:srgbClr val="333333"/>
                </a:solidFill>
                <a:latin typeface="Calibri"/>
              </a:rPr>
              <a:t> — Walmart, model 'Pre-launch NEW (manual passthrough)'. PT_Item_Status flags this as new/launching, and there's zero order history. F31 passes the planner's manual through unchanged (75 units) instead of producing a bogus AI projection from no signal. Pre-launch items don't get random predictions.</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28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front-week guard rails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7 of 10 (page 2 of 3)</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F32</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Sparse items — per-week clamp</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The original cap was on the SUM of 26 weeks; rarely fired because sparse totals are small.</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Replace with a per-week clamp + a tiny-signal floor for items with near-zero recent history.</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Tighter, more reliable cap on the small sparse items.</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 sparse item with near-zero recent history. F32 replaces the old sum-of-26-weeks cap (which rarely fired because sparse 26w totals are tiny) with a per-week clamp + a tiny-signal floor. Tighter, more reliable cap on small sparse items so a single big historical week doesn't blow up the forecast.</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F34</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New launches — don't penalize the ramp</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Items that started shipping ~26 weeks ago show 25+ weeks of zeros at the back of history. The decline-detection rule (F10) and the L52 ceiling (M1) read those pre-launch zeros as 'this item is dying' and squashed the forecast to near zero.</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Detect new launches: if weeks 27-51 ago add up to less than 1% of the last 26 weeks, mark as new launch. Skip F10 decline detection and the L52 ceiling so ramp-up volume is preserved.</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Newly-launched items get a real forecast based on the activity they DO have, not a zero based on the history they don't have yet.</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BB13435CLR/12</a:t>
            </a:r>
            <a:r>
              <a:rPr sz="1000">
                <a:solidFill>
                  <a:srgbClr val="333333"/>
                </a:solidFill>
                <a:latin typeface="Calibri"/>
              </a:rPr>
              <a:t> — Walmart Croston's. Weeks 27-51 ago sum to &lt;1% of last 26 weeks (item launched ~26w ago). F34 marks it as a NEW LAUNCH and skips F10 decline-detection + the L52 ceiling that would have read those pre-launch zeros as a dying item and squashed the forecast.</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F35</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Stockout backlog — strip pent-up orders</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When we're out of stock for several weeks the customer keeps re-ordering and qty piles up. On shipment resume the catch-up week showed 'base + backlog' and the tool over-projected.</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Detect 2-8 week zero gaps in dense ordering patterns. Use the planner's decay schedule (week 1 of stockout: 25% lost / 75% recoverable; week 2: 50%/50%; week 3: 75%/25%; week 4+: 100% lost / 0% recoverable) to compute how much of the catch-up burst is legitimate backlog. Strip that amount from the post-gap catch-up weeks; the rest is left intact.</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Stockouts no longer poison the baseline. The forecaster sees true demand intent for the next 26 weeks, not the artifact of a missed-shipment recovery.</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FF12660</a:t>
            </a:r>
            <a:r>
              <a:rPr sz="1000">
                <a:solidFill>
                  <a:srgbClr val="333333"/>
                </a:solidFill>
                <a:latin typeface="Calibri"/>
              </a:rPr>
              <a:t> — Walmart Seasonal Baseline. A multi-week stockout gap was detected; F35 used the planner decay schedule (W1 stockout: 25% lost / 75% recoverable; W2: 50/50; W3: 75/25; W4+: 100% lost) to strip the recoverable-backlog portion of the catch-up week. L13 now reflects true per-order demand intent, not a backlog spike.</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29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front-week guard rails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7 of 10 (page 3 of 3)</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F36</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Stock-up burn-off — wait until stores work through it</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After a big catch-up shipment, the customer is sitting on weeks of cover and won't re-order until POS sells through. Tool was projecting against post-shipment quiet weeks as decline.</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Amazon-only (POS data). Detect shipment cluster &gt;=3x weekly POS rate, followed by quiet orders &lt;0.5x POS rate. Weeks-of-supply = cluster qty / POS rate, minus weeks elapsed. Force AI W1..W{remaining-WOS} to 0 so cadence resumes at the right time.</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We stop projecting orders the customer can't possibly place. Once the stock-up burns through, the forecast picks back up exactly when the customer is ready to re-order.</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SF8169</a:t>
            </a:r>
            <a:r>
              <a:rPr sz="1000">
                <a:solidFill>
                  <a:srgbClr val="333333"/>
                </a:solidFill>
                <a:latin typeface="Calibri"/>
              </a:rPr>
              <a:t> — Amazon. ~28k units shipped 11-12 weeks ago against ~250/wk POS sell-through = ~112w of cover. F36 (Amazon-only) computes weeks-of-supply from a recent big shipment cluster, subtracts weeks elapsed, and forces AI W1..W{remaining} to 0 until consumer demand burns through. 2026-05-07 fixes: (1) SHP window widened from L13W→L26W so older big stockups are still detected (SF8169's stockup at W-11 was outside the prior 13w window). (2) Added L4 active-orders guard — if recent ORDERS run at ≥70% of POS rate the customer is actively replenishing, so F36 doesn't fire even if a recent shipment was big (catches cases like FF12853 where a big shipment landed the same week as ramping orders L4=2,600/wk vs POS=1,700/wk).</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F37</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Forward inventory shortfall — don't promise what we can't ship</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Forecast was projecting POs without checking next-26-week on-hand. If anticipated OH would run out, we projected shipments that physically can't happen and lost demand wasn't counted.</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Read Inv_Wk1..Inv_Wk26 (already AI-deducted). For each week: if OH &lt; ship qty, cap to OH and roll unmet forward as a cohort that decays 25%/wk (lost at 4w+). Recovered backlog lands when a future week has spare OH.</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The AI forecast is now physically realistic given our inventory plan. Weeks where we'd stock out get capped, and the demand-loss math reflects the real-world consequence: the longer we miss, the more sales are gone for good.</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BB0096PCS2</a:t>
            </a:r>
            <a:r>
              <a:rPr sz="1000">
                <a:solidFill>
                  <a:srgbClr val="333333"/>
                </a:solidFill>
                <a:latin typeface="Calibri"/>
              </a:rPr>
              <a:t> — Walmart, anticipated on-hand (Inv_Wk6) goes negative. F37 caps that week's AI projection to what we can actually ship and rolls 75% of the unmet portion into W7's demand cohort (cohort decays 25% per week, fully lost at age 4w+). Forecast becomes physically realistic given inventory plan.</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F38</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Amazon POS-trend sensitivity — react to what shoppers are buying</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Amazon POS could swing 15-30% week-over-week with no change to forecast. ASINs that went 'Not Buyable' or 'Suppressed' kept getting normal projections that wouldn't ship.</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Amazon-only. Compare L4w vs L13w POS. &gt;+10% trend = lift baseline (F38b); but ignore if buybox dropped ≥10% below MAP (F38a, temp discount). &lt;-10% = cut baseline (F38e); but ignore if OOS L30d&gt;0 (F38c) or sellable WOS&lt;4 (F38d). Buyability='Not Buyable' or 'Suppressed' → W1-W4=0 + W5 catch-up = baseline × 2.50 (F38f, 25%/wk decay).</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Amazon forecasts now track real consumer demand. Offline ASINs get a recovery curve: zero while down, then a single catch-up order when the listing comes back, then normal cadence.</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BB0150</a:t>
            </a:r>
            <a:r>
              <a:rPr sz="1000">
                <a:solidFill>
                  <a:srgbClr val="333333"/>
                </a:solidFill>
                <a:latin typeface="Calibri"/>
              </a:rPr>
              <a:t> — Amazon Seasonal Baseline, F38b fired. POS L4w +24% above L13w with buybox stable above MAP, so baseline lifted full-pct: AI 20,364 vs 16,435 manual (+24%). On the dry-run, F38 fired 236× across 1,513 Amazon records: F38b=102 (lifts), F38e=50 (cuts), F38f=64 (offline recovery), F38c=15, F38d=3, F38a=2.</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30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phantom dedupe &amp; spike attenuation (F39-F48)</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8 of 10 (page 1 of 4)</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F39</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Strip duplicate-order runs from history</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When the same large order qty appears in 3+ adjacent weeks within ±5%, it's almost always one real order being re-broadcast by upstream feeds — a phantom replay, not real demand.</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Detect runs of near-identical large orders and strip the duplicates from history before model classification, so the L13/L26 baselines reflect actual demand, not feed echoes.</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Phantom orders no longer inflate the recent quarter and trick the model into thinking demand is heavier than it really is.</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FF7618</a:t>
            </a:r>
            <a:r>
              <a:rPr sz="1000">
                <a:solidFill>
                  <a:srgbClr val="333333"/>
                </a:solidFill>
                <a:latin typeface="Calibri"/>
              </a:rPr>
              <a:t> — Amazon Heuristic. F39 detected a duplicate-order run: the same large qty appeared in 3+ adjacent weeks within ±5%, flagging a phantom re-broadcast (one real order replayed by upstream feeds). The duplicate copies were stripped from history before model classification, so the L13/L26 baselines reflect actual demand, not feed echo.</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F40</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Order-rate deceleration scaling</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After F39 dedup, sometimes the surviving orders show a clear ramp-down (e.g. last 3 nz orders 60 / 120 / 360). The forward forecast inherited the older heavier rate.</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the last 3 non-zero orders are decelerating, scale the forward forecast to inherit the slowing pace instead of the heavier earlier pace. Skip when F36/F38 are already governing W1-W4 zeroing — those rules win.</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Forecast cadence matches the live order-rate trajectory, not a rate the customer has clearly already moved off of.</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FF7618</a:t>
            </a:r>
            <a:r>
              <a:rPr sz="1000">
                <a:solidFill>
                  <a:srgbClr val="333333"/>
                </a:solidFill>
                <a:latin typeface="Calibri"/>
              </a:rPr>
              <a:t> — order rate decelerating. After F39 dedup, the last 3 non-zero orders averaged 60/120/360 — a clear ramp-down pattern. F40 detected the deceleration and scaled the forward forecast to inherit the slowing pace, instead of letting Heuristic propagate the older heavier rate.</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F41</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Shipment-confirmed phantom dedupe (Amazon ship-lag)</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Amazon's ship-lag can make one shipment surface as a near-duplicate order one week earlier or later (e.g. ship 14,328 in LW_16 then a 14,184 'order' in LW_15, ~1% drift).</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Use shipment evidence — the strongest signal — to dedupe at ±15% tolerance (vs F39's ±5%). Runs BEFORE F39 so phantoms are stripped before any baseline math runs.</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FF7618 case: 86,580 / 26w → 17,760 / 26w. Phantom-replay shipments no longer compound with their underlying order to double-count demand.</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FF7618</a:t>
            </a:r>
            <a:r>
              <a:rPr sz="1000">
                <a:solidFill>
                  <a:srgbClr val="333333"/>
                </a:solidFill>
                <a:latin typeface="Calibri"/>
              </a:rPr>
              <a:t> — Amazon ship-lag dedupe. Shipment record for week LW_16 (14,328 units) effectively reappeared as a near-duplicate order at LW_15 (14,184 units, ~1% drift). F41 uses shipment evidence (the strongest signal) to keep LW_16 and zero LW_15 — phantom dedupe with ±15% tolerance. Runs BEFORE F39. Brought FF7618 from 86,580/26w → 17,760/26w.</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31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phantom dedupe &amp; spike attenuation (F39-F48)</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8 of 10 (page 2 of 4)</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F42</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POS-anchored Heuristic-baseline cap (Amazon)</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Even after F41/F39 strip phantoms, lumpy items on Amazon Heuristic could still anchor on a window inflated by a few surviving big orders, projecting far above POS reality.</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Amazon-only. Cap the Heuristic 26w avg to POS sell-through × 26 when POS is reliable. Skip when F36/F38 are already zeroing W1-W4 (they win — F42 would over-correct).</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SF8169 case: ~87,912 → POS-realistic ~6,500 (250/wk × 26). Heuristic projections stay anchored to what Amazon shoppers are actually buying.</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1864, Mstyle SF8169</a:t>
            </a:r>
            <a:r>
              <a:rPr sz="1000">
                <a:solidFill>
                  <a:srgbClr val="333333"/>
                </a:solidFill>
                <a:latin typeface="Calibri"/>
              </a:rPr>
              <a:t> — Amazon Heuristic. After F41/F39 stripped phantoms, the 26w avg was still inflated by surviving lumpy orders. F42 anchors the Heuristic baseline to POS sell-through: ~250/wk × 26 = ~6,500 — vs the pre-cap Heuristic projection of 87,912. Amazon-only, only when POS data is reliable and coverage rules (F36/F38) aren't already governing zeroing.</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F43</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Cap recent spikes to 2.0× median</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 single 5×-median outlier in the last 4 weeks isn't a real demand signal — it's an artifact (one-time buy, replenishment shift, etc.) that drags forward forecasts up.</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Window-limited: only attenuate spikes inside the recent 4w window. Cap each in-place to 2.0× the L13 median. Annotate alert text with which historical index was capped and the original value, so reviewers can audit the cap.</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FF25895 case: 48,816 → 64,080 / 26w with smoother profile. Recent freak orders no longer leak forward 6 months.</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FF25895</a:t>
            </a:r>
            <a:r>
              <a:rPr sz="1000">
                <a:solidFill>
                  <a:srgbClr val="333333"/>
                </a:solidFill>
                <a:latin typeface="Calibri"/>
              </a:rPr>
              <a:t> — Walmart. The last 4 weeks held a single 5×-median outlier that wasn't a real demand signal. F43 capped that recent spike to 2.0× the L13 median in-place (window-limited: only attenuates spikes inside the recent window). Result: 48,816/26w → 64,080/26w with a smoother profile. Annotated in alert text so reviewers see exactly which historical index was capped.</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F44</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Re-classify after F43 attenuation</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Once F43 caps the recent spike, the model would re-read the now-flat recent window as 'lumpy / zero-heavy' and route to the wrong recipe — Lumpy when Dense is correct.</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Re-run classification on the F43-cleaned history. The dense order pattern that survives the cap usually routes to a baseline-style recipe, matching planner intent.</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The cap doesn't accidentally flip the model into the wrong recipe and undo its own smoothing.</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FF25895</a:t>
            </a:r>
            <a:r>
              <a:rPr sz="1000">
                <a:solidFill>
                  <a:srgbClr val="333333"/>
                </a:solidFill>
                <a:latin typeface="Calibri"/>
              </a:rPr>
              <a:t> — re-classification trigger. Once F43 attenuated the recent spike, the model would have read the now-flat recent window as 'lumpy/zero-heavy' and routed to the wrong recipe. F44 re-runs classification on F43-cleaned history so the model sees the dense order pattern that survives — typically routing to a baseline-style recipe instead of Lumpy.</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32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phantom dedupe &amp; spike attenuation (F39-F48)</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8 of 10 (page 3 of 4)</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F45</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Per-week forecast cap — defensive guardrail</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Even after F43+F44, seasonal positioning can amplify a surviving spike at one position past 2× the post-cap baseline.</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Cap each forecast week individually so no single position can run away from the post-cap baseline. Records the count of clamped weeks in alert text.</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Final-stage safety net: no single week can blow past the smoothed baseline, even when earlier rules pass it through.</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Defensive per-week guardrail. After F43+F44 reshape, F45 caps any individual forecast week so no single position can run away. Catches edge cases where seasonal positioning still amplifies a surviving spike past 2× the post-cap baseline. Records exactly how many weeks were clamped in the alert text for transparency.</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F46</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Post-F44 forecast rebuild</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When F43+F44+F45 fire alone, the result can still be a choppy 683/wk avg with mostly-zero weeks left over from the spike attenuation — not the smooth cadence the planner expects.</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When F44 fires, F46 rebuilds the 26-week forecast from the customer's PRE-disruption baseline: L26 nz-mean (post-F43, post-F39, post-F41) × seasonal shape, distributed smoothly across all weeks.</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FF25895 case: smooth ~1,380/wk × 26 ≈ 35,880 — matches the manual planner's intended steady cadence instead of bursty zero-heavy output.</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FF25895</a:t>
            </a:r>
            <a:r>
              <a:rPr sz="1000">
                <a:solidFill>
                  <a:srgbClr val="333333"/>
                </a:solidFill>
                <a:latin typeface="Calibri"/>
              </a:rPr>
              <a:t> — post-F44 forecast rebuild. F46 rebuilds 26 weeks from the pre-disruption baseline (L26 nz-mean × seasonal shape) distributed smoothly. AI lands at ~1,380/wk × 26 ≈ 35,880 — matching planner intent of a steady cadence — instead of choppy 683/wk with mostly-zero weeks left over from F43+F44+F45 alone.</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F47</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OOS rebuild-ramp normalization (2026-05-07)</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After a multi-week stockout, customers often place compounding catch-up orders to rebuild safety stock. These show up as 3-5× the pre-OOS pace and inflate the L13 baseline for ~6 months. F47 detects this pattern and normalizes the surge to true demand intent before downstream rules see it.</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Detect ≥3 consecutive ship=0 weeks with ord&gt;0 (active stockout). Cap each within-gap order at 1.3× the pre-OOS baseline (L13 nz-avg from pre-OOS window). First post-gap week also capped if it lands ≥1.5× baseline. Capped indices passed to F39/F41 dedupe rules as `protected_indices` to prevent double-zeroing.</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FF12660 case: pre-OOS ~1,800/wk, then 8,640 / 9,720 / 6,840 rebuild orders. F47 caps each to ~2,340 before downstream math runs. Brought FF12660 from +27% over manual to -13% under, matching VP's pre-OOS pace expectation.</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FF12660</a:t>
            </a:r>
            <a:r>
              <a:rPr sz="1000">
                <a:solidFill>
                  <a:srgbClr val="333333"/>
                </a:solidFill>
                <a:latin typeface="Calibri"/>
              </a:rPr>
              <a:t> — Walmart Seasonal Baseline. F47 (OOS rebuild-ramp normalization, 2026-05-07) detects ≥3 consecutive ship=0 weeks with ord&gt;0 (active stockout) and caps each within-gap order at 1.3× the pre-OOS baseline. The first post-gap week is also capped if it lands ≥1.5× the baseline. Capped indices are passed to F39/F41 dedupe rules as `protected_indices` to prevent double-zeroing. Brought FF12660 from +27% over manual to -13% — the rebuild-order spikes (8,640/9,720/6,840 vs pre-OOS pace ~1,800) are normalized to true demand intent before downstream rules see them.</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33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phantom dedupe &amp; spike attenuation (F39-F48)</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8 of 10 (page 4 of 4)</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F48</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Post-OOS spike-and-cooldown anchor (2026-05-07)</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Even after F47 normalizes the stockout pattern, some records still get inflated L13 from a single big rebuild order followed by L4 cooling toward true pace. F47 requires ≥3 CONSECUTIVE ship=0 weeks; F48 catches the spike-and-cooldown pattern where the gap was scattered (lumpy zeros, not strictly consecutive).</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Trigger A (universal): max ord in L13 ≥ 2.5× median (excl max), spike in W-12..W-5, AND L4 all-weeks avg &lt; L13 nz-avg × 0.80. Trigger B (Amazon): healthy POS AND L4 ord &lt; POS_blend × 0.85. Action: cap baseline at MAX(L4_avg, L26_avg) × 1.20 (Amazon: MAX(L4, POS_blend) × 1.20). Critical: uses L4 ALL-weeks avg (zeros = real buyer-side pause signal), not L4 nz-avg.</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BB13437 (Amazon) +54% over manual → +3% (anchored on POS_blend). FF15592 (Walmart) +33% → +24% (anchored on max L4/L26). 147 fires across 4,194-record cohort.</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1864, Mstyle BB13437</a:t>
            </a:r>
            <a:r>
              <a:rPr sz="1000">
                <a:solidFill>
                  <a:srgbClr val="333333"/>
                </a:solidFill>
                <a:latin typeface="Calibri"/>
              </a:rPr>
              <a:t> — Amazon Seasonal Baseline. F48 (post-OOS spike-and-cooldown anchor, 2026-05-07) detects when L13 baseline is inflated by a recent rebuild-order spike followed by L4 cooling. Trigger A: max ord in L13 ≥ 2.5× median (excl max), spike in W-12..W-5, AND L4 all-weeks avg &lt; L13 nz-avg × 0.80. Trigger B (Amazon): healthy POS AND L4 ord &lt; POS_blend × 0.85. Action: cap baseline at MAX(L4_avg, L26_avg) × 1.20 (Amazon: MAX(L4, POS_blend) × 1.20). Brought BB13437 from +54% over manual to +3%, FF15592 from +33% to +24%. Critical detail: uses L4 ALL-weeks avg (zeros count as buyer-side pause signal), not L4 nz-avg.</a:t>
            </a:r>
          </a:p>
        </p:txBody>
      </p:sp>
      <p:sp>
        <p:nvSpPr>
          <p:cNvPr id="18" name="TextBox 1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34 / 35</a:t>
            </a:r>
          </a:p>
        </p:txBody>
      </p:sp>
      <p:sp>
        <p:nvSpPr>
          <p:cNvPr id="19" name="TextBox 1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Bug fixes — root-cause corrections (2026-05-07)</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9 of 10 (page 1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VP-Q6</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Fill-rate unit-mismatch fix</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The OOS detection compared `Shpd_Wk_L13W_cust_` (a per-week average) against L13 ORDER total — off by a factor of 13. False-positived OOS for nearly every active record (e.g. BB13437 reported 9% fill-rate when true fill-rate was 120% catch-up). Cascade then forced L13 nz-avg baseline + enabled F13 drawdown lift + F38 trend lift, inflating cap_base by 50-100% across thousands of records.</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Compare per-week-avg shipped vs per-week-avg ordered (apples-to-apples). Raised OOS threshold from 0.85 → 0.70 to require a clearly broken fill-rate. The fix removed the false-positive cascade for the majority of the active cohort.</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BB13437 baseline drop ~85% → matches POS reality. Cohort total dropped from prior +18% bias to -24% under manual — closer to the truth, since manual planners are themselves running ~20% over real demand based on over-projection patterns.</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OOS fill-rate calculation bug-fix (2026-05-07). The `Shpd_Wk_L13W_cust_` field is a per-week average, but the code was comparing it against the L13 ORDER total</a:t>
            </a:r>
            <a:r>
              <a:rPr sz="1000">
                <a:solidFill>
                  <a:srgbClr val="333333"/>
                </a:solidFill>
                <a:latin typeface="Calibri"/>
              </a:rPr>
              <a:t> — off by a factor of 13. False-positived OOS for nearly every active record (e.g. BB13437 reported 9% fill-rate when true fill-rate was 120% catch-up). The cascade then forced L13 nz-avg baseline + enabled F13 drawdown lift + F38 trend lift, inflating cap_base by 50-100% across thousands of records. Fix: compare per-week-avg vs per-week-avg, raised OOS threshold from 0.85 → 0.70 to require a clearly broken fill-rate.</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F36 (rev)</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F36 widening + active-orders guard</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F36 (Amazon stockup-burnoff) only looked at the last 13 weeks of shipments — missed stockups older than 13w (e.g. SF8169's 28k-unit stockup at W-11 was outside the narrower window). Also fired even when L4 orders were ramping (FF12853 had L4 ord 2,600/wk vs POS 1,700/wk — actively replenishing — but F36 still zeroed W1-W5).</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(1) Widen SHP window from L13W → L26W. (2) Add L4 active-orders guard — if recent ORDERS run at ≥70% of POS rate, customer is actively replenishing; F36 doesn't fire even if a recent shipment was big.</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SF8169: now correctly forced to 0 for 26w (was 8,280). FF12853: W1-W5 no longer zeroed; AI 41,316 vs prior 34,380, closer to the 51,755 manual.</a:t>
            </a:r>
          </a:p>
        </p:txBody>
      </p:sp>
      <p:sp>
        <p:nvSpPr>
          <p:cNvPr id="28" name="Rectangle 27"/>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R9 (rev)</a:t>
            </a:r>
          </a:p>
        </p:txBody>
      </p:sp>
      <p:sp>
        <p:nvSpPr>
          <p:cNvPr id="31" name="TextBox 30"/>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R9 unconditional Heuristic ceiling</a:t>
            </a:r>
          </a:p>
        </p:txBody>
      </p:sp>
      <p:sp>
        <p:nvSpPr>
          <p:cNvPr id="32" name="TextBox 31"/>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3" name="TextBox 32"/>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R9's L52-avg × 2.0 ceiling on Heuristic baseline was previously SKIPPED when F23b trailing-zero discount also fired, on the theory that double-discount would crush items recovering from a dip. But this let single-PO patterns escape the ceiling: FF7612 had L13 = single 5,208-unit PO 12w ago then dormant; F23b discounted to 1,562 which projected ~37K vs L26 all-weeks avg 426/wk — still ~9× the truth.</a:t>
            </a:r>
          </a:p>
        </p:txBody>
      </p:sp>
      <p:sp>
        <p:nvSpPr>
          <p:cNvPr id="34" name="TextBox 33"/>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5" name="TextBox 34"/>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Apply R9 unconditionally. Multiplier 2.0× normally, raised to 2.5× when F23b also fires (softens the double-discount on items legitimately recovering).</a:t>
            </a:r>
          </a:p>
        </p:txBody>
      </p:sp>
      <p:sp>
        <p:nvSpPr>
          <p:cNvPr id="36" name="TextBox 35"/>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7" name="TextBox 36"/>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FF7612 case: 37,584 (+657% over manual) → 8,736 (+76%). Single-PO patterns no longer escape the absolute L52 ceiling.</a:t>
            </a:r>
          </a:p>
        </p:txBody>
      </p:sp>
      <p:sp>
        <p:nvSpPr>
          <p:cNvPr id="38" name="TextBox 3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35 / 35</a:t>
            </a:r>
          </a:p>
        </p:txBody>
      </p:sp>
      <p:sp>
        <p:nvSpPr>
          <p:cNvPr id="39" name="TextBox 3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Bug fixes — root-cause corrections (2026-05-07)</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9 of 10 (page 2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R1 Amazon gate</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Amazon items NEVER classified as OTB</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R1 (One-Time-Buy detector) was designed for off-price retailers (Burlington, Ross) that buy in occasional lumps with no replenishment. Amazon items with sparse-looking histories were falsely classified as OTB — but Amazon ordering is centrally managed and even sparse histories reflect ongoing replenishment, not one-time buys.</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Add unconditional Amazon gate at the top of R1: if customer name contains 'AMAZON', return False from `_detect_otb` regardless of pattern. Amazon items that look OTB-shaped route to the standard Inactive recipe instead, which restarts forecasting the moment orders resume.</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47 Amazon records previously falsely classified as OTB (zero forecast) now route through Inactive with a real forecast path.</a:t>
            </a:r>
          </a:p>
        </p:txBody>
      </p:sp>
      <p:sp>
        <p:nvSpPr>
          <p:cNvPr id="16" name="TextBox 15"/>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36 / 35</a:t>
            </a:r>
          </a:p>
        </p:txBody>
      </p:sp>
      <p:sp>
        <p:nvSpPr>
          <p:cNvPr id="17" name="TextBox 16"/>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status &amp; classification</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10 of 10 (page 1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F5</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Respect 'Launching/New/Pilot' status</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Items flagged 'Launching/New/Pilot' in PT_Item_Status were getting routed to Inactive when their recent quarter showed zero (because they hadn't started shipping yet).</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status contains LAUNCH/NEW/PILOT, skip Inactive — route through the new-item logic that uses sibling SKUs + customer baseline + ramp curves.</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Launching items inherit reasonable forecasts from their cousins instead of zero.</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502920"/>
          </a:xfrm>
          <a:prstGeom prst="rect">
            <a:avLst/>
          </a:prstGeom>
          <a:noFill/>
        </p:spPr>
        <p:txBody>
          <a:bodyPr wrap="square" lIns="45720" rIns="45720" tIns="0" bIns="18288">
            <a:spAutoFit/>
          </a:bodyPr>
          <a:lstStyle/>
          <a:p>
            <a:pPr algn="l"/>
            <a:r>
              <a:rPr sz="1000" b="1">
                <a:solidFill>
                  <a:srgbClr val="1F3A5F"/>
                </a:solidFill>
                <a:latin typeface="Calibri"/>
              </a:rPr>
              <a:t>Acct 23011, Mstyle BB24711</a:t>
            </a:r>
            <a:r>
              <a:rPr sz="1000">
                <a:solidFill>
                  <a:srgbClr val="333333"/>
                </a:solidFill>
                <a:latin typeface="Calibri"/>
              </a:rPr>
              <a:t> — Walmart, PT_Item_Status contains 'NEW' AND zero recent quarter shipments. F5 routes through the new-item sibling-SKU logic (F1 mstyle-family rate × cust-scale × 0.5 conservative) instead of dropping into the standard Inactive bucket. Launching items inherit a reasonable forecast from their cousins.</a:t>
            </a:r>
          </a:p>
        </p:txBody>
      </p:sp>
      <p:sp>
        <p:nvSpPr>
          <p:cNvPr id="18" name="Rectangle 17"/>
          <p:cNvSpPr/>
          <p:nvPr/>
        </p:nvSpPr>
        <p:spPr>
          <a:xfrm>
            <a:off x="457200" y="274320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74320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4320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F8</a:t>
            </a:r>
          </a:p>
        </p:txBody>
      </p:sp>
      <p:sp>
        <p:nvSpPr>
          <p:cNvPr id="21" name="TextBox 20"/>
          <p:cNvSpPr txBox="1"/>
          <p:nvPr/>
        </p:nvSpPr>
        <p:spPr>
          <a:xfrm>
            <a:off x="1325880" y="276148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Check more category fields</a:t>
            </a:r>
          </a:p>
        </p:txBody>
      </p:sp>
      <p:sp>
        <p:nvSpPr>
          <p:cNvPr id="22" name="TextBox 21"/>
          <p:cNvSpPr txBox="1"/>
          <p:nvPr/>
        </p:nvSpPr>
        <p:spPr>
          <a:xfrm>
            <a:off x="1371600" y="298094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23" name="TextBox 22"/>
          <p:cNvSpPr txBox="1"/>
          <p:nvPr/>
        </p:nvSpPr>
        <p:spPr>
          <a:xfrm>
            <a:off x="2286000" y="298094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Seasonality was only matched on Master_Category — Product_Category and Product_Subcategory were ignored.</a:t>
            </a:r>
          </a:p>
        </p:txBody>
      </p:sp>
      <p:sp>
        <p:nvSpPr>
          <p:cNvPr id="24" name="TextBox 23"/>
          <p:cNvSpPr txBox="1"/>
          <p:nvPr/>
        </p:nvSpPr>
        <p:spPr>
          <a:xfrm>
            <a:off x="1371600" y="329184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25" name="TextBox 24"/>
          <p:cNvSpPr txBox="1"/>
          <p:nvPr/>
        </p:nvSpPr>
        <p:spPr>
          <a:xfrm>
            <a:off x="2286000" y="329184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Match on all three category fields. More items get the right seasonal shape applied.</a:t>
            </a:r>
          </a:p>
        </p:txBody>
      </p:sp>
      <p:sp>
        <p:nvSpPr>
          <p:cNvPr id="26" name="TextBox 25"/>
          <p:cNvSpPr txBox="1"/>
          <p:nvPr/>
        </p:nvSpPr>
        <p:spPr>
          <a:xfrm>
            <a:off x="1371600" y="379476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27" name="TextBox 26"/>
          <p:cNvSpPr txBox="1"/>
          <p:nvPr/>
        </p:nvSpPr>
        <p:spPr>
          <a:xfrm>
            <a:off x="2286000" y="379476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Better seasonal coverage across the catalog.</a:t>
            </a:r>
          </a:p>
        </p:txBody>
      </p:sp>
      <p:sp>
        <p:nvSpPr>
          <p:cNvPr id="28" name="TextBox 27"/>
          <p:cNvSpPr txBox="1"/>
          <p:nvPr/>
        </p:nvSpPr>
        <p:spPr>
          <a:xfrm>
            <a:off x="1371600" y="412394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29" name="TextBox 28"/>
          <p:cNvSpPr txBox="1"/>
          <p:nvPr/>
        </p:nvSpPr>
        <p:spPr>
          <a:xfrm>
            <a:off x="2286000" y="4123944"/>
            <a:ext cx="9402776" cy="502920"/>
          </a:xfrm>
          <a:prstGeom prst="rect">
            <a:avLst/>
          </a:prstGeom>
          <a:noFill/>
        </p:spPr>
        <p:txBody>
          <a:bodyPr wrap="square" lIns="45720" rIns="45720" tIns="0" bIns="18288">
            <a:spAutoFit/>
          </a:bodyPr>
          <a:lstStyle/>
          <a:p>
            <a:pPr algn="l"/>
            <a:r>
              <a:rPr sz="1000" b="1">
                <a:solidFill>
                  <a:srgbClr val="1F3A5F"/>
                </a:solidFill>
                <a:latin typeface="Calibri"/>
              </a:rPr>
              <a:t>A seasonal pattern is matched via Product_Category OR Product_Subcategory rather than only Master_Category. F8 broadens the seasonal coverage so items that are tagged at sub-category level (but not master) still get their seasonal shape applied. More items in the catalog get correct seasonal lifts.</a:t>
            </a:r>
          </a:p>
        </p:txBody>
      </p:sp>
      <p:sp>
        <p:nvSpPr>
          <p:cNvPr id="30" name="Rectangle 29"/>
          <p:cNvSpPr/>
          <p:nvPr/>
        </p:nvSpPr>
        <p:spPr>
          <a:xfrm>
            <a:off x="457200" y="4709160"/>
            <a:ext cx="11277295" cy="19202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709160"/>
            <a:ext cx="777240" cy="1920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09160"/>
            <a:ext cx="777240" cy="1920240"/>
          </a:xfrm>
          <a:prstGeom prst="rect">
            <a:avLst/>
          </a:prstGeom>
          <a:noFill/>
        </p:spPr>
        <p:txBody>
          <a:bodyPr wrap="square" lIns="45720" rIns="45720" tIns="18288" bIns="18288" anchor="ctr">
            <a:spAutoFit/>
          </a:bodyPr>
          <a:lstStyle/>
          <a:p>
            <a:pPr algn="ctr"/>
            <a:r>
              <a:rPr sz="1400" b="1">
                <a:solidFill>
                  <a:srgbClr val="E9C46A"/>
                </a:solidFill>
                <a:latin typeface="Calibri"/>
              </a:rPr>
              <a:t>F19</a:t>
            </a:r>
          </a:p>
        </p:txBody>
      </p:sp>
      <p:sp>
        <p:nvSpPr>
          <p:cNvPr id="33" name="TextBox 32"/>
          <p:cNvSpPr txBox="1"/>
          <p:nvPr/>
        </p:nvSpPr>
        <p:spPr>
          <a:xfrm>
            <a:off x="1325880" y="472744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Optional: floor for Inactive items with big planner numbers</a:t>
            </a:r>
          </a:p>
        </p:txBody>
      </p:sp>
      <p:sp>
        <p:nvSpPr>
          <p:cNvPr id="34" name="TextBox 33"/>
          <p:cNvSpPr txBox="1"/>
          <p:nvPr/>
        </p:nvSpPr>
        <p:spPr>
          <a:xfrm>
            <a:off x="1371600" y="494690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35" name="TextBox 34"/>
          <p:cNvSpPr txBox="1"/>
          <p:nvPr/>
        </p:nvSpPr>
        <p:spPr>
          <a:xfrm>
            <a:off x="2286000" y="494690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Items classified Inactive but with manual projections of 5,000+ AND consumer POS &gt; 0 were forced to zero.</a:t>
            </a:r>
          </a:p>
        </p:txBody>
      </p:sp>
      <p:sp>
        <p:nvSpPr>
          <p:cNvPr id="36" name="TextBox 35"/>
          <p:cNvSpPr txBox="1"/>
          <p:nvPr/>
        </p:nvSpPr>
        <p:spPr>
          <a:xfrm>
            <a:off x="1371600" y="525780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37" name="TextBox 36"/>
          <p:cNvSpPr txBox="1"/>
          <p:nvPr/>
        </p:nvSpPr>
        <p:spPr>
          <a:xfrm>
            <a:off x="2286000" y="525780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Optional --conservative-inactive flag: apply a 50% manual-shaped floor instead of zero for these items.</a:t>
            </a:r>
          </a:p>
        </p:txBody>
      </p:sp>
      <p:sp>
        <p:nvSpPr>
          <p:cNvPr id="38" name="TextBox 37"/>
          <p:cNvSpPr txBox="1"/>
          <p:nvPr/>
        </p:nvSpPr>
        <p:spPr>
          <a:xfrm>
            <a:off x="1371600" y="576072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39" name="TextBox 38"/>
          <p:cNvSpPr txBox="1"/>
          <p:nvPr/>
        </p:nvSpPr>
        <p:spPr>
          <a:xfrm>
            <a:off x="2286000" y="576072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Opt-in safety net for accounts where planner manuals are very high-confidence.</a:t>
            </a:r>
          </a:p>
        </p:txBody>
      </p:sp>
      <p:sp>
        <p:nvSpPr>
          <p:cNvPr id="40" name="TextBox 39"/>
          <p:cNvSpPr txBox="1"/>
          <p:nvPr/>
        </p:nvSpPr>
        <p:spPr>
          <a:xfrm>
            <a:off x="1371600" y="608990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41" name="TextBox 40"/>
          <p:cNvSpPr txBox="1"/>
          <p:nvPr/>
        </p:nvSpPr>
        <p:spPr>
          <a:xfrm>
            <a:off x="2286000" y="6089904"/>
            <a:ext cx="9402776" cy="502920"/>
          </a:xfrm>
          <a:prstGeom prst="rect">
            <a:avLst/>
          </a:prstGeom>
          <a:noFill/>
        </p:spPr>
        <p:txBody>
          <a:bodyPr wrap="square" lIns="45720" rIns="45720" tIns="0" bIns="18288">
            <a:spAutoFit/>
          </a:bodyPr>
          <a:lstStyle/>
          <a:p>
            <a:pPr algn="l"/>
            <a:r>
              <a:rPr sz="1000" b="1">
                <a:solidFill>
                  <a:srgbClr val="1F3A5F"/>
                </a:solidFill>
                <a:latin typeface="Calibri"/>
              </a:rPr>
              <a:t>An Inactive-classified item with manual_total ≥ 5,000 AND consumer POS &gt; 0 (Amazon path) OR last non-zero order within 26w (non-Amazon). F19's --conservative-inactive (on by default 2026-05-06) applies a 50% manual-shaped floor instead of forcing AI to zero. Safety net for accounts where planner manuals are very high-confidence.</a:t>
            </a:r>
          </a:p>
        </p:txBody>
      </p:sp>
      <p:sp>
        <p:nvSpPr>
          <p:cNvPr id="42" name="TextBox 4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37 / 35</a:t>
            </a:r>
          </a:p>
        </p:txBody>
      </p:sp>
      <p:sp>
        <p:nvSpPr>
          <p:cNvPr id="43" name="TextBox 4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Math fine-tuning — status &amp; classification</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Math fine-tuning - Group 10 of 10 (page 2 of 2)</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777240"/>
            <a:ext cx="11277295" cy="260604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77240"/>
            <a:ext cx="777240" cy="26060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777240"/>
            <a:ext cx="777240" cy="2606040"/>
          </a:xfrm>
          <a:prstGeom prst="rect">
            <a:avLst/>
          </a:prstGeom>
          <a:noFill/>
        </p:spPr>
        <p:txBody>
          <a:bodyPr wrap="square" lIns="45720" rIns="45720" tIns="18288" bIns="18288" anchor="ctr">
            <a:spAutoFit/>
          </a:bodyPr>
          <a:lstStyle/>
          <a:p>
            <a:pPr algn="ctr"/>
            <a:r>
              <a:rPr sz="1400" b="1">
                <a:solidFill>
                  <a:srgbClr val="E9C46A"/>
                </a:solidFill>
                <a:latin typeface="Calibri"/>
              </a:rPr>
              <a:t>F20</a:t>
            </a:r>
          </a:p>
        </p:txBody>
      </p:sp>
      <p:sp>
        <p:nvSpPr>
          <p:cNvPr id="9" name="TextBox 8"/>
          <p:cNvSpPr txBox="1"/>
          <p:nvPr/>
        </p:nvSpPr>
        <p:spPr>
          <a:xfrm>
            <a:off x="1325880" y="795528"/>
            <a:ext cx="10362895" cy="201168"/>
          </a:xfrm>
          <a:prstGeom prst="rect">
            <a:avLst/>
          </a:prstGeom>
          <a:noFill/>
        </p:spPr>
        <p:txBody>
          <a:bodyPr wrap="square" lIns="45720" rIns="45720" tIns="18288" bIns="18288" anchor="t">
            <a:spAutoFit/>
          </a:bodyPr>
          <a:lstStyle/>
          <a:p>
            <a:pPr algn="l"/>
            <a:r>
              <a:rPr sz="1200" b="1">
                <a:solidFill>
                  <a:srgbClr val="1F3A5F"/>
                </a:solidFill>
                <a:latin typeface="Calibri"/>
              </a:rPr>
              <a:t>Respect explicit planner zeros</a:t>
            </a:r>
          </a:p>
        </p:txBody>
      </p:sp>
      <p:sp>
        <p:nvSpPr>
          <p:cNvPr id="10" name="TextBox 9"/>
          <p:cNvSpPr txBox="1"/>
          <p:nvPr/>
        </p:nvSpPr>
        <p:spPr>
          <a:xfrm>
            <a:off x="1371600" y="1014984"/>
            <a:ext cx="868680" cy="164592"/>
          </a:xfrm>
          <a:prstGeom prst="rect">
            <a:avLst/>
          </a:prstGeom>
          <a:noFill/>
        </p:spPr>
        <p:txBody>
          <a:bodyPr wrap="square" lIns="45720" rIns="45720" tIns="18288" bIns="18288" anchor="t">
            <a:spAutoFit/>
          </a:bodyPr>
          <a:lstStyle/>
          <a:p>
            <a:pPr algn="l"/>
            <a:r>
              <a:rPr sz="800" b="1">
                <a:solidFill>
                  <a:srgbClr val="C62828"/>
                </a:solidFill>
                <a:latin typeface="Calibri"/>
              </a:rPr>
              <a:t>PROBLEM</a:t>
            </a:r>
          </a:p>
        </p:txBody>
      </p:sp>
      <p:sp>
        <p:nvSpPr>
          <p:cNvPr id="11" name="TextBox 10"/>
          <p:cNvSpPr txBox="1"/>
          <p:nvPr/>
        </p:nvSpPr>
        <p:spPr>
          <a:xfrm>
            <a:off x="2286000" y="1014984"/>
            <a:ext cx="9402776" cy="310896"/>
          </a:xfrm>
          <a:prstGeom prst="rect">
            <a:avLst/>
          </a:prstGeom>
          <a:noFill/>
        </p:spPr>
        <p:txBody>
          <a:bodyPr wrap="square" lIns="45720" rIns="45720" tIns="18288" bIns="18288" anchor="t">
            <a:spAutoFit/>
          </a:bodyPr>
          <a:lstStyle/>
          <a:p>
            <a:pPr algn="l"/>
            <a:r>
              <a:rPr sz="1000" b="0">
                <a:solidFill>
                  <a:srgbClr val="333333"/>
                </a:solidFill>
                <a:latin typeface="Calibri"/>
              </a:rPr>
              <a:t>The Reactivating recipe could produce forecasts from history even when the planner had explicitly zeroed out all 26 weeks.</a:t>
            </a:r>
          </a:p>
        </p:txBody>
      </p:sp>
      <p:sp>
        <p:nvSpPr>
          <p:cNvPr id="12" name="TextBox 11"/>
          <p:cNvSpPr txBox="1"/>
          <p:nvPr/>
        </p:nvSpPr>
        <p:spPr>
          <a:xfrm>
            <a:off x="1371600" y="1325880"/>
            <a:ext cx="868680" cy="164592"/>
          </a:xfrm>
          <a:prstGeom prst="rect">
            <a:avLst/>
          </a:prstGeom>
          <a:noFill/>
        </p:spPr>
        <p:txBody>
          <a:bodyPr wrap="square" lIns="45720" rIns="45720" tIns="18288" bIns="18288" anchor="t">
            <a:spAutoFit/>
          </a:bodyPr>
          <a:lstStyle/>
          <a:p>
            <a:pPr algn="l"/>
            <a:r>
              <a:rPr sz="800" b="1">
                <a:solidFill>
                  <a:srgbClr val="2E7D32"/>
                </a:solidFill>
                <a:latin typeface="Calibri"/>
              </a:rPr>
              <a:t>FIX</a:t>
            </a:r>
          </a:p>
        </p:txBody>
      </p:sp>
      <p:sp>
        <p:nvSpPr>
          <p:cNvPr id="13" name="TextBox 12"/>
          <p:cNvSpPr txBox="1"/>
          <p:nvPr/>
        </p:nvSpPr>
        <p:spPr>
          <a:xfrm>
            <a:off x="2286000" y="1325880"/>
            <a:ext cx="9402776" cy="502920"/>
          </a:xfrm>
          <a:prstGeom prst="rect">
            <a:avLst/>
          </a:prstGeom>
          <a:noFill/>
        </p:spPr>
        <p:txBody>
          <a:bodyPr wrap="square" lIns="45720" rIns="45720" tIns="18288" bIns="18288" anchor="t">
            <a:spAutoFit/>
          </a:bodyPr>
          <a:lstStyle/>
          <a:p>
            <a:pPr algn="l"/>
            <a:r>
              <a:rPr sz="1000" b="0">
                <a:solidFill>
                  <a:srgbClr val="333333"/>
                </a:solidFill>
                <a:latin typeface="Calibri"/>
              </a:rPr>
              <a:t>If the planner's manual is zero across all 26 weeks, force the Reactivating output to zero too.</a:t>
            </a:r>
          </a:p>
        </p:txBody>
      </p:sp>
      <p:sp>
        <p:nvSpPr>
          <p:cNvPr id="14" name="TextBox 13"/>
          <p:cNvSpPr txBox="1"/>
          <p:nvPr/>
        </p:nvSpPr>
        <p:spPr>
          <a:xfrm>
            <a:off x="1371600" y="1828800"/>
            <a:ext cx="868680" cy="164592"/>
          </a:xfrm>
          <a:prstGeom prst="rect">
            <a:avLst/>
          </a:prstGeom>
          <a:noFill/>
        </p:spPr>
        <p:txBody>
          <a:bodyPr wrap="square" lIns="45720" rIns="45720" tIns="18288" bIns="18288" anchor="t">
            <a:spAutoFit/>
          </a:bodyPr>
          <a:lstStyle/>
          <a:p>
            <a:pPr algn="l"/>
            <a:r>
              <a:rPr sz="800" b="1">
                <a:solidFill>
                  <a:srgbClr val="2A9D8F"/>
                </a:solidFill>
                <a:latin typeface="Calibri"/>
              </a:rPr>
              <a:t>WHY YOU CARE</a:t>
            </a:r>
          </a:p>
        </p:txBody>
      </p:sp>
      <p:sp>
        <p:nvSpPr>
          <p:cNvPr id="15" name="TextBox 14"/>
          <p:cNvSpPr txBox="1"/>
          <p:nvPr/>
        </p:nvSpPr>
        <p:spPr>
          <a:xfrm>
            <a:off x="2286000" y="1828800"/>
            <a:ext cx="9402776" cy="329184"/>
          </a:xfrm>
          <a:prstGeom prst="rect">
            <a:avLst/>
          </a:prstGeom>
          <a:noFill/>
        </p:spPr>
        <p:txBody>
          <a:bodyPr wrap="square" lIns="45720" rIns="45720" tIns="18288" bIns="18288" anchor="t">
            <a:spAutoFit/>
          </a:bodyPr>
          <a:lstStyle/>
          <a:p>
            <a:pPr algn="l"/>
            <a:r>
              <a:rPr sz="1000" b="0">
                <a:solidFill>
                  <a:srgbClr val="333333"/>
                </a:solidFill>
                <a:latin typeface="Calibri"/>
              </a:rPr>
              <a:t>When the planner says 'this is dead', the AI agrees.</a:t>
            </a:r>
          </a:p>
        </p:txBody>
      </p:sp>
      <p:sp>
        <p:nvSpPr>
          <p:cNvPr id="16" name="TextBox 15"/>
          <p:cNvSpPr txBox="1"/>
          <p:nvPr/>
        </p:nvSpPr>
        <p:spPr>
          <a:xfrm>
            <a:off x="1371600" y="2157984"/>
            <a:ext cx="868680" cy="164592"/>
          </a:xfrm>
          <a:prstGeom prst="rect">
            <a:avLst/>
          </a:prstGeom>
          <a:noFill/>
        </p:spPr>
        <p:txBody>
          <a:bodyPr wrap="square" lIns="45720" rIns="45720" tIns="18288" bIns="18288" anchor="t">
            <a:spAutoFit/>
          </a:bodyPr>
          <a:lstStyle/>
          <a:p>
            <a:pPr algn="l"/>
            <a:r>
              <a:rPr sz="800" b="1">
                <a:solidFill>
                  <a:srgbClr val="E76F51"/>
                </a:solidFill>
                <a:latin typeface="Calibri"/>
              </a:rPr>
              <a:t>EXAMPLE</a:t>
            </a:r>
          </a:p>
        </p:txBody>
      </p:sp>
      <p:sp>
        <p:nvSpPr>
          <p:cNvPr id="17" name="TextBox 16"/>
          <p:cNvSpPr txBox="1"/>
          <p:nvPr/>
        </p:nvSpPr>
        <p:spPr>
          <a:xfrm>
            <a:off x="2286000" y="2157984"/>
            <a:ext cx="9402776" cy="1188720"/>
          </a:xfrm>
          <a:prstGeom prst="rect">
            <a:avLst/>
          </a:prstGeom>
          <a:noFill/>
        </p:spPr>
        <p:txBody>
          <a:bodyPr wrap="square" lIns="45720" rIns="45720" tIns="0" bIns="18288">
            <a:spAutoFit/>
          </a:bodyPr>
          <a:lstStyle/>
          <a:p>
            <a:pPr algn="l"/>
            <a:r>
              <a:rPr sz="1000" b="1">
                <a:solidFill>
                  <a:srgbClr val="1F3A5F"/>
                </a:solidFill>
                <a:latin typeface="Calibri"/>
              </a:rPr>
              <a:t>Acct 23011, Mstyle FF28402</a:t>
            </a:r>
            <a:r>
              <a:rPr sz="1000">
                <a:solidFill>
                  <a:srgbClr val="333333"/>
                </a:solidFill>
                <a:latin typeface="Calibri"/>
              </a:rPr>
              <a:t> — Walmart, planner manually zeroed all 26 weeks. F20 forces the Reactivating recipe output to zero too, even though the recipe could have synthesized a forecast from history. When the planner says 'this is dead', the AI agrees rather than fighting the explicit zero.</a:t>
            </a:r>
          </a:p>
        </p:txBody>
      </p:sp>
      <p:sp>
        <p:nvSpPr>
          <p:cNvPr id="18" name="TextBox 1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38 / 35</a:t>
            </a:r>
          </a:p>
        </p:txBody>
      </p:sp>
      <p:sp>
        <p:nvSpPr>
          <p:cNvPr id="19" name="TextBox 1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Case-pack rounding</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AI numbers always match what we can actually ship</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The rule</a:t>
            </a:r>
          </a:p>
        </p:txBody>
      </p:sp>
      <p:sp>
        <p:nvSpPr>
          <p:cNvPr id="7" name="TextBox 6"/>
          <p:cNvSpPr txBox="1"/>
          <p:nvPr/>
        </p:nvSpPr>
        <p:spPr>
          <a:xfrm>
            <a:off x="457200" y="1325880"/>
            <a:ext cx="11277295" cy="1828800"/>
          </a:xfrm>
          <a:prstGeom prst="rect">
            <a:avLst/>
          </a:prstGeom>
          <a:noFill/>
        </p:spPr>
        <p:txBody>
          <a:bodyPr wrap="square" lIns="45720">
            <a:spAutoFit/>
          </a:bodyPr>
          <a:lstStyle/>
          <a:p>
            <a:pPr algn="l">
              <a:spcAft>
                <a:spcPts val="500"/>
              </a:spcAft>
            </a:pPr>
            <a:r>
              <a:rPr sz="1200" b="1">
                <a:solidFill>
                  <a:srgbClr val="2A9D8F"/>
                </a:solidFill>
                <a:latin typeface="Calibri"/>
              </a:rPr>
              <a:t>●  </a:t>
            </a:r>
            <a:r>
              <a:rPr sz="1200">
                <a:solidFill>
                  <a:srgbClr val="333333"/>
                </a:solidFill>
                <a:latin typeface="Calibri"/>
              </a:rPr>
              <a:t>Every non-zero AI forecast week is rounded to the nearest case-pack multiple</a:t>
            </a:r>
          </a:p>
          <a:p>
            <a:pPr algn="l">
              <a:spcAft>
                <a:spcPts val="500"/>
              </a:spcAft>
            </a:pPr>
            <a:r>
              <a:rPr sz="1200" b="1">
                <a:solidFill>
                  <a:srgbClr val="2A9D8F"/>
                </a:solidFill>
                <a:latin typeface="Calibri"/>
              </a:rPr>
              <a:t>●  </a:t>
            </a:r>
            <a:r>
              <a:rPr sz="1200">
                <a:solidFill>
                  <a:srgbClr val="333333"/>
                </a:solidFill>
                <a:latin typeface="Calibri"/>
              </a:rPr>
              <a:t>We pull the case-pack from Quickbase Styles (defaults to 1 if missing)</a:t>
            </a:r>
          </a:p>
          <a:p>
            <a:pPr algn="l">
              <a:spcAft>
                <a:spcPts val="500"/>
              </a:spcAft>
            </a:pPr>
            <a:r>
              <a:rPr sz="1200" b="1">
                <a:solidFill>
                  <a:srgbClr val="2A9D8F"/>
                </a:solidFill>
                <a:latin typeface="Calibri"/>
              </a:rPr>
              <a:t>●  </a:t>
            </a:r>
            <a:r>
              <a:rPr sz="1200">
                <a:solidFill>
                  <a:srgbClr val="333333"/>
                </a:solidFill>
                <a:latin typeface="Calibri"/>
              </a:rPr>
              <a:t>If a recipe predicts 47 units and the case-pack is 12, the AI shows 48 (4 cases)</a:t>
            </a:r>
          </a:p>
          <a:p>
            <a:pPr algn="l">
              <a:spcAft>
                <a:spcPts val="500"/>
              </a:spcAft>
            </a:pPr>
            <a:r>
              <a:rPr sz="1200" b="1">
                <a:solidFill>
                  <a:srgbClr val="2A9D8F"/>
                </a:solidFill>
                <a:latin typeface="Calibri"/>
              </a:rPr>
              <a:t>●  </a:t>
            </a:r>
            <a:r>
              <a:rPr sz="1200">
                <a:solidFill>
                  <a:srgbClr val="333333"/>
                </a:solidFill>
                <a:latin typeface="Calibri"/>
              </a:rPr>
              <a:t>Rounding happens BEFORE the PO zero-out — confirmed POs stay confirmed POs</a:t>
            </a:r>
          </a:p>
        </p:txBody>
      </p:sp>
      <p:sp>
        <p:nvSpPr>
          <p:cNvPr id="8" name="TextBox 7"/>
          <p:cNvSpPr txBox="1"/>
          <p:nvPr/>
        </p:nvSpPr>
        <p:spPr>
          <a:xfrm>
            <a:off x="457200" y="320040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Why this matters</a:t>
            </a:r>
          </a:p>
        </p:txBody>
      </p:sp>
      <p:sp>
        <p:nvSpPr>
          <p:cNvPr id="9" name="TextBox 8"/>
          <p:cNvSpPr txBox="1"/>
          <p:nvPr/>
        </p:nvSpPr>
        <p:spPr>
          <a:xfrm>
            <a:off x="457200" y="3566160"/>
            <a:ext cx="11277295" cy="1828800"/>
          </a:xfrm>
          <a:prstGeom prst="rect">
            <a:avLst/>
          </a:prstGeom>
          <a:noFill/>
        </p:spPr>
        <p:txBody>
          <a:bodyPr wrap="square" lIns="45720">
            <a:spAutoFit/>
          </a:bodyPr>
          <a:lstStyle/>
          <a:p>
            <a:pPr algn="l">
              <a:spcAft>
                <a:spcPts val="500"/>
              </a:spcAft>
            </a:pPr>
            <a:r>
              <a:rPr sz="1200" b="1">
                <a:solidFill>
                  <a:srgbClr val="2A9D8F"/>
                </a:solidFill>
                <a:latin typeface="Calibri"/>
              </a:rPr>
              <a:t>●  </a:t>
            </a:r>
            <a:r>
              <a:rPr sz="1200">
                <a:solidFill>
                  <a:srgbClr val="333333"/>
                </a:solidFill>
                <a:latin typeface="Calibri"/>
              </a:rPr>
              <a:t>Inventory ships in case-pack increments — fractional units are physically impossible</a:t>
            </a:r>
          </a:p>
          <a:p>
            <a:pPr algn="l">
              <a:spcAft>
                <a:spcPts val="500"/>
              </a:spcAft>
            </a:pPr>
            <a:r>
              <a:rPr sz="1200" b="1">
                <a:solidFill>
                  <a:srgbClr val="2A9D8F"/>
                </a:solidFill>
                <a:latin typeface="Calibri"/>
              </a:rPr>
              <a:t>●  </a:t>
            </a:r>
            <a:r>
              <a:rPr sz="1200">
                <a:solidFill>
                  <a:srgbClr val="333333"/>
                </a:solidFill>
                <a:latin typeface="Calibri"/>
              </a:rPr>
              <a:t>AI numbers align with how POs actually get cut (always whole cases)</a:t>
            </a:r>
          </a:p>
          <a:p>
            <a:pPr algn="l">
              <a:spcAft>
                <a:spcPts val="500"/>
              </a:spcAft>
            </a:pPr>
            <a:r>
              <a:rPr sz="1200" b="1">
                <a:solidFill>
                  <a:srgbClr val="2A9D8F"/>
                </a:solidFill>
                <a:latin typeface="Calibri"/>
              </a:rPr>
              <a:t>●  </a:t>
            </a:r>
            <a:r>
              <a:rPr sz="1200">
                <a:solidFill>
                  <a:srgbClr val="333333"/>
                </a:solidFill>
                <a:latin typeface="Calibri"/>
              </a:rPr>
              <a:t>Replenishment downstream doesn't have to do its own rounding</a:t>
            </a:r>
          </a:p>
          <a:p>
            <a:pPr algn="l">
              <a:spcAft>
                <a:spcPts val="500"/>
              </a:spcAft>
            </a:pPr>
            <a:r>
              <a:rPr sz="1200" b="1">
                <a:solidFill>
                  <a:srgbClr val="2A9D8F"/>
                </a:solidFill>
                <a:latin typeface="Calibri"/>
              </a:rPr>
              <a:t>●  </a:t>
            </a:r>
            <a:r>
              <a:rPr sz="1200">
                <a:solidFill>
                  <a:srgbClr val="333333"/>
                </a:solidFill>
                <a:latin typeface="Calibri"/>
              </a:rPr>
              <a:t>You see the realistic, shippable forecast — not a math abstraction</a:t>
            </a:r>
          </a:p>
        </p:txBody>
      </p:sp>
      <p:sp>
        <p:nvSpPr>
          <p:cNvPr id="10" name="TextBox 9"/>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28 / 35</a:t>
            </a:r>
          </a:p>
        </p:txBody>
      </p:sp>
      <p:sp>
        <p:nvSpPr>
          <p:cNvPr id="11" name="TextBox 10"/>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The AI_ALERT column — your shortcut to understanding the forecast</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Every refinement that fired is named in the alert text</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When does an alert fire?</a:t>
            </a:r>
          </a:p>
        </p:txBody>
      </p:sp>
      <p:sp>
        <p:nvSpPr>
          <p:cNvPr id="7" name="TextBox 6"/>
          <p:cNvSpPr txBox="1"/>
          <p:nvPr/>
        </p:nvSpPr>
        <p:spPr>
          <a:xfrm>
            <a:off x="457200" y="1325880"/>
            <a:ext cx="11277295" cy="822960"/>
          </a:xfrm>
          <a:prstGeom prst="rect">
            <a:avLst/>
          </a:prstGeom>
          <a:noFill/>
        </p:spPr>
        <p:txBody>
          <a:bodyPr wrap="square" lIns="45720">
            <a:spAutoFit/>
          </a:bodyPr>
          <a:lstStyle/>
          <a:p>
            <a:pPr algn="l">
              <a:spcAft>
                <a:spcPts val="500"/>
              </a:spcAft>
            </a:pPr>
            <a:r>
              <a:rPr sz="1200" b="1">
                <a:solidFill>
                  <a:srgbClr val="2A9D8F"/>
                </a:solidFill>
                <a:latin typeface="Calibri"/>
              </a:rPr>
              <a:t>●  </a:t>
            </a:r>
            <a:r>
              <a:rPr sz="1200">
                <a:solidFill>
                  <a:srgbClr val="333333"/>
                </a:solidFill>
                <a:latin typeface="Calibri"/>
              </a:rPr>
              <a:t>Whenever AI total differs from your manual projection by more than 5% (over the 26-week window)</a:t>
            </a:r>
          </a:p>
        </p:txBody>
      </p:sp>
      <p:sp>
        <p:nvSpPr>
          <p:cNvPr id="8" name="TextBox 7"/>
          <p:cNvSpPr txBox="1"/>
          <p:nvPr/>
        </p:nvSpPr>
        <p:spPr>
          <a:xfrm>
            <a:off x="457200" y="228600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What's in the alert text</a:t>
            </a:r>
          </a:p>
        </p:txBody>
      </p:sp>
      <p:sp>
        <p:nvSpPr>
          <p:cNvPr id="9" name="TextBox 8"/>
          <p:cNvSpPr txBox="1"/>
          <p:nvPr/>
        </p:nvSpPr>
        <p:spPr>
          <a:xfrm>
            <a:off x="457200" y="2651760"/>
            <a:ext cx="11277295" cy="2377440"/>
          </a:xfrm>
          <a:prstGeom prst="rect">
            <a:avLst/>
          </a:prstGeom>
          <a:noFill/>
        </p:spPr>
        <p:txBody>
          <a:bodyPr wrap="square" lIns="45720">
            <a:spAutoFit/>
          </a:bodyPr>
          <a:lstStyle/>
          <a:p>
            <a:pPr algn="l">
              <a:spcAft>
                <a:spcPts val="500"/>
              </a:spcAft>
            </a:pPr>
            <a:r>
              <a:rPr sz="1200" b="1">
                <a:solidFill>
                  <a:srgbClr val="2A9D8F"/>
                </a:solidFill>
                <a:latin typeface="Calibri"/>
              </a:rPr>
              <a:t>●  </a:t>
            </a:r>
            <a:r>
              <a:rPr sz="1200">
                <a:solidFill>
                  <a:srgbClr val="333333"/>
                </a:solidFill>
                <a:latin typeface="Calibri"/>
              </a:rPr>
              <a:t>The recipe used (Steady-Demand, Lumpy, Seasonal Baseline, etc.)</a:t>
            </a:r>
          </a:p>
          <a:p>
            <a:pPr algn="l">
              <a:spcAft>
                <a:spcPts val="500"/>
              </a:spcAft>
            </a:pPr>
            <a:r>
              <a:rPr sz="1200" b="1">
                <a:solidFill>
                  <a:srgbClr val="2A9D8F"/>
                </a:solidFill>
                <a:latin typeface="Calibri"/>
              </a:rPr>
              <a:t>●  </a:t>
            </a:r>
            <a:r>
              <a:rPr sz="1200">
                <a:solidFill>
                  <a:srgbClr val="333333"/>
                </a:solidFill>
                <a:latin typeface="Calibri"/>
              </a:rPr>
              <a:t>How 'normal demand' was defined for this item (which baseline mode)</a:t>
            </a:r>
          </a:p>
          <a:p>
            <a:pPr algn="l">
              <a:spcAft>
                <a:spcPts val="500"/>
              </a:spcAft>
            </a:pPr>
            <a:r>
              <a:rPr sz="1200" b="1">
                <a:solidFill>
                  <a:srgbClr val="2A9D8F"/>
                </a:solidFill>
                <a:latin typeface="Calibri"/>
              </a:rPr>
              <a:t>●  </a:t>
            </a:r>
            <a:r>
              <a:rPr sz="1200">
                <a:solidFill>
                  <a:srgbClr val="333333"/>
                </a:solidFill>
                <a:latin typeface="Calibri"/>
              </a:rPr>
              <a:t>Which refinement codes fired (e.g. 'F4 thin-history widened', 'F15 order-coverage 1.32x', 'VP-Q4 zeroed 3 weeks')</a:t>
            </a:r>
          </a:p>
          <a:p>
            <a:pPr algn="l">
              <a:spcAft>
                <a:spcPts val="500"/>
              </a:spcAft>
            </a:pPr>
            <a:r>
              <a:rPr sz="1200" b="1">
                <a:solidFill>
                  <a:srgbClr val="2A9D8F"/>
                </a:solidFill>
                <a:latin typeface="Calibri"/>
              </a:rPr>
              <a:t>●  </a:t>
            </a:r>
            <a:r>
              <a:rPr sz="1200">
                <a:solidFill>
                  <a:srgbClr val="333333"/>
                </a:solidFill>
                <a:latin typeface="Calibri"/>
              </a:rPr>
              <a:t>Seasonal/event notes (Prime Day weeks lifted, Fall Deal weeks lifted, etc.)</a:t>
            </a:r>
          </a:p>
          <a:p>
            <a:pPr algn="l">
              <a:spcAft>
                <a:spcPts val="500"/>
              </a:spcAft>
            </a:pPr>
            <a:r>
              <a:rPr sz="1200" b="1">
                <a:solidFill>
                  <a:srgbClr val="2A9D8F"/>
                </a:solidFill>
                <a:latin typeface="Calibri"/>
              </a:rPr>
              <a:t>●  </a:t>
            </a:r>
            <a:r>
              <a:rPr sz="1200">
                <a:solidFill>
                  <a:srgbClr val="333333"/>
                </a:solidFill>
                <a:latin typeface="Calibri"/>
              </a:rPr>
              <a:t>Stockout flags if VP-Q2 fired ('clean orders 18% higher than raw — chronic stockouts adjusted')</a:t>
            </a:r>
          </a:p>
        </p:txBody>
      </p:sp>
      <p:sp>
        <p:nvSpPr>
          <p:cNvPr id="10" name="TextBox 9"/>
          <p:cNvSpPr txBox="1"/>
          <p:nvPr/>
        </p:nvSpPr>
        <p:spPr>
          <a:xfrm>
            <a:off x="457200" y="521208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How to use it</a:t>
            </a:r>
          </a:p>
        </p:txBody>
      </p:sp>
      <p:sp>
        <p:nvSpPr>
          <p:cNvPr id="11" name="TextBox 10"/>
          <p:cNvSpPr txBox="1"/>
          <p:nvPr/>
        </p:nvSpPr>
        <p:spPr>
          <a:xfrm>
            <a:off x="457200" y="5577840"/>
            <a:ext cx="11277295" cy="777240"/>
          </a:xfrm>
          <a:prstGeom prst="rect">
            <a:avLst/>
          </a:prstGeom>
          <a:noFill/>
        </p:spPr>
        <p:txBody>
          <a:bodyPr wrap="square" lIns="45720" rIns="45720" tIns="18288" bIns="18288" anchor="t">
            <a:spAutoFit/>
          </a:bodyPr>
          <a:lstStyle/>
          <a:p>
            <a:pPr algn="l"/>
            <a:r>
              <a:rPr sz="1200" b="0">
                <a:solidFill>
                  <a:srgbClr val="333333"/>
                </a:solidFill>
                <a:latin typeface="Calibri"/>
              </a:rPr>
              <a:t>Read the alert FIRST. It tells you exactly which rules drove the AI number, in plain language. If you disagree with what fired, the viewer has 'Use AI', 'Use Sugg', and manual-edit buttons to override on the spot.</a:t>
            </a:r>
          </a:p>
        </p:txBody>
      </p:sp>
      <p:sp>
        <p:nvSpPr>
          <p:cNvPr id="12" name="TextBox 1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29 / 35</a:t>
            </a:r>
          </a:p>
        </p:txBody>
      </p:sp>
      <p:sp>
        <p:nvSpPr>
          <p:cNvPr id="13" name="TextBox 1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Validation mode — check YOUR projections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Run with --validate to flag suspicious manual numbers (no Quickbase writes)</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960120"/>
          <a:ext cx="11277295" cy="4114800"/>
        </p:xfrm>
        <a:graphic>
          <a:graphicData uri="http://schemas.openxmlformats.org/drawingml/2006/table">
            <a:tbl>
              <a:tblPr firstRow="1" bandRow="1">
                <a:tableStyleId>{5C22544A-7EE6-4342-B048-85BDC9FD1C3A}</a:tableStyleId>
              </a:tblPr>
              <a:tblGrid>
                <a:gridCol w="3759098"/>
                <a:gridCol w="3759098"/>
                <a:gridCol w="3759099"/>
              </a:tblGrid>
              <a:tr h="514350">
                <a:tc>
                  <a:txBody>
                    <a:bodyPr/>
                    <a:lstStyle/>
                    <a:p>
                      <a:pPr algn="l"/>
                      <a:r>
                        <a:rPr b="1" sz="1200">
                          <a:solidFill>
                            <a:srgbClr val="FFFFFF"/>
                          </a:solidFill>
                          <a:latin typeface="Calibri"/>
                        </a:rPr>
                        <a:t>Severity</a:t>
                      </a:r>
                    </a:p>
                  </a:txBody>
                  <a:tcPr>
                    <a:solidFill>
                      <a:srgbClr val="1F3A5F"/>
                    </a:solidFill>
                  </a:tcPr>
                </a:tc>
                <a:tc>
                  <a:txBody>
                    <a:bodyPr/>
                    <a:lstStyle/>
                    <a:p>
                      <a:pPr algn="l"/>
                      <a:r>
                        <a:rPr b="1" sz="1200">
                          <a:solidFill>
                            <a:srgbClr val="FFFFFF"/>
                          </a:solidFill>
                          <a:latin typeface="Calibri"/>
                        </a:rPr>
                        <a:t>Flag type</a:t>
                      </a:r>
                    </a:p>
                  </a:txBody>
                  <a:tcPr>
                    <a:solidFill>
                      <a:srgbClr val="1F3A5F"/>
                    </a:solidFill>
                  </a:tcPr>
                </a:tc>
                <a:tc>
                  <a:txBody>
                    <a:bodyPr/>
                    <a:lstStyle/>
                    <a:p>
                      <a:pPr algn="l"/>
                      <a:r>
                        <a:rPr b="1" sz="1200">
                          <a:solidFill>
                            <a:srgbClr val="FFFFFF"/>
                          </a:solidFill>
                          <a:latin typeface="Calibri"/>
                        </a:rPr>
                        <a:t>What triggers it</a:t>
                      </a:r>
                    </a:p>
                  </a:txBody>
                  <a:tcPr>
                    <a:solidFill>
                      <a:srgbClr val="1F3A5F"/>
                    </a:solidFill>
                  </a:tcPr>
                </a:tc>
              </a:tr>
              <a:tr h="514350">
                <a:tc>
                  <a:txBody>
                    <a:bodyPr wrap="square"/>
                    <a:lstStyle/>
                    <a:p>
                      <a:pPr algn="l"/>
                      <a:r>
                        <a:rPr sz="1100">
                          <a:solidFill>
                            <a:srgbClr val="333333"/>
                          </a:solidFill>
                          <a:latin typeface="Calibri"/>
                        </a:rPr>
                        <a:t>CRITICAL</a:t>
                      </a:r>
                    </a:p>
                  </a:txBody>
                  <a:tcPr>
                    <a:solidFill>
                      <a:srgbClr val="FFFFFF"/>
                    </a:solidFill>
                  </a:tcPr>
                </a:tc>
                <a:tc>
                  <a:txBody>
                    <a:bodyPr wrap="square"/>
                    <a:lstStyle/>
                    <a:p>
                      <a:pPr algn="l"/>
                      <a:r>
                        <a:rPr sz="1100">
                          <a:solidFill>
                            <a:srgbClr val="333333"/>
                          </a:solidFill>
                          <a:latin typeface="Calibri"/>
                        </a:rPr>
                        <a:t>Spike</a:t>
                      </a:r>
                    </a:p>
                  </a:txBody>
                  <a:tcPr>
                    <a:solidFill>
                      <a:srgbClr val="FFFFFF"/>
                    </a:solidFill>
                  </a:tcPr>
                </a:tc>
                <a:tc>
                  <a:txBody>
                    <a:bodyPr wrap="square"/>
                    <a:lstStyle/>
                    <a:p>
                      <a:pPr algn="l"/>
                      <a:r>
                        <a:rPr sz="1100">
                          <a:solidFill>
                            <a:srgbClr val="333333"/>
                          </a:solidFill>
                          <a:latin typeface="Calibri"/>
                        </a:rPr>
                        <a:t>A single week is more than 5x what we'd expect</a:t>
                      </a:r>
                    </a:p>
                  </a:txBody>
                  <a:tcPr>
                    <a:solidFill>
                      <a:srgbClr val="FFFFFF"/>
                    </a:solidFill>
                  </a:tcPr>
                </a:tc>
              </a:tr>
              <a:tr h="514350">
                <a:tc>
                  <a:txBody>
                    <a:bodyPr wrap="square"/>
                    <a:lstStyle/>
                    <a:p>
                      <a:pPr algn="l"/>
                      <a:r>
                        <a:rPr sz="1100">
                          <a:solidFill>
                            <a:srgbClr val="333333"/>
                          </a:solidFill>
                          <a:latin typeface="Calibri"/>
                        </a:rPr>
                        <a:t>CRITICAL</a:t>
                      </a:r>
                    </a:p>
                  </a:txBody>
                  <a:tcPr>
                    <a:solidFill>
                      <a:srgbClr val="F2F2F2"/>
                    </a:solidFill>
                  </a:tcPr>
                </a:tc>
                <a:tc>
                  <a:txBody>
                    <a:bodyPr wrap="square"/>
                    <a:lstStyle/>
                    <a:p>
                      <a:pPr algn="l"/>
                      <a:r>
                        <a:rPr sz="1100">
                          <a:solidFill>
                            <a:srgbClr val="333333"/>
                          </a:solidFill>
                          <a:latin typeface="Calibri"/>
                        </a:rPr>
                        <a:t>Demand on dead item</a:t>
                      </a:r>
                    </a:p>
                  </a:txBody>
                  <a:tcPr>
                    <a:solidFill>
                      <a:srgbClr val="F2F2F2"/>
                    </a:solidFill>
                  </a:tcPr>
                </a:tc>
                <a:tc>
                  <a:txBody>
                    <a:bodyPr wrap="square"/>
                    <a:lstStyle/>
                    <a:p>
                      <a:pPr algn="l"/>
                      <a:r>
                        <a:rPr sz="1100">
                          <a:solidFill>
                            <a:srgbClr val="333333"/>
                          </a:solidFill>
                          <a:latin typeface="Calibri"/>
                        </a:rPr>
                        <a:t>Non-zero projection on an item with no orders in 6+ months</a:t>
                      </a:r>
                    </a:p>
                  </a:txBody>
                  <a:tcPr>
                    <a:solidFill>
                      <a:srgbClr val="F2F2F2"/>
                    </a:solidFill>
                  </a:tcPr>
                </a:tc>
              </a:tr>
              <a:tr h="514350">
                <a:tc>
                  <a:txBody>
                    <a:bodyPr wrap="square"/>
                    <a:lstStyle/>
                    <a:p>
                      <a:pPr algn="l"/>
                      <a:r>
                        <a:rPr sz="1100">
                          <a:solidFill>
                            <a:srgbClr val="333333"/>
                          </a:solidFill>
                          <a:latin typeface="Calibri"/>
                        </a:rPr>
                        <a:t>WARNING</a:t>
                      </a:r>
                    </a:p>
                  </a:txBody>
                  <a:tcPr>
                    <a:solidFill>
                      <a:srgbClr val="FFFFFF"/>
                    </a:solidFill>
                  </a:tcPr>
                </a:tc>
                <a:tc>
                  <a:txBody>
                    <a:bodyPr wrap="square"/>
                    <a:lstStyle/>
                    <a:p>
                      <a:pPr algn="l"/>
                      <a:r>
                        <a:rPr sz="1100">
                          <a:solidFill>
                            <a:srgbClr val="333333"/>
                          </a:solidFill>
                          <a:latin typeface="Calibri"/>
                        </a:rPr>
                        <a:t>Out-of-band</a:t>
                      </a:r>
                    </a:p>
                  </a:txBody>
                  <a:tcPr>
                    <a:solidFill>
                      <a:srgbClr val="FFFFFF"/>
                    </a:solidFill>
                  </a:tcPr>
                </a:tc>
                <a:tc>
                  <a:txBody>
                    <a:bodyPr wrap="square"/>
                    <a:lstStyle/>
                    <a:p>
                      <a:pPr algn="l"/>
                      <a:r>
                        <a:rPr sz="1100">
                          <a:solidFill>
                            <a:srgbClr val="333333"/>
                          </a:solidFill>
                          <a:latin typeface="Calibri"/>
                        </a:rPr>
                        <a:t>Outside the expected range (less than 30% or more than 200% of pace)</a:t>
                      </a:r>
                    </a:p>
                  </a:txBody>
                  <a:tcPr>
                    <a:solidFill>
                      <a:srgbClr val="FFFFFF"/>
                    </a:solidFill>
                  </a:tcPr>
                </a:tc>
              </a:tr>
              <a:tr h="514350">
                <a:tc>
                  <a:txBody>
                    <a:bodyPr wrap="square"/>
                    <a:lstStyle/>
                    <a:p>
                      <a:pPr algn="l"/>
                      <a:r>
                        <a:rPr sz="1100">
                          <a:solidFill>
                            <a:srgbClr val="333333"/>
                          </a:solidFill>
                          <a:latin typeface="Calibri"/>
                        </a:rPr>
                        <a:t>WARNING</a:t>
                      </a:r>
                    </a:p>
                  </a:txBody>
                  <a:tcPr>
                    <a:solidFill>
                      <a:srgbClr val="F2F2F2"/>
                    </a:solidFill>
                  </a:tcPr>
                </a:tc>
                <a:tc>
                  <a:txBody>
                    <a:bodyPr wrap="square"/>
                    <a:lstStyle/>
                    <a:p>
                      <a:pPr algn="l"/>
                      <a:r>
                        <a:rPr sz="1100">
                          <a:solidFill>
                            <a:srgbClr val="333333"/>
                          </a:solidFill>
                          <a:latin typeface="Calibri"/>
                        </a:rPr>
                        <a:t>Sudden stop</a:t>
                      </a:r>
                    </a:p>
                  </a:txBody>
                  <a:tcPr>
                    <a:solidFill>
                      <a:srgbClr val="F2F2F2"/>
                    </a:solidFill>
                  </a:tcPr>
                </a:tc>
                <a:tc>
                  <a:txBody>
                    <a:bodyPr wrap="square"/>
                    <a:lstStyle/>
                    <a:p>
                      <a:pPr algn="l"/>
                      <a:r>
                        <a:rPr sz="1100">
                          <a:solidFill>
                            <a:srgbClr val="333333"/>
                          </a:solidFill>
                          <a:latin typeface="Calibri"/>
                        </a:rPr>
                        <a:t>Manual drops to zero with no decline signal in the data</a:t>
                      </a:r>
                    </a:p>
                  </a:txBody>
                  <a:tcPr>
                    <a:solidFill>
                      <a:srgbClr val="F2F2F2"/>
                    </a:solidFill>
                  </a:tcPr>
                </a:tc>
              </a:tr>
              <a:tr h="514350">
                <a:tc>
                  <a:txBody>
                    <a:bodyPr wrap="square"/>
                    <a:lstStyle/>
                    <a:p>
                      <a:pPr algn="l"/>
                      <a:r>
                        <a:rPr sz="1100">
                          <a:solidFill>
                            <a:srgbClr val="333333"/>
                          </a:solidFill>
                          <a:latin typeface="Calibri"/>
                        </a:rPr>
                        <a:t>WARNING</a:t>
                      </a:r>
                    </a:p>
                  </a:txBody>
                  <a:tcPr>
                    <a:solidFill>
                      <a:srgbClr val="FFFFFF"/>
                    </a:solidFill>
                  </a:tcPr>
                </a:tc>
                <a:tc>
                  <a:txBody>
                    <a:bodyPr wrap="square"/>
                    <a:lstStyle/>
                    <a:p>
                      <a:pPr algn="l"/>
                      <a:r>
                        <a:rPr sz="1100">
                          <a:solidFill>
                            <a:srgbClr val="333333"/>
                          </a:solidFill>
                          <a:latin typeface="Calibri"/>
                        </a:rPr>
                        <a:t>Off-cadence</a:t>
                      </a:r>
                    </a:p>
                  </a:txBody>
                  <a:tcPr>
                    <a:solidFill>
                      <a:srgbClr val="FFFFFF"/>
                    </a:solidFill>
                  </a:tcPr>
                </a:tc>
                <a:tc>
                  <a:txBody>
                    <a:bodyPr wrap="square"/>
                    <a:lstStyle/>
                    <a:p>
                      <a:pPr algn="l"/>
                      <a:r>
                        <a:rPr sz="1100">
                          <a:solidFill>
                            <a:srgbClr val="333333"/>
                          </a:solidFill>
                          <a:latin typeface="Calibri"/>
                        </a:rPr>
                        <a:t>Non-zero in a week the customer normally skips (monthly orderers)</a:t>
                      </a:r>
                    </a:p>
                  </a:txBody>
                  <a:tcPr>
                    <a:solidFill>
                      <a:srgbClr val="FFFFFF"/>
                    </a:solidFill>
                  </a:tcPr>
                </a:tc>
              </a:tr>
              <a:tr h="514350">
                <a:tc>
                  <a:txBody>
                    <a:bodyPr wrap="square"/>
                    <a:lstStyle/>
                    <a:p>
                      <a:pPr algn="l"/>
                      <a:r>
                        <a:rPr sz="1100">
                          <a:solidFill>
                            <a:srgbClr val="333333"/>
                          </a:solidFill>
                          <a:latin typeface="Calibri"/>
                        </a:rPr>
                        <a:t>WARNING</a:t>
                      </a:r>
                    </a:p>
                  </a:txBody>
                  <a:tcPr>
                    <a:solidFill>
                      <a:srgbClr val="F2F2F2"/>
                    </a:solidFill>
                  </a:tcPr>
                </a:tc>
                <a:tc>
                  <a:txBody>
                    <a:bodyPr wrap="square"/>
                    <a:lstStyle/>
                    <a:p>
                      <a:pPr algn="l"/>
                      <a:r>
                        <a:rPr sz="1100">
                          <a:solidFill>
                            <a:srgbClr val="333333"/>
                          </a:solidFill>
                          <a:latin typeface="Calibri"/>
                        </a:rPr>
                        <a:t>Pack mismatch</a:t>
                      </a:r>
                    </a:p>
                  </a:txBody>
                  <a:tcPr>
                    <a:solidFill>
                      <a:srgbClr val="F2F2F2"/>
                    </a:solidFill>
                  </a:tcPr>
                </a:tc>
                <a:tc>
                  <a:txBody>
                    <a:bodyPr wrap="square"/>
                    <a:lstStyle/>
                    <a:p>
                      <a:pPr algn="l"/>
                      <a:r>
                        <a:rPr sz="1100">
                          <a:solidFill>
                            <a:srgbClr val="333333"/>
                          </a:solidFill>
                          <a:latin typeface="Calibri"/>
                        </a:rPr>
                        <a:t>Quantity isn't a clean case-pack multiple</a:t>
                      </a:r>
                    </a:p>
                  </a:txBody>
                  <a:tcPr>
                    <a:solidFill>
                      <a:srgbClr val="F2F2F2"/>
                    </a:solidFill>
                  </a:tcPr>
                </a:tc>
              </a:tr>
              <a:tr h="514350">
                <a:tc>
                  <a:txBody>
                    <a:bodyPr wrap="square"/>
                    <a:lstStyle/>
                    <a:p>
                      <a:pPr algn="l"/>
                      <a:r>
                        <a:rPr sz="1100">
                          <a:solidFill>
                            <a:srgbClr val="333333"/>
                          </a:solidFill>
                          <a:latin typeface="Calibri"/>
                        </a:rPr>
                        <a:t>LOW</a:t>
                      </a:r>
                    </a:p>
                  </a:txBody>
                  <a:tcPr>
                    <a:solidFill>
                      <a:srgbClr val="FFFFFF"/>
                    </a:solidFill>
                  </a:tcPr>
                </a:tc>
                <a:tc>
                  <a:txBody>
                    <a:bodyPr wrap="square"/>
                    <a:lstStyle/>
                    <a:p>
                      <a:pPr algn="l"/>
                      <a:r>
                        <a:rPr sz="1100">
                          <a:solidFill>
                            <a:srgbClr val="333333"/>
                          </a:solidFill>
                          <a:latin typeface="Calibri"/>
                        </a:rPr>
                        <a:t>Variance</a:t>
                      </a:r>
                    </a:p>
                  </a:txBody>
                  <a:tcPr>
                    <a:solidFill>
                      <a:srgbClr val="FFFFFF"/>
                    </a:solidFill>
                  </a:tcPr>
                </a:tc>
                <a:tc>
                  <a:txBody>
                    <a:bodyPr wrap="square"/>
                    <a:lstStyle/>
                    <a:p>
                      <a:pPr algn="l"/>
                      <a:r>
                        <a:rPr sz="1100">
                          <a:solidFill>
                            <a:srgbClr val="333333"/>
                          </a:solidFill>
                          <a:latin typeface="Calibri"/>
                        </a:rPr>
                        <a:t>Within range but more than 5% off the AI's expected pace</a:t>
                      </a:r>
                    </a:p>
                  </a:txBody>
                  <a:tcPr>
                    <a:solidFill>
                      <a:srgbClr val="FFFFFF"/>
                    </a:solidFill>
                  </a:tcPr>
                </a:tc>
              </a:tr>
            </a:tbl>
          </a:graphicData>
        </a:graphic>
      </p:graphicFrame>
      <p:sp>
        <p:nvSpPr>
          <p:cNvPr id="7" name="TextBox 6"/>
          <p:cNvSpPr txBox="1"/>
          <p:nvPr/>
        </p:nvSpPr>
        <p:spPr>
          <a:xfrm>
            <a:off x="457200" y="530352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Notes</a:t>
            </a:r>
          </a:p>
        </p:txBody>
      </p:sp>
      <p:sp>
        <p:nvSpPr>
          <p:cNvPr id="8" name="TextBox 7"/>
          <p:cNvSpPr txBox="1"/>
          <p:nvPr/>
        </p:nvSpPr>
        <p:spPr>
          <a:xfrm>
            <a:off x="457200" y="5669280"/>
            <a:ext cx="11277295" cy="822960"/>
          </a:xfrm>
          <a:prstGeom prst="rect">
            <a:avLst/>
          </a:prstGeom>
          <a:noFill/>
        </p:spPr>
        <p:txBody>
          <a:bodyPr wrap="square" lIns="45720">
            <a:spAutoFit/>
          </a:bodyPr>
          <a:lstStyle/>
          <a:p>
            <a:pPr algn="l">
              <a:spcAft>
                <a:spcPts val="500"/>
              </a:spcAft>
            </a:pPr>
            <a:r>
              <a:rPr sz="1100" b="1">
                <a:solidFill>
                  <a:srgbClr val="2A9D8F"/>
                </a:solidFill>
                <a:latin typeface="Calibri"/>
              </a:rPr>
              <a:t>●  </a:t>
            </a:r>
            <a:r>
              <a:rPr sz="1100">
                <a:solidFill>
                  <a:srgbClr val="333333"/>
                </a:solidFill>
                <a:latin typeface="Calibri"/>
              </a:rPr>
              <a:t>Validation reuses the same data and recipe-picker as forecast mode — so if the AI thinks something's off, validation will too</a:t>
            </a:r>
          </a:p>
          <a:p>
            <a:pPr algn="l">
              <a:spcAft>
                <a:spcPts val="500"/>
              </a:spcAft>
            </a:pPr>
            <a:r>
              <a:rPr sz="1100" b="1">
                <a:solidFill>
                  <a:srgbClr val="2A9D8F"/>
                </a:solidFill>
                <a:latin typeface="Calibri"/>
              </a:rPr>
              <a:t>●  </a:t>
            </a:r>
            <a:r>
              <a:rPr sz="1100">
                <a:solidFill>
                  <a:srgbClr val="333333"/>
                </a:solidFill>
                <a:latin typeface="Calibri"/>
              </a:rPr>
              <a:t>Output: validation_results.json, opens in the viewer in 'validate mode'</a:t>
            </a:r>
          </a:p>
          <a:p>
            <a:pPr algn="l">
              <a:spcAft>
                <a:spcPts val="500"/>
              </a:spcAft>
            </a:pPr>
            <a:r>
              <a:rPr sz="1100" b="1">
                <a:solidFill>
                  <a:srgbClr val="2A9D8F"/>
                </a:solidFill>
                <a:latin typeface="Calibri"/>
              </a:rPr>
              <a:t>●  </a:t>
            </a:r>
            <a:r>
              <a:rPr sz="1100">
                <a:solidFill>
                  <a:srgbClr val="333333"/>
                </a:solidFill>
                <a:latin typeface="Calibri"/>
              </a:rPr>
              <a:t>You can change the band tightness with --threshold (default 2.0; use 3.0 for more relaxed)</a:t>
            </a:r>
          </a:p>
        </p:txBody>
      </p:sp>
      <p:sp>
        <p:nvSpPr>
          <p:cNvPr id="9" name="TextBox 8"/>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30 / 35</a:t>
            </a:r>
          </a:p>
        </p:txBody>
      </p:sp>
      <p:sp>
        <p:nvSpPr>
          <p:cNvPr id="10" name="TextBox 9"/>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What admins can adjust</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Knobs and switches in plain English</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960120"/>
          <a:ext cx="11277295" cy="4023360"/>
        </p:xfrm>
        <a:graphic>
          <a:graphicData uri="http://schemas.openxmlformats.org/drawingml/2006/table">
            <a:tbl>
              <a:tblPr firstRow="1" bandRow="1">
                <a:tableStyleId>{5C22544A-7EE6-4342-B048-85BDC9FD1C3A}</a:tableStyleId>
              </a:tblPr>
              <a:tblGrid>
                <a:gridCol w="3759098"/>
                <a:gridCol w="3759098"/>
                <a:gridCol w="3759099"/>
              </a:tblGrid>
              <a:tr h="447040">
                <a:tc>
                  <a:txBody>
                    <a:bodyPr/>
                    <a:lstStyle/>
                    <a:p>
                      <a:pPr algn="l"/>
                      <a:r>
                        <a:rPr b="1" sz="1200">
                          <a:solidFill>
                            <a:srgbClr val="FFFFFF"/>
                          </a:solidFill>
                          <a:latin typeface="Calibri"/>
                        </a:rPr>
                        <a:t>Knob</a:t>
                      </a:r>
                    </a:p>
                  </a:txBody>
                  <a:tcPr>
                    <a:solidFill>
                      <a:srgbClr val="1F3A5F"/>
                    </a:solidFill>
                  </a:tcPr>
                </a:tc>
                <a:tc>
                  <a:txBody>
                    <a:bodyPr/>
                    <a:lstStyle/>
                    <a:p>
                      <a:pPr algn="l"/>
                      <a:r>
                        <a:rPr b="1" sz="1200">
                          <a:solidFill>
                            <a:srgbClr val="FFFFFF"/>
                          </a:solidFill>
                          <a:latin typeface="Calibri"/>
                        </a:rPr>
                        <a:t>Default</a:t>
                      </a:r>
                    </a:p>
                  </a:txBody>
                  <a:tcPr>
                    <a:solidFill>
                      <a:srgbClr val="1F3A5F"/>
                    </a:solidFill>
                  </a:tcPr>
                </a:tc>
                <a:tc>
                  <a:txBody>
                    <a:bodyPr/>
                    <a:lstStyle/>
                    <a:p>
                      <a:pPr algn="l"/>
                      <a:r>
                        <a:rPr b="1" sz="1200">
                          <a:solidFill>
                            <a:srgbClr val="FFFFFF"/>
                          </a:solidFill>
                          <a:latin typeface="Calibri"/>
                        </a:rPr>
                        <a:t>What it controls</a:t>
                      </a:r>
                    </a:p>
                  </a:txBody>
                  <a:tcPr>
                    <a:solidFill>
                      <a:srgbClr val="1F3A5F"/>
                    </a:solidFill>
                  </a:tcPr>
                </a:tc>
              </a:tr>
              <a:tr h="447040">
                <a:tc>
                  <a:txBody>
                    <a:bodyPr wrap="square"/>
                    <a:lstStyle/>
                    <a:p>
                      <a:pPr algn="l"/>
                      <a:r>
                        <a:rPr sz="1100">
                          <a:solidFill>
                            <a:srgbClr val="333333"/>
                          </a:solidFill>
                          <a:latin typeface="Calibri"/>
                        </a:rPr>
                        <a:t>Prime Day lift schedule</a:t>
                      </a:r>
                    </a:p>
                  </a:txBody>
                  <a:tcPr>
                    <a:solidFill>
                      <a:srgbClr val="FFFFFF"/>
                    </a:solidFill>
                  </a:tcPr>
                </a:tc>
                <a:tc>
                  <a:txBody>
                    <a:bodyPr wrap="square"/>
                    <a:lstStyle/>
                    <a:p>
                      <a:pPr algn="l"/>
                      <a:r>
                        <a:rPr sz="1100">
                          <a:solidFill>
                            <a:srgbClr val="333333"/>
                          </a:solidFill>
                          <a:latin typeface="Calibri"/>
                        </a:rPr>
                        <a:t>Weeks 5–9 ramped (peak 25% in W7-W8)</a:t>
                      </a:r>
                    </a:p>
                  </a:txBody>
                  <a:tcPr>
                    <a:solidFill>
                      <a:srgbClr val="FFFFFF"/>
                    </a:solidFill>
                  </a:tcPr>
                </a:tc>
                <a:tc>
                  <a:txBody>
                    <a:bodyPr wrap="square"/>
                    <a:lstStyle/>
                    <a:p>
                      <a:pPr algn="l"/>
                      <a:r>
                        <a:rPr sz="1100">
                          <a:solidFill>
                            <a:srgbClr val="333333"/>
                          </a:solidFill>
                          <a:latin typeface="Calibri"/>
                        </a:rPr>
                        <a:t>How much to lift Amazon orders during Prime Day pre-buy</a:t>
                      </a:r>
                    </a:p>
                  </a:txBody>
                  <a:tcPr>
                    <a:solidFill>
                      <a:srgbClr val="FFFFFF"/>
                    </a:solidFill>
                  </a:tcPr>
                </a:tc>
              </a:tr>
              <a:tr h="447040">
                <a:tc>
                  <a:txBody>
                    <a:bodyPr wrap="square"/>
                    <a:lstStyle/>
                    <a:p>
                      <a:pPr algn="l"/>
                      <a:r>
                        <a:rPr sz="1100">
                          <a:solidFill>
                            <a:srgbClr val="333333"/>
                          </a:solidFill>
                          <a:latin typeface="Calibri"/>
                        </a:rPr>
                        <a:t>Fall Deal weeks / lift</a:t>
                      </a:r>
                    </a:p>
                  </a:txBody>
                  <a:tcPr>
                    <a:solidFill>
                      <a:srgbClr val="F2F2F2"/>
                    </a:solidFill>
                  </a:tcPr>
                </a:tc>
                <a:tc>
                  <a:txBody>
                    <a:bodyPr wrap="square"/>
                    <a:lstStyle/>
                    <a:p>
                      <a:pPr algn="l"/>
                      <a:r>
                        <a:rPr sz="1100">
                          <a:solidFill>
                            <a:srgbClr val="333333"/>
                          </a:solidFill>
                          <a:latin typeface="Calibri"/>
                        </a:rPr>
                        <a:t>Weeks 23–25 at +12%</a:t>
                      </a:r>
                    </a:p>
                  </a:txBody>
                  <a:tcPr>
                    <a:solidFill>
                      <a:srgbClr val="F2F2F2"/>
                    </a:solidFill>
                  </a:tcPr>
                </a:tc>
                <a:tc>
                  <a:txBody>
                    <a:bodyPr wrap="square"/>
                    <a:lstStyle/>
                    <a:p>
                      <a:pPr algn="l"/>
                      <a:r>
                        <a:rPr sz="1100">
                          <a:solidFill>
                            <a:srgbClr val="333333"/>
                          </a:solidFill>
                          <a:latin typeface="Calibri"/>
                        </a:rPr>
                        <a:t>When and how much to lift for the September pre-order</a:t>
                      </a:r>
                    </a:p>
                  </a:txBody>
                  <a:tcPr>
                    <a:solidFill>
                      <a:srgbClr val="F2F2F2"/>
                    </a:solidFill>
                  </a:tcPr>
                </a:tc>
              </a:tr>
              <a:tr h="447040">
                <a:tc>
                  <a:txBody>
                    <a:bodyPr wrap="square"/>
                    <a:lstStyle/>
                    <a:p>
                      <a:pPr algn="l"/>
                      <a:r>
                        <a:rPr sz="1100">
                          <a:solidFill>
                            <a:srgbClr val="333333"/>
                          </a:solidFill>
                          <a:latin typeface="Calibri"/>
                        </a:rPr>
                        <a:t>Amazon detector</a:t>
                      </a:r>
                    </a:p>
                  </a:txBody>
                  <a:tcPr>
                    <a:solidFill>
                      <a:srgbClr val="FFFFFF"/>
                    </a:solidFill>
                  </a:tcPr>
                </a:tc>
                <a:tc>
                  <a:txBody>
                    <a:bodyPr wrap="square"/>
                    <a:lstStyle/>
                    <a:p>
                      <a:pPr algn="l"/>
                      <a:r>
                        <a:rPr sz="1100">
                          <a:solidFill>
                            <a:srgbClr val="333333"/>
                          </a:solidFill>
                          <a:latin typeface="Calibri"/>
                        </a:rPr>
                        <a:t>Customer name contains 'AMAZON'</a:t>
                      </a:r>
                    </a:p>
                  </a:txBody>
                  <a:tcPr>
                    <a:solidFill>
                      <a:srgbClr val="FFFFFF"/>
                    </a:solidFill>
                  </a:tcPr>
                </a:tc>
                <a:tc>
                  <a:txBody>
                    <a:bodyPr wrap="square"/>
                    <a:lstStyle/>
                    <a:p>
                      <a:pPr algn="l"/>
                      <a:r>
                        <a:rPr sz="1100">
                          <a:solidFill>
                            <a:srgbClr val="333333"/>
                          </a:solidFill>
                          <a:latin typeface="Calibri"/>
                        </a:rPr>
                        <a:t>Decides which records get Amazon-only treatment (POS pulls + Prime Day lifts)</a:t>
                      </a:r>
                    </a:p>
                  </a:txBody>
                  <a:tcPr>
                    <a:solidFill>
                      <a:srgbClr val="FFFFFF"/>
                    </a:solidFill>
                  </a:tcPr>
                </a:tc>
              </a:tr>
              <a:tr h="447040">
                <a:tc>
                  <a:txBody>
                    <a:bodyPr wrap="square"/>
                    <a:lstStyle/>
                    <a:p>
                      <a:pPr algn="l"/>
                      <a:r>
                        <a:rPr sz="1100">
                          <a:solidFill>
                            <a:srgbClr val="333333"/>
                          </a:solidFill>
                          <a:latin typeface="Calibri"/>
                        </a:rPr>
                        <a:t>Steady-recipe smoothing</a:t>
                      </a:r>
                    </a:p>
                  </a:txBody>
                  <a:tcPr>
                    <a:solidFill>
                      <a:srgbClr val="F2F2F2"/>
                    </a:solidFill>
                  </a:tcPr>
                </a:tc>
                <a:tc>
                  <a:txBody>
                    <a:bodyPr wrap="square"/>
                    <a:lstStyle/>
                    <a:p>
                      <a:pPr algn="l"/>
                      <a:r>
                        <a:rPr sz="1100">
                          <a:solidFill>
                            <a:srgbClr val="333333"/>
                          </a:solidFill>
                          <a:latin typeface="Calibri"/>
                        </a:rPr>
                        <a:t>0.3 / 0.1</a:t>
                      </a:r>
                    </a:p>
                  </a:txBody>
                  <a:tcPr>
                    <a:solidFill>
                      <a:srgbClr val="F2F2F2"/>
                    </a:solidFill>
                  </a:tcPr>
                </a:tc>
                <a:tc>
                  <a:txBody>
                    <a:bodyPr wrap="square"/>
                    <a:lstStyle/>
                    <a:p>
                      <a:pPr algn="l"/>
                      <a:r>
                        <a:rPr sz="1100">
                          <a:solidFill>
                            <a:srgbClr val="333333"/>
                          </a:solidFill>
                          <a:latin typeface="Calibri"/>
                        </a:rPr>
                        <a:t>How fast the recipe reacts to recent changes vs. holds the long-run trend</a:t>
                      </a:r>
                    </a:p>
                  </a:txBody>
                  <a:tcPr>
                    <a:solidFill>
                      <a:srgbClr val="F2F2F2"/>
                    </a:solidFill>
                  </a:tcPr>
                </a:tc>
              </a:tr>
              <a:tr h="447040">
                <a:tc>
                  <a:txBody>
                    <a:bodyPr wrap="square"/>
                    <a:lstStyle/>
                    <a:p>
                      <a:pPr algn="l"/>
                      <a:r>
                        <a:rPr sz="1100">
                          <a:solidFill>
                            <a:srgbClr val="333333"/>
                          </a:solidFill>
                          <a:latin typeface="Calibri"/>
                        </a:rPr>
                        <a:t>Lumpy-recipe smoothing</a:t>
                      </a:r>
                    </a:p>
                  </a:txBody>
                  <a:tcPr>
                    <a:solidFill>
                      <a:srgbClr val="FFFFFF"/>
                    </a:solidFill>
                  </a:tcPr>
                </a:tc>
                <a:tc>
                  <a:txBody>
                    <a:bodyPr wrap="square"/>
                    <a:lstStyle/>
                    <a:p>
                      <a:pPr algn="l"/>
                      <a:r>
                        <a:rPr sz="1100">
                          <a:solidFill>
                            <a:srgbClr val="333333"/>
                          </a:solidFill>
                          <a:latin typeface="Calibri"/>
                        </a:rPr>
                        <a:t>0.3</a:t>
                      </a:r>
                    </a:p>
                  </a:txBody>
                  <a:tcPr>
                    <a:solidFill>
                      <a:srgbClr val="FFFFFF"/>
                    </a:solidFill>
                  </a:tcPr>
                </a:tc>
                <a:tc>
                  <a:txBody>
                    <a:bodyPr wrap="square"/>
                    <a:lstStyle/>
                    <a:p>
                      <a:pPr algn="l"/>
                      <a:r>
                        <a:rPr sz="1100">
                          <a:solidFill>
                            <a:srgbClr val="333333"/>
                          </a:solidFill>
                          <a:latin typeface="Calibri"/>
                        </a:rPr>
                        <a:t>How fast the lumpy recipe reacts to recent order sizes</a:t>
                      </a:r>
                    </a:p>
                  </a:txBody>
                  <a:tcPr>
                    <a:solidFill>
                      <a:srgbClr val="FFFFFF"/>
                    </a:solidFill>
                  </a:tcPr>
                </a:tc>
              </a:tr>
              <a:tr h="447040">
                <a:tc>
                  <a:txBody>
                    <a:bodyPr wrap="square"/>
                    <a:lstStyle/>
                    <a:p>
                      <a:pPr algn="l"/>
                      <a:r>
                        <a:rPr sz="1100">
                          <a:solidFill>
                            <a:srgbClr val="333333"/>
                          </a:solidFill>
                          <a:latin typeface="Calibri"/>
                        </a:rPr>
                        <a:t>Seasonal dampening</a:t>
                      </a:r>
                    </a:p>
                  </a:txBody>
                  <a:tcPr>
                    <a:solidFill>
                      <a:srgbClr val="F2F2F2"/>
                    </a:solidFill>
                  </a:tcPr>
                </a:tc>
                <a:tc>
                  <a:txBody>
                    <a:bodyPr wrap="square"/>
                    <a:lstStyle/>
                    <a:p>
                      <a:pPr algn="l"/>
                      <a:r>
                        <a:rPr sz="1100">
                          <a:solidFill>
                            <a:srgbClr val="333333"/>
                          </a:solidFill>
                          <a:latin typeface="Calibri"/>
                        </a:rPr>
                        <a:t>10% (keeps shape within ±20% of normal)</a:t>
                      </a:r>
                    </a:p>
                  </a:txBody>
                  <a:tcPr>
                    <a:solidFill>
                      <a:srgbClr val="F2F2F2"/>
                    </a:solidFill>
                  </a:tcPr>
                </a:tc>
                <a:tc>
                  <a:txBody>
                    <a:bodyPr wrap="square"/>
                    <a:lstStyle/>
                    <a:p>
                      <a:pPr algn="l"/>
                      <a:r>
                        <a:rPr sz="1100">
                          <a:solidFill>
                            <a:srgbClr val="333333"/>
                          </a:solidFill>
                          <a:latin typeface="Calibri"/>
                        </a:rPr>
                        <a:t>How much we soften time-of-year swings to prevent runaway forecasts</a:t>
                      </a:r>
                    </a:p>
                  </a:txBody>
                  <a:tcPr>
                    <a:solidFill>
                      <a:srgbClr val="F2F2F2"/>
                    </a:solidFill>
                  </a:tcPr>
                </a:tc>
              </a:tr>
              <a:tr h="447040">
                <a:tc>
                  <a:txBody>
                    <a:bodyPr wrap="square"/>
                    <a:lstStyle/>
                    <a:p>
                      <a:pPr algn="l"/>
                      <a:r>
                        <a:rPr sz="1100">
                          <a:solidFill>
                            <a:srgbClr val="333333"/>
                          </a:solidFill>
                          <a:latin typeface="Calibri"/>
                        </a:rPr>
                        <a:t>Alert threshold</a:t>
                      </a:r>
                    </a:p>
                  </a:txBody>
                  <a:tcPr>
                    <a:solidFill>
                      <a:srgbClr val="FFFFFF"/>
                    </a:solidFill>
                  </a:tcPr>
                </a:tc>
                <a:tc>
                  <a:txBody>
                    <a:bodyPr wrap="square"/>
                    <a:lstStyle/>
                    <a:p>
                      <a:pPr algn="l"/>
                      <a:r>
                        <a:rPr sz="1100">
                          <a:solidFill>
                            <a:srgbClr val="333333"/>
                          </a:solidFill>
                          <a:latin typeface="Calibri"/>
                        </a:rPr>
                        <a:t>5% variance</a:t>
                      </a:r>
                    </a:p>
                  </a:txBody>
                  <a:tcPr>
                    <a:solidFill>
                      <a:srgbClr val="FFFFFF"/>
                    </a:solidFill>
                  </a:tcPr>
                </a:tc>
                <a:tc>
                  <a:txBody>
                    <a:bodyPr wrap="square"/>
                    <a:lstStyle/>
                    <a:p>
                      <a:pPr algn="l"/>
                      <a:r>
                        <a:rPr sz="1100">
                          <a:solidFill>
                            <a:srgbClr val="333333"/>
                          </a:solidFill>
                          <a:latin typeface="Calibri"/>
                        </a:rPr>
                        <a:t>How far AI vs. manual must differ before AI_ALERT fires</a:t>
                      </a:r>
                    </a:p>
                  </a:txBody>
                  <a:tcPr>
                    <a:solidFill>
                      <a:srgbClr val="FFFFFF"/>
                    </a:solidFill>
                  </a:tcPr>
                </a:tc>
              </a:tr>
              <a:tr h="447040">
                <a:tc>
                  <a:txBody>
                    <a:bodyPr wrap="square"/>
                    <a:lstStyle/>
                    <a:p>
                      <a:pPr algn="l"/>
                      <a:r>
                        <a:rPr sz="1100">
                          <a:solidFill>
                            <a:srgbClr val="333333"/>
                          </a:solidFill>
                          <a:latin typeface="Calibri"/>
                        </a:rPr>
                        <a:t>Conservative inactive</a:t>
                      </a:r>
                    </a:p>
                  </a:txBody>
                  <a:tcPr>
                    <a:solidFill>
                      <a:srgbClr val="F2F2F2"/>
                    </a:solidFill>
                  </a:tcPr>
                </a:tc>
                <a:tc>
                  <a:txBody>
                    <a:bodyPr wrap="square"/>
                    <a:lstStyle/>
                    <a:p>
                      <a:pPr algn="l"/>
                      <a:r>
                        <a:rPr sz="1100">
                          <a:solidFill>
                            <a:srgbClr val="333333"/>
                          </a:solidFill>
                          <a:latin typeface="Calibri"/>
                        </a:rPr>
                        <a:t>Off (opt-in)</a:t>
                      </a:r>
                    </a:p>
                  </a:txBody>
                  <a:tcPr>
                    <a:solidFill>
                      <a:srgbClr val="F2F2F2"/>
                    </a:solidFill>
                  </a:tcPr>
                </a:tc>
                <a:tc>
                  <a:txBody>
                    <a:bodyPr wrap="square"/>
                    <a:lstStyle/>
                    <a:p>
                      <a:pPr algn="l"/>
                      <a:r>
                        <a:rPr sz="1100">
                          <a:solidFill>
                            <a:srgbClr val="333333"/>
                          </a:solidFill>
                          <a:latin typeface="Calibri"/>
                        </a:rPr>
                        <a:t>Whether Inactive items with big planner numbers get a small floor instead of zero</a:t>
                      </a:r>
                    </a:p>
                  </a:txBody>
                  <a:tcPr>
                    <a:solidFill>
                      <a:srgbClr val="F2F2F2"/>
                    </a:solidFill>
                  </a:tcPr>
                </a:tc>
              </a:tr>
            </a:tbl>
          </a:graphicData>
        </a:graphic>
      </p:graphicFrame>
      <p:sp>
        <p:nvSpPr>
          <p:cNvPr id="7" name="TextBox 6"/>
          <p:cNvSpPr txBox="1"/>
          <p:nvPr/>
        </p:nvSpPr>
        <p:spPr>
          <a:xfrm>
            <a:off x="457200" y="521208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Command-line switches you might use</a:t>
            </a:r>
          </a:p>
        </p:txBody>
      </p:sp>
      <p:sp>
        <p:nvSpPr>
          <p:cNvPr id="8" name="TextBox 7"/>
          <p:cNvSpPr txBox="1"/>
          <p:nvPr/>
        </p:nvSpPr>
        <p:spPr>
          <a:xfrm>
            <a:off x="457200" y="5577840"/>
            <a:ext cx="11277295" cy="914400"/>
          </a:xfrm>
          <a:prstGeom prst="rect">
            <a:avLst/>
          </a:prstGeom>
          <a:noFill/>
        </p:spPr>
        <p:txBody>
          <a:bodyPr wrap="square" lIns="45720">
            <a:spAutoFit/>
          </a:bodyPr>
          <a:lstStyle/>
          <a:p>
            <a:pPr algn="l">
              <a:spcAft>
                <a:spcPts val="500"/>
              </a:spcAft>
            </a:pPr>
            <a:r>
              <a:rPr sz="1100" b="1">
                <a:solidFill>
                  <a:srgbClr val="2A9D8F"/>
                </a:solidFill>
                <a:latin typeface="Calibri"/>
              </a:rPr>
              <a:t>●  </a:t>
            </a:r>
            <a:r>
              <a:rPr sz="1100">
                <a:solidFill>
                  <a:srgbClr val="333333"/>
                </a:solidFill>
                <a:latin typeface="Calibri"/>
              </a:rPr>
              <a:t>--oos-smoothing — turn on stockout-aware demand (currently off by default)</a:t>
            </a:r>
          </a:p>
          <a:p>
            <a:pPr algn="l">
              <a:spcAft>
                <a:spcPts val="500"/>
              </a:spcAft>
            </a:pPr>
            <a:r>
              <a:rPr sz="1100" b="1">
                <a:solidFill>
                  <a:srgbClr val="2A9D8F"/>
                </a:solidFill>
                <a:latin typeface="Calibri"/>
              </a:rPr>
              <a:t>●  </a:t>
            </a:r>
            <a:r>
              <a:rPr sz="1100">
                <a:solidFill>
                  <a:srgbClr val="333333"/>
                </a:solidFill>
                <a:latin typeface="Calibri"/>
              </a:rPr>
              <a:t>--no-po-zero — turn OFF the confirmed-PO zero-out (only for back-testing)</a:t>
            </a:r>
          </a:p>
          <a:p>
            <a:pPr algn="l">
              <a:spcAft>
                <a:spcPts val="500"/>
              </a:spcAft>
            </a:pPr>
            <a:r>
              <a:rPr sz="1100" b="1">
                <a:solidFill>
                  <a:srgbClr val="2A9D8F"/>
                </a:solidFill>
                <a:latin typeface="Calibri"/>
              </a:rPr>
              <a:t>●  </a:t>
            </a:r>
            <a:r>
              <a:rPr sz="1100">
                <a:solidFill>
                  <a:srgbClr val="333333"/>
                </a:solidFill>
                <a:latin typeface="Calibri"/>
              </a:rPr>
              <a:t>VP-Q1 (baseline definition) and VP-Q3 (cadence) are always on</a:t>
            </a:r>
          </a:p>
        </p:txBody>
      </p:sp>
      <p:sp>
        <p:nvSpPr>
          <p:cNvPr id="9" name="TextBox 8"/>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31 / 35</a:t>
            </a:r>
          </a:p>
        </p:txBody>
      </p:sp>
      <p:sp>
        <p:nvSpPr>
          <p:cNvPr id="10" name="TextBox 9"/>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What the tool reads from / writes to Quickbase</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So you know where the numbers come from</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960120"/>
          <a:ext cx="11277295" cy="4023360"/>
        </p:xfrm>
        <a:graphic>
          <a:graphicData uri="http://schemas.openxmlformats.org/drawingml/2006/table">
            <a:tbl>
              <a:tblPr firstRow="1" bandRow="1">
                <a:tableStyleId>{5C22544A-7EE6-4342-B048-85BDC9FD1C3A}</a:tableStyleId>
              </a:tblPr>
              <a:tblGrid>
                <a:gridCol w="3759098"/>
                <a:gridCol w="3759098"/>
                <a:gridCol w="3759099"/>
              </a:tblGrid>
              <a:tr h="574765">
                <a:tc>
                  <a:txBody>
                    <a:bodyPr/>
                    <a:lstStyle/>
                    <a:p>
                      <a:pPr algn="l"/>
                      <a:r>
                        <a:rPr b="1" sz="1100">
                          <a:solidFill>
                            <a:srgbClr val="FFFFFF"/>
                          </a:solidFill>
                          <a:latin typeface="Calibri"/>
                        </a:rPr>
                        <a:t>Table</a:t>
                      </a:r>
                    </a:p>
                  </a:txBody>
                  <a:tcPr>
                    <a:solidFill>
                      <a:srgbClr val="1F3A5F"/>
                    </a:solidFill>
                  </a:tcPr>
                </a:tc>
                <a:tc>
                  <a:txBody>
                    <a:bodyPr/>
                    <a:lstStyle/>
                    <a:p>
                      <a:pPr algn="l"/>
                      <a:r>
                        <a:rPr b="1" sz="1100">
                          <a:solidFill>
                            <a:srgbClr val="FFFFFF"/>
                          </a:solidFill>
                          <a:latin typeface="Calibri"/>
                        </a:rPr>
                        <a:t>Direction</a:t>
                      </a:r>
                    </a:p>
                  </a:txBody>
                  <a:tcPr>
                    <a:solidFill>
                      <a:srgbClr val="1F3A5F"/>
                    </a:solidFill>
                  </a:tcPr>
                </a:tc>
                <a:tc>
                  <a:txBody>
                    <a:bodyPr/>
                    <a:lstStyle/>
                    <a:p>
                      <a:pPr algn="l"/>
                      <a:r>
                        <a:rPr b="1" sz="1100">
                          <a:solidFill>
                            <a:srgbClr val="FFFFFF"/>
                          </a:solidFill>
                          <a:latin typeface="Calibri"/>
                        </a:rPr>
                        <a:t>What we use it for</a:t>
                      </a:r>
                    </a:p>
                  </a:txBody>
                  <a:tcPr>
                    <a:solidFill>
                      <a:srgbClr val="1F3A5F"/>
                    </a:solidFill>
                  </a:tcPr>
                </a:tc>
              </a:tr>
              <a:tr h="574765">
                <a:tc>
                  <a:txBody>
                    <a:bodyPr wrap="square"/>
                    <a:lstStyle/>
                    <a:p>
                      <a:pPr algn="l"/>
                      <a:r>
                        <a:rPr sz="1000">
                          <a:solidFill>
                            <a:srgbClr val="333333"/>
                          </a:solidFill>
                          <a:latin typeface="Calibri"/>
                        </a:rPr>
                        <a:t>Projections table</a:t>
                      </a:r>
                    </a:p>
                  </a:txBody>
                  <a:tcPr>
                    <a:solidFill>
                      <a:srgbClr val="FFFFFF"/>
                    </a:solidFill>
                  </a:tcPr>
                </a:tc>
                <a:tc>
                  <a:txBody>
                    <a:bodyPr wrap="square"/>
                    <a:lstStyle/>
                    <a:p>
                      <a:pPr algn="l"/>
                      <a:r>
                        <a:rPr sz="1000">
                          <a:solidFill>
                            <a:srgbClr val="333333"/>
                          </a:solidFill>
                          <a:latin typeface="Calibri"/>
                        </a:rPr>
                        <a:t>READ</a:t>
                      </a:r>
                    </a:p>
                  </a:txBody>
                  <a:tcPr>
                    <a:solidFill>
                      <a:srgbClr val="FFFFFF"/>
                    </a:solidFill>
                  </a:tcPr>
                </a:tc>
                <a:tc>
                  <a:txBody>
                    <a:bodyPr wrap="square"/>
                    <a:lstStyle/>
                    <a:p>
                      <a:pPr algn="l"/>
                      <a:r>
                        <a:rPr sz="1000">
                          <a:solidFill>
                            <a:srgbClr val="333333"/>
                          </a:solidFill>
                          <a:latin typeface="Calibri"/>
                        </a:rPr>
                        <a:t>Pulls active records, your manual projections, AI columns, flag status</a:t>
                      </a:r>
                    </a:p>
                  </a:txBody>
                  <a:tcPr>
                    <a:solidFill>
                      <a:srgbClr val="FFFFFF"/>
                    </a:solidFill>
                  </a:tcPr>
                </a:tc>
              </a:tr>
              <a:tr h="574765">
                <a:tc>
                  <a:txBody>
                    <a:bodyPr wrap="square"/>
                    <a:lstStyle/>
                    <a:p>
                      <a:pPr algn="l"/>
                      <a:r>
                        <a:rPr sz="1000">
                          <a:solidFill>
                            <a:srgbClr val="333333"/>
                          </a:solidFill>
                          <a:latin typeface="Calibri"/>
                        </a:rPr>
                        <a:t>Projections table</a:t>
                      </a:r>
                    </a:p>
                  </a:txBody>
                  <a:tcPr>
                    <a:solidFill>
                      <a:srgbClr val="F2F2F2"/>
                    </a:solidFill>
                  </a:tcPr>
                </a:tc>
                <a:tc>
                  <a:txBody>
                    <a:bodyPr wrap="square"/>
                    <a:lstStyle/>
                    <a:p>
                      <a:pPr algn="l"/>
                      <a:r>
                        <a:rPr sz="1000">
                          <a:solidFill>
                            <a:srgbClr val="333333"/>
                          </a:solidFill>
                          <a:latin typeface="Calibri"/>
                        </a:rPr>
                        <a:t>WRITE</a:t>
                      </a:r>
                    </a:p>
                  </a:txBody>
                  <a:tcPr>
                    <a:solidFill>
                      <a:srgbClr val="F2F2F2"/>
                    </a:solidFill>
                  </a:tcPr>
                </a:tc>
                <a:tc>
                  <a:txBody>
                    <a:bodyPr wrap="square"/>
                    <a:lstStyle/>
                    <a:p>
                      <a:pPr algn="l"/>
                      <a:r>
                        <a:rPr sz="1000">
                          <a:solidFill>
                            <a:srgbClr val="333333"/>
                          </a:solidFill>
                          <a:latin typeface="Calibri"/>
                        </a:rPr>
                        <a:t>Updates AI_PRJ_W1 through AI_PRJ_W26 + AI_ALERT for each record</a:t>
                      </a:r>
                    </a:p>
                  </a:txBody>
                  <a:tcPr>
                    <a:solidFill>
                      <a:srgbClr val="F2F2F2"/>
                    </a:solidFill>
                  </a:tcPr>
                </a:tc>
              </a:tr>
              <a:tr h="574765">
                <a:tc>
                  <a:txBody>
                    <a:bodyPr wrap="square"/>
                    <a:lstStyle/>
                    <a:p>
                      <a:pPr algn="l"/>
                      <a:r>
                        <a:rPr sz="1000">
                          <a:solidFill>
                            <a:srgbClr val="333333"/>
                          </a:solidFill>
                          <a:latin typeface="Calibri"/>
                        </a:rPr>
                        <a:t>Styles table</a:t>
                      </a:r>
                    </a:p>
                  </a:txBody>
                  <a:tcPr>
                    <a:solidFill>
                      <a:srgbClr val="FFFFFF"/>
                    </a:solidFill>
                  </a:tcPr>
                </a:tc>
                <a:tc>
                  <a:txBody>
                    <a:bodyPr wrap="square"/>
                    <a:lstStyle/>
                    <a:p>
                      <a:pPr algn="l"/>
                      <a:r>
                        <a:rPr sz="1000">
                          <a:solidFill>
                            <a:srgbClr val="333333"/>
                          </a:solidFill>
                          <a:latin typeface="Calibri"/>
                        </a:rPr>
                        <a:t>READ</a:t>
                      </a:r>
                    </a:p>
                  </a:txBody>
                  <a:tcPr>
                    <a:solidFill>
                      <a:srgbClr val="FFFFFF"/>
                    </a:solidFill>
                  </a:tcPr>
                </a:tc>
                <a:tc>
                  <a:txBody>
                    <a:bodyPr wrap="square"/>
                    <a:lstStyle/>
                    <a:p>
                      <a:pPr algn="l"/>
                      <a:r>
                        <a:rPr sz="1000">
                          <a:solidFill>
                            <a:srgbClr val="333333"/>
                          </a:solidFill>
                          <a:latin typeface="Calibri"/>
                        </a:rPr>
                        <a:t>Pulls case-pack size, brand, category fields</a:t>
                      </a:r>
                    </a:p>
                  </a:txBody>
                  <a:tcPr>
                    <a:solidFill>
                      <a:srgbClr val="FFFFFF"/>
                    </a:solidFill>
                  </a:tcPr>
                </a:tc>
              </a:tr>
              <a:tr h="574765">
                <a:tc>
                  <a:txBody>
                    <a:bodyPr wrap="square"/>
                    <a:lstStyle/>
                    <a:p>
                      <a:pPr algn="l"/>
                      <a:r>
                        <a:rPr sz="1000">
                          <a:solidFill>
                            <a:srgbClr val="333333"/>
                          </a:solidFill>
                          <a:latin typeface="Calibri"/>
                        </a:rPr>
                        <a:t>Amazon Catalog</a:t>
                      </a:r>
                    </a:p>
                  </a:txBody>
                  <a:tcPr>
                    <a:solidFill>
                      <a:srgbClr val="F2F2F2"/>
                    </a:solidFill>
                  </a:tcPr>
                </a:tc>
                <a:tc>
                  <a:txBody>
                    <a:bodyPr wrap="square"/>
                    <a:lstStyle/>
                    <a:p>
                      <a:pPr algn="l"/>
                      <a:r>
                        <a:rPr sz="1000">
                          <a:solidFill>
                            <a:srgbClr val="333333"/>
                          </a:solidFill>
                          <a:latin typeface="Calibri"/>
                        </a:rPr>
                        <a:t>READ</a:t>
                      </a:r>
                    </a:p>
                  </a:txBody>
                  <a:tcPr>
                    <a:solidFill>
                      <a:srgbClr val="F2F2F2"/>
                    </a:solidFill>
                  </a:tcPr>
                </a:tc>
                <a:tc>
                  <a:txBody>
                    <a:bodyPr wrap="square"/>
                    <a:lstStyle/>
                    <a:p>
                      <a:pPr algn="l"/>
                      <a:r>
                        <a:rPr sz="1000">
                          <a:solidFill>
                            <a:srgbClr val="333333"/>
                          </a:solidFill>
                          <a:latin typeface="Calibri"/>
                        </a:rPr>
                        <a:t>Pulls consumer-sales rates (Amazon items only)</a:t>
                      </a:r>
                    </a:p>
                  </a:txBody>
                  <a:tcPr>
                    <a:solidFill>
                      <a:srgbClr val="F2F2F2"/>
                    </a:solidFill>
                  </a:tcPr>
                </a:tc>
              </a:tr>
              <a:tr h="574765">
                <a:tc>
                  <a:txBody>
                    <a:bodyPr wrap="square"/>
                    <a:lstStyle/>
                    <a:p>
                      <a:pPr algn="l"/>
                      <a:r>
                        <a:rPr sz="1000">
                          <a:solidFill>
                            <a:srgbClr val="333333"/>
                          </a:solidFill>
                          <a:latin typeface="Calibri"/>
                        </a:rPr>
                        <a:t>Order History (saved report 27)</a:t>
                      </a:r>
                    </a:p>
                  </a:txBody>
                  <a:tcPr>
                    <a:solidFill>
                      <a:srgbClr val="FFFFFF"/>
                    </a:solidFill>
                  </a:tcPr>
                </a:tc>
                <a:tc>
                  <a:txBody>
                    <a:bodyPr wrap="square"/>
                    <a:lstStyle/>
                    <a:p>
                      <a:pPr algn="l"/>
                      <a:r>
                        <a:rPr sz="1000">
                          <a:solidFill>
                            <a:srgbClr val="333333"/>
                          </a:solidFill>
                          <a:latin typeface="Calibri"/>
                        </a:rPr>
                        <a:t>READ</a:t>
                      </a:r>
                    </a:p>
                  </a:txBody>
                  <a:tcPr>
                    <a:solidFill>
                      <a:srgbClr val="FFFFFF"/>
                    </a:solidFill>
                  </a:tcPr>
                </a:tc>
                <a:tc>
                  <a:txBody>
                    <a:bodyPr wrap="square"/>
                    <a:lstStyle/>
                    <a:p>
                      <a:pPr algn="l"/>
                      <a:r>
                        <a:rPr sz="1000">
                          <a:solidFill>
                            <a:srgbClr val="333333"/>
                          </a:solidFill>
                          <a:latin typeface="Calibri"/>
                        </a:rPr>
                        <a:t>Pulls confirmed open POs by customer ship-by date</a:t>
                      </a:r>
                    </a:p>
                  </a:txBody>
                  <a:tcPr>
                    <a:solidFill>
                      <a:srgbClr val="FFFFFF"/>
                    </a:solidFill>
                  </a:tcPr>
                </a:tc>
              </a:tr>
              <a:tr h="574770">
                <a:tc>
                  <a:txBody>
                    <a:bodyPr wrap="square"/>
                    <a:lstStyle/>
                    <a:p>
                      <a:pPr algn="l"/>
                      <a:r>
                        <a:rPr sz="1000">
                          <a:solidFill>
                            <a:srgbClr val="333333"/>
                          </a:solidFill>
                          <a:latin typeface="Calibri"/>
                        </a:rPr>
                        <a:t>Comments table</a:t>
                      </a:r>
                    </a:p>
                  </a:txBody>
                  <a:tcPr>
                    <a:solidFill>
                      <a:srgbClr val="F2F2F2"/>
                    </a:solidFill>
                  </a:tcPr>
                </a:tc>
                <a:tc>
                  <a:txBody>
                    <a:bodyPr wrap="square"/>
                    <a:lstStyle/>
                    <a:p>
                      <a:pPr algn="l"/>
                      <a:r>
                        <a:rPr sz="1000">
                          <a:solidFill>
                            <a:srgbClr val="333333"/>
                          </a:solidFill>
                          <a:latin typeface="Calibri"/>
                        </a:rPr>
                        <a:t>WRITE</a:t>
                      </a:r>
                    </a:p>
                  </a:txBody>
                  <a:tcPr>
                    <a:solidFill>
                      <a:srgbClr val="F2F2F2"/>
                    </a:solidFill>
                  </a:tcPr>
                </a:tc>
                <a:tc>
                  <a:txBody>
                    <a:bodyPr wrap="square"/>
                    <a:lstStyle/>
                    <a:p>
                      <a:pPr algn="l"/>
                      <a:r>
                        <a:rPr sz="1000">
                          <a:solidFill>
                            <a:srgbClr val="333333"/>
                          </a:solidFill>
                          <a:latin typeface="Calibri"/>
                        </a:rPr>
                        <a:t>Saves planner comments + flags (Date-of-Week is QB-computed, not set by us)</a:t>
                      </a:r>
                    </a:p>
                  </a:txBody>
                  <a:tcPr>
                    <a:solidFill>
                      <a:srgbClr val="F2F2F2"/>
                    </a:solidFill>
                  </a:tcPr>
                </a:tc>
              </a:tr>
            </a:tbl>
          </a:graphicData>
        </a:graphic>
      </p:graphicFrame>
      <p:sp>
        <p:nvSpPr>
          <p:cNvPr id="7" name="TextBox 6"/>
          <p:cNvSpPr txBox="1"/>
          <p:nvPr/>
        </p:nvSpPr>
        <p:spPr>
          <a:xfrm>
            <a:off x="457200" y="521208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How write-back works</a:t>
            </a:r>
          </a:p>
        </p:txBody>
      </p:sp>
      <p:sp>
        <p:nvSpPr>
          <p:cNvPr id="8" name="TextBox 7"/>
          <p:cNvSpPr txBox="1"/>
          <p:nvPr/>
        </p:nvSpPr>
        <p:spPr>
          <a:xfrm>
            <a:off x="457200" y="5577840"/>
            <a:ext cx="11277295" cy="914400"/>
          </a:xfrm>
          <a:prstGeom prst="rect">
            <a:avLst/>
          </a:prstGeom>
          <a:noFill/>
        </p:spPr>
        <p:txBody>
          <a:bodyPr wrap="square" lIns="45720">
            <a:spAutoFit/>
          </a:bodyPr>
          <a:lstStyle/>
          <a:p>
            <a:pPr algn="l">
              <a:spcAft>
                <a:spcPts val="500"/>
              </a:spcAft>
            </a:pPr>
            <a:r>
              <a:rPr sz="1100" b="1">
                <a:solidFill>
                  <a:srgbClr val="2A9D8F"/>
                </a:solidFill>
                <a:latin typeface="Calibri"/>
              </a:rPr>
              <a:t>●  </a:t>
            </a:r>
            <a:r>
              <a:rPr sz="1100">
                <a:solidFill>
                  <a:srgbClr val="333333"/>
                </a:solidFill>
                <a:latin typeface="Calibri"/>
              </a:rPr>
              <a:t>Writes happen in parallel (default 6 records at a time)</a:t>
            </a:r>
          </a:p>
          <a:p>
            <a:pPr algn="l">
              <a:spcAft>
                <a:spcPts val="500"/>
              </a:spcAft>
            </a:pPr>
            <a:r>
              <a:rPr sz="1100" b="1">
                <a:solidFill>
                  <a:srgbClr val="2A9D8F"/>
                </a:solidFill>
                <a:latin typeface="Calibri"/>
              </a:rPr>
              <a:t>●  </a:t>
            </a:r>
            <a:r>
              <a:rPr sz="1100">
                <a:solidFill>
                  <a:srgbClr val="333333"/>
                </a:solidFill>
                <a:latin typeface="Calibri"/>
              </a:rPr>
              <a:t>Progress saved every 50 records — if interrupted, --resume picks up where it left off</a:t>
            </a:r>
          </a:p>
          <a:p>
            <a:pPr algn="l">
              <a:spcAft>
                <a:spcPts val="500"/>
              </a:spcAft>
            </a:pPr>
            <a:r>
              <a:rPr sz="1100" b="1">
                <a:solidFill>
                  <a:srgbClr val="2A9D8F"/>
                </a:solidFill>
                <a:latin typeface="Calibri"/>
              </a:rPr>
              <a:t>●  </a:t>
            </a:r>
            <a:r>
              <a:rPr sz="1100">
                <a:solidFill>
                  <a:srgbClr val="333333"/>
                </a:solidFill>
                <a:latin typeface="Calibri"/>
              </a:rPr>
              <a:t>Failed writes are logged separately so you can retry without redoing successful ones</a:t>
            </a:r>
          </a:p>
        </p:txBody>
      </p:sp>
      <p:sp>
        <p:nvSpPr>
          <p:cNvPr id="9" name="TextBox 8"/>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32 / 35</a:t>
            </a:r>
          </a:p>
        </p:txBody>
      </p:sp>
      <p:sp>
        <p:nvSpPr>
          <p:cNvPr id="10" name="TextBox 9"/>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Example — how to read an alert in 30 seconds</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Real-style alert with a step-by-step read</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11277295" cy="1828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97280"/>
            <a:ext cx="10911535" cy="365760"/>
          </a:xfrm>
          <a:prstGeom prst="rect">
            <a:avLst/>
          </a:prstGeom>
          <a:noFill/>
        </p:spPr>
        <p:txBody>
          <a:bodyPr wrap="square" lIns="45720" rIns="45720" tIns="18288" bIns="18288" anchor="t">
            <a:spAutoFit/>
          </a:bodyPr>
          <a:lstStyle/>
          <a:p>
            <a:pPr algn="l"/>
            <a:r>
              <a:rPr sz="1100" b="1">
                <a:solidFill>
                  <a:srgbClr val="1F3A5F"/>
                </a:solidFill>
                <a:latin typeface="Calibri"/>
              </a:rPr>
              <a:t>Record: 1864-FF8654   ·   Customer: Amazon   ·   Brand: Glad for Pets</a:t>
            </a:r>
          </a:p>
        </p:txBody>
      </p:sp>
      <p:sp>
        <p:nvSpPr>
          <p:cNvPr id="8" name="TextBox 7"/>
          <p:cNvSpPr txBox="1"/>
          <p:nvPr/>
        </p:nvSpPr>
        <p:spPr>
          <a:xfrm>
            <a:off x="640080" y="1463040"/>
            <a:ext cx="10911535" cy="365760"/>
          </a:xfrm>
          <a:prstGeom prst="rect">
            <a:avLst/>
          </a:prstGeom>
          <a:noFill/>
        </p:spPr>
        <p:txBody>
          <a:bodyPr wrap="square" lIns="45720" rIns="45720" tIns="18288" bIns="18288" anchor="t">
            <a:spAutoFit/>
          </a:bodyPr>
          <a:lstStyle/>
          <a:p>
            <a:pPr algn="l"/>
            <a:r>
              <a:rPr sz="1100" b="0">
                <a:solidFill>
                  <a:srgbClr val="333333"/>
                </a:solidFill>
                <a:latin typeface="Calibri"/>
              </a:rPr>
              <a:t>Your manual: 14,200    ·    AI says: 12,850    ·    Variance: −9.5% (alert)</a:t>
            </a:r>
          </a:p>
        </p:txBody>
      </p:sp>
      <p:sp>
        <p:nvSpPr>
          <p:cNvPr id="9" name="TextBox 8"/>
          <p:cNvSpPr txBox="1"/>
          <p:nvPr/>
        </p:nvSpPr>
        <p:spPr>
          <a:xfrm>
            <a:off x="640080" y="1828800"/>
            <a:ext cx="10911535" cy="914400"/>
          </a:xfrm>
          <a:prstGeom prst="rect">
            <a:avLst/>
          </a:prstGeom>
          <a:noFill/>
        </p:spPr>
        <p:txBody>
          <a:bodyPr wrap="square" lIns="45720" rIns="45720" tIns="18288" bIns="18288" anchor="t">
            <a:spAutoFit/>
          </a:bodyPr>
          <a:lstStyle/>
          <a:p>
            <a:pPr algn="l"/>
            <a:r>
              <a:rPr sz="1100" b="0">
                <a:solidFill>
                  <a:srgbClr val="333333"/>
                </a:solidFill>
                <a:latin typeface="Calibri"/>
              </a:rPr>
              <a:t>AI_ALERT text:</a:t>
            </a:r>
          </a:p>
          <a:p>
            <a:pPr algn="l"/>
            <a:r>
              <a:rPr sz="1100" b="0">
                <a:solidFill>
                  <a:srgbClr val="333333"/>
                </a:solidFill>
                <a:latin typeface="Calibri"/>
              </a:rPr>
              <a:t>Recipe: Seasonal Baseline · Baseline: average of last 13 active weeks (486/wk) · Prime Day W5-W9 ramp applied · Order rate runs 32% over Amazon shopper rate, baseline blended toward orders · 4 trailing zero weeks → −12% drawdown discount · 2 confirmed POs in W3 and W5 totaling 1,940 units, AI weeks zeroed.</a:t>
            </a:r>
          </a:p>
        </p:txBody>
      </p:sp>
      <p:sp>
        <p:nvSpPr>
          <p:cNvPr id="10" name="TextBox 9"/>
          <p:cNvSpPr txBox="1"/>
          <p:nvPr/>
        </p:nvSpPr>
        <p:spPr>
          <a:xfrm>
            <a:off x="457200" y="301752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How to read this in 30 seconds</a:t>
            </a:r>
          </a:p>
        </p:txBody>
      </p:sp>
      <p:sp>
        <p:nvSpPr>
          <p:cNvPr id="11" name="TextBox 10"/>
          <p:cNvSpPr txBox="1"/>
          <p:nvPr/>
        </p:nvSpPr>
        <p:spPr>
          <a:xfrm>
            <a:off x="457200" y="3383280"/>
            <a:ext cx="11277295" cy="3200400"/>
          </a:xfrm>
          <a:prstGeom prst="rect">
            <a:avLst/>
          </a:prstGeom>
          <a:noFill/>
        </p:spPr>
        <p:txBody>
          <a:bodyPr wrap="square" lIns="45720">
            <a:spAutoFit/>
          </a:bodyPr>
          <a:lstStyle/>
          <a:p>
            <a:pPr algn="l">
              <a:spcAft>
                <a:spcPts val="500"/>
              </a:spcAft>
            </a:pPr>
            <a:r>
              <a:rPr sz="1200" b="1">
                <a:solidFill>
                  <a:srgbClr val="2A9D8F"/>
                </a:solidFill>
                <a:latin typeface="Calibri"/>
              </a:rPr>
              <a:t>●  </a:t>
            </a:r>
            <a:r>
              <a:rPr sz="1200">
                <a:solidFill>
                  <a:srgbClr val="333333"/>
                </a:solidFill>
                <a:latin typeface="Calibri"/>
              </a:rPr>
              <a:t>Recipe is Seasonal Baseline — this is a steady, dense item (the most common case)</a:t>
            </a:r>
          </a:p>
          <a:p>
            <a:pPr algn="l">
              <a:spcAft>
                <a:spcPts val="500"/>
              </a:spcAft>
            </a:pPr>
            <a:r>
              <a:rPr sz="1200" b="1">
                <a:solidFill>
                  <a:srgbClr val="2A9D8F"/>
                </a:solidFill>
                <a:latin typeface="Calibri"/>
              </a:rPr>
              <a:t>●  </a:t>
            </a:r>
            <a:r>
              <a:rPr sz="1200">
                <a:solidFill>
                  <a:srgbClr val="333333"/>
                </a:solidFill>
                <a:latin typeface="Calibri"/>
              </a:rPr>
              <a:t>Baseline of 486/week comes from 'active weeks only' — not skewed by recent quiet weeks</a:t>
            </a:r>
          </a:p>
          <a:p>
            <a:pPr algn="l">
              <a:spcAft>
                <a:spcPts val="500"/>
              </a:spcAft>
            </a:pPr>
            <a:r>
              <a:rPr sz="1200" b="1">
                <a:solidFill>
                  <a:srgbClr val="2A9D8F"/>
                </a:solidFill>
                <a:latin typeface="Calibri"/>
              </a:rPr>
              <a:t>●  </a:t>
            </a:r>
            <a:r>
              <a:rPr sz="1200">
                <a:solidFill>
                  <a:srgbClr val="333333"/>
                </a:solidFill>
                <a:latin typeface="Calibri"/>
              </a:rPr>
              <a:t>Prime Day lift was applied to W5-W9 because customer name contains AMAZON</a:t>
            </a:r>
          </a:p>
          <a:p>
            <a:pPr algn="l">
              <a:spcAft>
                <a:spcPts val="500"/>
              </a:spcAft>
            </a:pPr>
            <a:r>
              <a:rPr sz="1200" b="1">
                <a:solidFill>
                  <a:srgbClr val="2A9D8F"/>
                </a:solidFill>
                <a:latin typeface="Calibri"/>
              </a:rPr>
              <a:t>●  </a:t>
            </a:r>
            <a:r>
              <a:rPr sz="1200">
                <a:solidFill>
                  <a:srgbClr val="333333"/>
                </a:solidFill>
                <a:latin typeface="Calibri"/>
              </a:rPr>
              <a:t>Your orders are 32% over consumer sales rate — buyer's choice for safety stock, AI respects that</a:t>
            </a:r>
          </a:p>
          <a:p>
            <a:pPr algn="l">
              <a:spcAft>
                <a:spcPts val="500"/>
              </a:spcAft>
            </a:pPr>
            <a:r>
              <a:rPr sz="1200" b="1">
                <a:solidFill>
                  <a:srgbClr val="2A9D8F"/>
                </a:solidFill>
                <a:latin typeface="Calibri"/>
              </a:rPr>
              <a:t>●  </a:t>
            </a:r>
            <a:r>
              <a:rPr sz="1200">
                <a:solidFill>
                  <a:srgbClr val="333333"/>
                </a:solidFill>
                <a:latin typeface="Calibri"/>
              </a:rPr>
              <a:t>Last 4 weeks were zero → drawdown is happening → baseline trimmed 12%</a:t>
            </a:r>
          </a:p>
          <a:p>
            <a:pPr algn="l">
              <a:spcAft>
                <a:spcPts val="500"/>
              </a:spcAft>
            </a:pPr>
            <a:r>
              <a:rPr sz="1200" b="1">
                <a:solidFill>
                  <a:srgbClr val="2A9D8F"/>
                </a:solidFill>
                <a:latin typeface="Calibri"/>
              </a:rPr>
              <a:t>●  </a:t>
            </a:r>
            <a:r>
              <a:rPr sz="1200">
                <a:solidFill>
                  <a:srgbClr val="333333"/>
                </a:solidFill>
                <a:latin typeface="Calibri"/>
              </a:rPr>
              <a:t>Customer already has confirmed POs in 2 weeks → AI didn't double-count</a:t>
            </a:r>
          </a:p>
          <a:p>
            <a:pPr algn="l">
              <a:spcAft>
                <a:spcPts val="500"/>
              </a:spcAft>
            </a:pPr>
            <a:r>
              <a:rPr sz="1200" b="1">
                <a:solidFill>
                  <a:srgbClr val="2A9D8F"/>
                </a:solidFill>
                <a:latin typeface="Calibri"/>
              </a:rPr>
              <a:t>●  </a:t>
            </a:r>
            <a:r>
              <a:rPr sz="1200">
                <a:solidFill>
                  <a:srgbClr val="333333"/>
                </a:solidFill>
                <a:latin typeface="Calibri"/>
              </a:rPr>
              <a:t>Net result: AI is 9.5% under your manual. The alert tells you exactly why so you can decide.</a:t>
            </a:r>
          </a:p>
        </p:txBody>
      </p:sp>
      <p:sp>
        <p:nvSpPr>
          <p:cNvPr id="12" name="TextBox 1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33 / 35</a:t>
            </a:r>
          </a:p>
        </p:txBody>
      </p:sp>
      <p:sp>
        <p:nvSpPr>
          <p:cNvPr id="13" name="TextBox 1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Quick-lookup: refinements on one page</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Match a code in your alert to its plain-English meaning</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3749039" cy="41148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05840"/>
            <a:ext cx="3749039" cy="411480"/>
          </a:xfrm>
          <a:prstGeom prst="rect">
            <a:avLst/>
          </a:prstGeom>
          <a:noFill/>
        </p:spPr>
        <p:txBody>
          <a:bodyPr wrap="square" lIns="45720" rIns="45720" tIns="18288" bIns="18288" anchor="ctr">
            <a:spAutoFit/>
          </a:bodyPr>
          <a:lstStyle/>
          <a:p>
            <a:pPr algn="ctr"/>
            <a:r>
              <a:rPr sz="1300" b="1">
                <a:solidFill>
                  <a:srgbClr val="FFFFFF"/>
                </a:solidFill>
                <a:latin typeface="Calibri"/>
              </a:rPr>
              <a:t>Big-picture rules (4)</a:t>
            </a:r>
          </a:p>
        </p:txBody>
      </p:sp>
      <p:sp>
        <p:nvSpPr>
          <p:cNvPr id="8" name="TextBox 7"/>
          <p:cNvSpPr txBox="1"/>
          <p:nvPr/>
        </p:nvSpPr>
        <p:spPr>
          <a:xfrm>
            <a:off x="548640" y="1508760"/>
            <a:ext cx="3566159" cy="4754880"/>
          </a:xfrm>
          <a:prstGeom prst="rect">
            <a:avLst/>
          </a:prstGeom>
          <a:noFill/>
        </p:spPr>
        <p:txBody>
          <a:bodyPr wrap="square" lIns="45720">
            <a:spAutoFit/>
          </a:bodyPr>
          <a:lstStyle/>
          <a:p>
            <a:pPr algn="l">
              <a:spcAft>
                <a:spcPts val="500"/>
              </a:spcAft>
            </a:pPr>
            <a:r>
              <a:rPr sz="1000" b="1">
                <a:solidFill>
                  <a:srgbClr val="1F3A5F"/>
                </a:solidFill>
                <a:latin typeface="Calibri"/>
              </a:rPr>
              <a:t>●  </a:t>
            </a:r>
            <a:r>
              <a:rPr sz="1000">
                <a:solidFill>
                  <a:srgbClr val="333333"/>
                </a:solidFill>
                <a:latin typeface="Calibri"/>
              </a:rPr>
              <a:t>VP-Q1  Active-weeks baseline</a:t>
            </a:r>
          </a:p>
          <a:p>
            <a:pPr algn="l">
              <a:spcAft>
                <a:spcPts val="500"/>
              </a:spcAft>
            </a:pPr>
            <a:r>
              <a:rPr sz="1000" b="1">
                <a:solidFill>
                  <a:srgbClr val="1F3A5F"/>
                </a:solidFill>
                <a:latin typeface="Calibri"/>
              </a:rPr>
              <a:t>●  </a:t>
            </a:r>
            <a:r>
              <a:rPr sz="1000">
                <a:solidFill>
                  <a:srgbClr val="333333"/>
                </a:solidFill>
                <a:latin typeface="Calibri"/>
              </a:rPr>
              <a:t>VP-Q2  Treat stockouts as demand</a:t>
            </a:r>
          </a:p>
          <a:p>
            <a:pPr algn="l">
              <a:spcAft>
                <a:spcPts val="500"/>
              </a:spcAft>
            </a:pPr>
            <a:r>
              <a:rPr sz="1000" b="1">
                <a:solidFill>
                  <a:srgbClr val="1F3A5F"/>
                </a:solidFill>
                <a:latin typeface="Calibri"/>
              </a:rPr>
              <a:t>●  </a:t>
            </a:r>
            <a:r>
              <a:rPr sz="1000">
                <a:solidFill>
                  <a:srgbClr val="333333"/>
                </a:solidFill>
                <a:latin typeface="Calibri"/>
              </a:rPr>
              <a:t>VP-Q3  Stop forcing fake bi-weekly</a:t>
            </a:r>
          </a:p>
          <a:p>
            <a:pPr algn="l">
              <a:spcAft>
                <a:spcPts val="500"/>
              </a:spcAft>
            </a:pPr>
            <a:r>
              <a:rPr sz="1000" b="1">
                <a:solidFill>
                  <a:srgbClr val="1F3A5F"/>
                </a:solidFill>
                <a:latin typeface="Calibri"/>
              </a:rPr>
              <a:t>●  </a:t>
            </a:r>
            <a:r>
              <a:rPr sz="1000">
                <a:solidFill>
                  <a:srgbClr val="333333"/>
                </a:solidFill>
                <a:latin typeface="Calibri"/>
              </a:rPr>
              <a:t>VP-Q4  Don't double-count POs</a:t>
            </a:r>
          </a:p>
        </p:txBody>
      </p:sp>
      <p:sp>
        <p:nvSpPr>
          <p:cNvPr id="9" name="Rectangle 8"/>
          <p:cNvSpPr/>
          <p:nvPr/>
        </p:nvSpPr>
        <p:spPr>
          <a:xfrm>
            <a:off x="4297680" y="1005840"/>
            <a:ext cx="3749039" cy="41148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005840"/>
            <a:ext cx="3749039" cy="411480"/>
          </a:xfrm>
          <a:prstGeom prst="rect">
            <a:avLst/>
          </a:prstGeom>
          <a:noFill/>
        </p:spPr>
        <p:txBody>
          <a:bodyPr wrap="square" lIns="45720" rIns="45720" tIns="18288" bIns="18288" anchor="ctr">
            <a:spAutoFit/>
          </a:bodyPr>
          <a:lstStyle/>
          <a:p>
            <a:pPr algn="ctr"/>
            <a:r>
              <a:rPr sz="1300" b="1">
                <a:solidFill>
                  <a:srgbClr val="FFFFFF"/>
                </a:solidFill>
                <a:latin typeface="Calibri"/>
              </a:rPr>
              <a:t>Customer-type overrides (8)</a:t>
            </a:r>
          </a:p>
        </p:txBody>
      </p:sp>
      <p:sp>
        <p:nvSpPr>
          <p:cNvPr id="11" name="TextBox 10"/>
          <p:cNvSpPr txBox="1"/>
          <p:nvPr/>
        </p:nvSpPr>
        <p:spPr>
          <a:xfrm>
            <a:off x="4389120" y="1508760"/>
            <a:ext cx="3566159" cy="4754880"/>
          </a:xfrm>
          <a:prstGeom prst="rect">
            <a:avLst/>
          </a:prstGeom>
          <a:noFill/>
        </p:spPr>
        <p:txBody>
          <a:bodyPr wrap="square" lIns="45720">
            <a:spAutoFit/>
          </a:bodyPr>
          <a:lstStyle/>
          <a:p>
            <a:pPr algn="l">
              <a:spcAft>
                <a:spcPts val="500"/>
              </a:spcAft>
            </a:pPr>
            <a:r>
              <a:rPr sz="1000" b="1">
                <a:solidFill>
                  <a:srgbClr val="E76F51"/>
                </a:solidFill>
                <a:latin typeface="Calibri"/>
              </a:rPr>
              <a:t>●  </a:t>
            </a:r>
            <a:r>
              <a:rPr sz="1000">
                <a:solidFill>
                  <a:srgbClr val="333333"/>
                </a:solidFill>
                <a:latin typeface="Calibri"/>
              </a:rPr>
              <a:t>R1  Off-price = lump buyers</a:t>
            </a:r>
          </a:p>
          <a:p>
            <a:pPr algn="l">
              <a:spcAft>
                <a:spcPts val="500"/>
              </a:spcAft>
            </a:pPr>
            <a:r>
              <a:rPr sz="1000" b="1">
                <a:solidFill>
                  <a:srgbClr val="E76F51"/>
                </a:solidFill>
                <a:latin typeface="Calibri"/>
              </a:rPr>
              <a:t>●  </a:t>
            </a:r>
            <a:r>
              <a:rPr sz="1000">
                <a:solidFill>
                  <a:srgbClr val="333333"/>
                </a:solidFill>
                <a:latin typeface="Calibri"/>
              </a:rPr>
              <a:t>R2  Sparse-account 26w cap</a:t>
            </a:r>
          </a:p>
          <a:p>
            <a:pPr algn="l">
              <a:spcAft>
                <a:spcPts val="500"/>
              </a:spcAft>
            </a:pPr>
            <a:r>
              <a:rPr sz="1000" b="1">
                <a:solidFill>
                  <a:srgbClr val="E76F51"/>
                </a:solidFill>
                <a:latin typeface="Calibri"/>
              </a:rPr>
              <a:t>●  </a:t>
            </a:r>
            <a:r>
              <a:rPr sz="1000">
                <a:solidFill>
                  <a:srgbClr val="333333"/>
                </a:solidFill>
                <a:latin typeface="Calibri"/>
              </a:rPr>
              <a:t>R3  Inactive item floor</a:t>
            </a:r>
          </a:p>
          <a:p>
            <a:pPr algn="l">
              <a:spcAft>
                <a:spcPts val="500"/>
              </a:spcAft>
            </a:pPr>
            <a:r>
              <a:rPr sz="1000" b="1">
                <a:solidFill>
                  <a:srgbClr val="E76F51"/>
                </a:solidFill>
                <a:latin typeface="Calibri"/>
              </a:rPr>
              <a:t>●  </a:t>
            </a:r>
            <a:r>
              <a:rPr sz="1000">
                <a:solidFill>
                  <a:srgbClr val="333333"/>
                </a:solidFill>
                <a:latin typeface="Calibri"/>
              </a:rPr>
              <a:t>R5  International = 26w threshold</a:t>
            </a:r>
          </a:p>
          <a:p>
            <a:pPr algn="l">
              <a:spcAft>
                <a:spcPts val="500"/>
              </a:spcAft>
            </a:pPr>
            <a:r>
              <a:rPr sz="1000" b="1">
                <a:solidFill>
                  <a:srgbClr val="E76F51"/>
                </a:solidFill>
                <a:latin typeface="Calibri"/>
              </a:rPr>
              <a:t>●  </a:t>
            </a:r>
            <a:r>
              <a:rPr sz="1000">
                <a:solidFill>
                  <a:srgbClr val="333333"/>
                </a:solidFill>
                <a:latin typeface="Calibri"/>
              </a:rPr>
              <a:t>R6  Lumpy recipe lift for big items</a:t>
            </a:r>
          </a:p>
          <a:p>
            <a:pPr algn="l">
              <a:spcAft>
                <a:spcPts val="500"/>
              </a:spcAft>
            </a:pPr>
            <a:r>
              <a:rPr sz="1000" b="1">
                <a:solidFill>
                  <a:srgbClr val="E76F51"/>
                </a:solidFill>
                <a:latin typeface="Calibri"/>
              </a:rPr>
              <a:t>●  </a:t>
            </a:r>
            <a:r>
              <a:rPr sz="1000">
                <a:solidFill>
                  <a:srgbClr val="333333"/>
                </a:solidFill>
                <a:latin typeface="Calibri"/>
              </a:rPr>
              <a:t>R7  Amazon Fall Deal insert</a:t>
            </a:r>
          </a:p>
          <a:p>
            <a:pPr algn="l">
              <a:spcAft>
                <a:spcPts val="500"/>
              </a:spcAft>
            </a:pPr>
            <a:r>
              <a:rPr sz="1000" b="1">
                <a:solidFill>
                  <a:srgbClr val="E76F51"/>
                </a:solidFill>
                <a:latin typeface="Calibri"/>
              </a:rPr>
              <a:t>●  </a:t>
            </a:r>
            <a:r>
              <a:rPr sz="1000">
                <a:solidFill>
                  <a:srgbClr val="333333"/>
                </a:solidFill>
                <a:latin typeface="Calibri"/>
              </a:rPr>
              <a:t>R8  Median anchor for burst items</a:t>
            </a:r>
          </a:p>
          <a:p>
            <a:pPr algn="l">
              <a:spcAft>
                <a:spcPts val="500"/>
              </a:spcAft>
            </a:pPr>
            <a:r>
              <a:rPr sz="1000" b="1">
                <a:solidFill>
                  <a:srgbClr val="E76F51"/>
                </a:solidFill>
                <a:latin typeface="Calibri"/>
              </a:rPr>
              <a:t>●  </a:t>
            </a:r>
            <a:r>
              <a:rPr sz="1000">
                <a:solidFill>
                  <a:srgbClr val="333333"/>
                </a:solidFill>
                <a:latin typeface="Calibri"/>
              </a:rPr>
              <a:t>R9  Reactivating-recipe ceiling</a:t>
            </a:r>
          </a:p>
        </p:txBody>
      </p:sp>
      <p:sp>
        <p:nvSpPr>
          <p:cNvPr id="12" name="Rectangle 11"/>
          <p:cNvSpPr/>
          <p:nvPr/>
        </p:nvSpPr>
        <p:spPr>
          <a:xfrm>
            <a:off x="8138160" y="1005840"/>
            <a:ext cx="3749039" cy="4114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005840"/>
            <a:ext cx="3749039" cy="411480"/>
          </a:xfrm>
          <a:prstGeom prst="rect">
            <a:avLst/>
          </a:prstGeom>
          <a:noFill/>
        </p:spPr>
        <p:txBody>
          <a:bodyPr wrap="square" lIns="45720" rIns="45720" tIns="18288" bIns="18288" anchor="ctr">
            <a:spAutoFit/>
          </a:bodyPr>
          <a:lstStyle/>
          <a:p>
            <a:pPr algn="ctr"/>
            <a:r>
              <a:rPr sz="1300" b="1">
                <a:solidFill>
                  <a:srgbClr val="FFFFFF"/>
                </a:solidFill>
                <a:latin typeface="Calibri"/>
              </a:rPr>
              <a:t>Math fine-tuning (17)</a:t>
            </a:r>
          </a:p>
        </p:txBody>
      </p:sp>
      <p:sp>
        <p:nvSpPr>
          <p:cNvPr id="14" name="TextBox 13"/>
          <p:cNvSpPr txBox="1"/>
          <p:nvPr/>
        </p:nvSpPr>
        <p:spPr>
          <a:xfrm>
            <a:off x="8229600" y="1508760"/>
            <a:ext cx="3566159" cy="4754880"/>
          </a:xfrm>
          <a:prstGeom prst="rect">
            <a:avLst/>
          </a:prstGeom>
          <a:noFill/>
        </p:spPr>
        <p:txBody>
          <a:bodyPr wrap="square" lIns="45720">
            <a:spAutoFit/>
          </a:bodyPr>
          <a:lstStyle/>
          <a:p>
            <a:pPr algn="l">
              <a:spcAft>
                <a:spcPts val="500"/>
              </a:spcAft>
            </a:pPr>
            <a:r>
              <a:rPr sz="1000" b="1">
                <a:solidFill>
                  <a:srgbClr val="2A9D8F"/>
                </a:solidFill>
                <a:latin typeface="Calibri"/>
              </a:rPr>
              <a:t>●  </a:t>
            </a:r>
            <a:r>
              <a:rPr sz="1000">
                <a:solidFill>
                  <a:srgbClr val="333333"/>
                </a:solidFill>
                <a:latin typeface="Calibri"/>
              </a:rPr>
              <a:t>F4   Thin recent history → year fallback</a:t>
            </a:r>
          </a:p>
          <a:p>
            <a:pPr algn="l">
              <a:spcAft>
                <a:spcPts val="500"/>
              </a:spcAft>
            </a:pPr>
            <a:r>
              <a:rPr sz="1000" b="1">
                <a:solidFill>
                  <a:srgbClr val="2A9D8F"/>
                </a:solidFill>
                <a:latin typeface="Calibri"/>
              </a:rPr>
              <a:t>●  </a:t>
            </a:r>
            <a:r>
              <a:rPr sz="1000">
                <a:solidFill>
                  <a:srgbClr val="333333"/>
                </a:solidFill>
                <a:latin typeface="Calibri"/>
              </a:rPr>
              <a:t>F5   'Launching/New/Pilot' status respect</a:t>
            </a:r>
          </a:p>
          <a:p>
            <a:pPr algn="l">
              <a:spcAft>
                <a:spcPts val="500"/>
              </a:spcAft>
            </a:pPr>
            <a:r>
              <a:rPr sz="1000" b="1">
                <a:solidFill>
                  <a:srgbClr val="2A9D8F"/>
                </a:solidFill>
                <a:latin typeface="Calibri"/>
              </a:rPr>
              <a:t>●  </a:t>
            </a:r>
            <a:r>
              <a:rPr sz="1000">
                <a:solidFill>
                  <a:srgbClr val="333333"/>
                </a:solidFill>
                <a:latin typeface="Calibri"/>
              </a:rPr>
              <a:t>F6   Recent slowdown / pickup detection</a:t>
            </a:r>
          </a:p>
          <a:p>
            <a:pPr algn="l">
              <a:spcAft>
                <a:spcPts val="500"/>
              </a:spcAft>
            </a:pPr>
            <a:r>
              <a:rPr sz="1000" b="1">
                <a:solidFill>
                  <a:srgbClr val="2A9D8F"/>
                </a:solidFill>
                <a:latin typeface="Calibri"/>
              </a:rPr>
              <a:t>●  </a:t>
            </a:r>
            <a:r>
              <a:rPr sz="1000">
                <a:solidFill>
                  <a:srgbClr val="333333"/>
                </a:solidFill>
                <a:latin typeface="Calibri"/>
              </a:rPr>
              <a:t>F7   Anchor on seasonal peak</a:t>
            </a:r>
          </a:p>
          <a:p>
            <a:pPr algn="l">
              <a:spcAft>
                <a:spcPts val="500"/>
              </a:spcAft>
            </a:pPr>
            <a:r>
              <a:rPr sz="1000" b="1">
                <a:solidFill>
                  <a:srgbClr val="2A9D8F"/>
                </a:solidFill>
                <a:latin typeface="Calibri"/>
              </a:rPr>
              <a:t>●  </a:t>
            </a:r>
            <a:r>
              <a:rPr sz="1000">
                <a:solidFill>
                  <a:srgbClr val="333333"/>
                </a:solidFill>
                <a:latin typeface="Calibri"/>
              </a:rPr>
              <a:t>F8   More category match fields</a:t>
            </a:r>
          </a:p>
          <a:p>
            <a:pPr algn="l">
              <a:spcAft>
                <a:spcPts val="500"/>
              </a:spcAft>
            </a:pPr>
            <a:r>
              <a:rPr sz="1000" b="1">
                <a:solidFill>
                  <a:srgbClr val="2A9D8F"/>
                </a:solidFill>
                <a:latin typeface="Calibri"/>
              </a:rPr>
              <a:t>●  </a:t>
            </a:r>
            <a:r>
              <a:rPr sz="1000">
                <a:solidFill>
                  <a:srgbClr val="333333"/>
                </a:solidFill>
                <a:latin typeface="Calibri"/>
              </a:rPr>
              <a:t>F9   Big-volume sparse → MAX baseline</a:t>
            </a:r>
          </a:p>
          <a:p>
            <a:pPr algn="l">
              <a:spcAft>
                <a:spcPts val="500"/>
              </a:spcAft>
            </a:pPr>
            <a:r>
              <a:rPr sz="1000" b="1">
                <a:solidFill>
                  <a:srgbClr val="2A9D8F"/>
                </a:solidFill>
                <a:latin typeface="Calibri"/>
              </a:rPr>
              <a:t>●  </a:t>
            </a:r>
            <a:r>
              <a:rPr sz="1000">
                <a:solidFill>
                  <a:srgbClr val="333333"/>
                </a:solidFill>
                <a:latin typeface="Calibri"/>
              </a:rPr>
              <a:t>F10  Decline detection (YoY-gated)</a:t>
            </a:r>
          </a:p>
          <a:p>
            <a:pPr algn="l">
              <a:spcAft>
                <a:spcPts val="500"/>
              </a:spcAft>
            </a:pPr>
            <a:r>
              <a:rPr sz="1000" b="1">
                <a:solidFill>
                  <a:srgbClr val="2A9D8F"/>
                </a:solidFill>
                <a:latin typeface="Calibri"/>
              </a:rPr>
              <a:t>●  </a:t>
            </a:r>
            <a:r>
              <a:rPr sz="1000">
                <a:solidFill>
                  <a:srgbClr val="333333"/>
                </a:solidFill>
                <a:latin typeface="Calibri"/>
              </a:rPr>
              <a:t>F11  Prime Day ramp/taper shape</a:t>
            </a:r>
          </a:p>
          <a:p>
            <a:pPr algn="l">
              <a:spcAft>
                <a:spcPts val="500"/>
              </a:spcAft>
            </a:pPr>
            <a:r>
              <a:rPr sz="1000" b="1">
                <a:solidFill>
                  <a:srgbClr val="2A9D8F"/>
                </a:solidFill>
                <a:latin typeface="Calibri"/>
              </a:rPr>
              <a:t>●  </a:t>
            </a:r>
            <a:r>
              <a:rPr sz="1000">
                <a:solidFill>
                  <a:srgbClr val="333333"/>
                </a:solidFill>
                <a:latin typeface="Calibri"/>
              </a:rPr>
              <a:t>F13  Drawdown-and-refill (Amazon)</a:t>
            </a:r>
          </a:p>
          <a:p>
            <a:pPr algn="l">
              <a:spcAft>
                <a:spcPts val="500"/>
              </a:spcAft>
            </a:pPr>
            <a:r>
              <a:rPr sz="1000" b="1">
                <a:solidFill>
                  <a:srgbClr val="2A9D8F"/>
                </a:solidFill>
                <a:latin typeface="Calibri"/>
              </a:rPr>
              <a:t>●  </a:t>
            </a:r>
            <a:r>
              <a:rPr sz="1000">
                <a:solidFill>
                  <a:srgbClr val="333333"/>
                </a:solidFill>
                <a:latin typeface="Calibri"/>
              </a:rPr>
              <a:t>F14  Trust consumer sales over buyer pause</a:t>
            </a:r>
          </a:p>
          <a:p>
            <a:pPr algn="l">
              <a:spcAft>
                <a:spcPts val="500"/>
              </a:spcAft>
            </a:pPr>
            <a:r>
              <a:rPr sz="1000" b="1">
                <a:solidFill>
                  <a:srgbClr val="2A9D8F"/>
                </a:solidFill>
                <a:latin typeface="Calibri"/>
              </a:rPr>
              <a:t>●  </a:t>
            </a:r>
            <a:r>
              <a:rPr sz="1000">
                <a:solidFill>
                  <a:srgbClr val="333333"/>
                </a:solidFill>
                <a:latin typeface="Calibri"/>
              </a:rPr>
              <a:t>F15  Order-coverage premium</a:t>
            </a:r>
          </a:p>
          <a:p>
            <a:pPr algn="l">
              <a:spcAft>
                <a:spcPts val="500"/>
              </a:spcAft>
            </a:pPr>
            <a:r>
              <a:rPr sz="1000" b="1">
                <a:solidFill>
                  <a:srgbClr val="2A9D8F"/>
                </a:solidFill>
                <a:latin typeface="Calibri"/>
              </a:rPr>
              <a:t>●  </a:t>
            </a:r>
            <a:r>
              <a:rPr sz="1000">
                <a:solidFill>
                  <a:srgbClr val="333333"/>
                </a:solidFill>
                <a:latin typeface="Calibri"/>
              </a:rPr>
              <a:t>F16  Don't soften strong seasonal</a:t>
            </a:r>
          </a:p>
          <a:p>
            <a:pPr algn="l">
              <a:spcAft>
                <a:spcPts val="500"/>
              </a:spcAft>
            </a:pPr>
            <a:r>
              <a:rPr sz="1000" b="1">
                <a:solidFill>
                  <a:srgbClr val="2A9D8F"/>
                </a:solidFill>
                <a:latin typeface="Calibri"/>
              </a:rPr>
              <a:t>●  </a:t>
            </a:r>
            <a:r>
              <a:rPr sz="1000">
                <a:solidFill>
                  <a:srgbClr val="333333"/>
                </a:solidFill>
                <a:latin typeface="Calibri"/>
              </a:rPr>
              <a:t>F17  Sparse cadence W1 seed</a:t>
            </a:r>
          </a:p>
          <a:p>
            <a:pPr algn="l">
              <a:spcAft>
                <a:spcPts val="500"/>
              </a:spcAft>
            </a:pPr>
            <a:r>
              <a:rPr sz="1000" b="1">
                <a:solidFill>
                  <a:srgbClr val="2A9D8F"/>
                </a:solidFill>
                <a:latin typeface="Calibri"/>
              </a:rPr>
              <a:t>●  </a:t>
            </a:r>
            <a:r>
              <a:rPr sz="1000">
                <a:solidFill>
                  <a:srgbClr val="333333"/>
                </a:solidFill>
                <a:latin typeface="Calibri"/>
              </a:rPr>
              <a:t>F18  Lumpy z lift from Amazon POS</a:t>
            </a:r>
          </a:p>
          <a:p>
            <a:pPr algn="l">
              <a:spcAft>
                <a:spcPts val="500"/>
              </a:spcAft>
            </a:pPr>
            <a:r>
              <a:rPr sz="1000" b="1">
                <a:solidFill>
                  <a:srgbClr val="2A9D8F"/>
                </a:solidFill>
                <a:latin typeface="Calibri"/>
              </a:rPr>
              <a:t>●  </a:t>
            </a:r>
            <a:r>
              <a:rPr sz="1000">
                <a:solidFill>
                  <a:srgbClr val="333333"/>
                </a:solidFill>
                <a:latin typeface="Calibri"/>
              </a:rPr>
              <a:t>F22  Trailing-zero discount</a:t>
            </a:r>
          </a:p>
          <a:p>
            <a:pPr algn="l">
              <a:spcAft>
                <a:spcPts val="500"/>
              </a:spcAft>
            </a:pPr>
            <a:r>
              <a:rPr sz="1000" b="1">
                <a:solidFill>
                  <a:srgbClr val="2A9D8F"/>
                </a:solidFill>
                <a:latin typeface="Calibri"/>
              </a:rPr>
              <a:t>●  </a:t>
            </a:r>
            <a:r>
              <a:rPr sz="1000">
                <a:solidFill>
                  <a:srgbClr val="333333"/>
                </a:solidFill>
                <a:latin typeface="Calibri"/>
              </a:rPr>
              <a:t>F23  Reactivating drawdown + dampening</a:t>
            </a:r>
          </a:p>
          <a:p>
            <a:pPr algn="l">
              <a:spcAft>
                <a:spcPts val="500"/>
              </a:spcAft>
            </a:pPr>
            <a:r>
              <a:rPr sz="1000" b="1">
                <a:solidFill>
                  <a:srgbClr val="2A9D8F"/>
                </a:solidFill>
                <a:latin typeface="Calibri"/>
              </a:rPr>
              <a:t>●  </a:t>
            </a:r>
            <a:r>
              <a:rPr sz="1000">
                <a:solidFill>
                  <a:srgbClr val="333333"/>
                </a:solidFill>
                <a:latin typeface="Calibri"/>
              </a:rPr>
              <a:t>F24  Final-baseline ceiling</a:t>
            </a:r>
          </a:p>
          <a:p>
            <a:pPr algn="l">
              <a:spcAft>
                <a:spcPts val="500"/>
              </a:spcAft>
            </a:pPr>
            <a:r>
              <a:rPr sz="1000" b="1">
                <a:solidFill>
                  <a:srgbClr val="2A9D8F"/>
                </a:solidFill>
                <a:latin typeface="Calibri"/>
              </a:rPr>
              <a:t>●  </a:t>
            </a:r>
            <a:r>
              <a:rPr sz="1000">
                <a:solidFill>
                  <a:srgbClr val="333333"/>
                </a:solidFill>
                <a:latin typeface="Calibri"/>
              </a:rPr>
              <a:t>F35  Stockout backlog strip</a:t>
            </a:r>
          </a:p>
          <a:p>
            <a:pPr algn="l">
              <a:spcAft>
                <a:spcPts val="500"/>
              </a:spcAft>
            </a:pPr>
            <a:r>
              <a:rPr sz="1000" b="1">
                <a:solidFill>
                  <a:srgbClr val="2A9D8F"/>
                </a:solidFill>
                <a:latin typeface="Calibri"/>
              </a:rPr>
              <a:t>●  </a:t>
            </a:r>
            <a:r>
              <a:rPr sz="1000">
                <a:solidFill>
                  <a:srgbClr val="333333"/>
                </a:solidFill>
                <a:latin typeface="Calibri"/>
              </a:rPr>
              <a:t>F36  Amazon stock-up burn-off</a:t>
            </a:r>
          </a:p>
          <a:p>
            <a:pPr algn="l">
              <a:spcAft>
                <a:spcPts val="500"/>
              </a:spcAft>
            </a:pPr>
            <a:r>
              <a:rPr sz="1000" b="1">
                <a:solidFill>
                  <a:srgbClr val="2A9D8F"/>
                </a:solidFill>
                <a:latin typeface="Calibri"/>
              </a:rPr>
              <a:t>●  </a:t>
            </a:r>
            <a:r>
              <a:rPr sz="1000">
                <a:solidFill>
                  <a:srgbClr val="333333"/>
                </a:solidFill>
                <a:latin typeface="Calibri"/>
              </a:rPr>
              <a:t>F37  Forward inventory shortfall</a:t>
            </a:r>
          </a:p>
          <a:p>
            <a:pPr algn="l">
              <a:spcAft>
                <a:spcPts val="500"/>
              </a:spcAft>
            </a:pPr>
            <a:r>
              <a:rPr sz="1000" b="1">
                <a:solidFill>
                  <a:srgbClr val="2A9D8F"/>
                </a:solidFill>
                <a:latin typeface="Calibri"/>
              </a:rPr>
              <a:t>●  </a:t>
            </a:r>
            <a:r>
              <a:rPr sz="1000">
                <a:solidFill>
                  <a:srgbClr val="333333"/>
                </a:solidFill>
                <a:latin typeface="Calibri"/>
              </a:rPr>
              <a:t>F38  Amazon POS-trend sensitivity</a:t>
            </a:r>
          </a:p>
          <a:p>
            <a:pPr algn="l">
              <a:spcAft>
                <a:spcPts val="500"/>
              </a:spcAft>
            </a:pPr>
            <a:r>
              <a:rPr sz="1000" b="1">
                <a:solidFill>
                  <a:srgbClr val="2A9D8F"/>
                </a:solidFill>
                <a:latin typeface="Calibri"/>
              </a:rPr>
              <a:t>●  </a:t>
            </a:r>
            <a:r>
              <a:rPr sz="1000">
                <a:solidFill>
                  <a:srgbClr val="333333"/>
                </a:solidFill>
                <a:latin typeface="Calibri"/>
              </a:rPr>
              <a:t>F39-F41  Phantom-order dedupe</a:t>
            </a:r>
          </a:p>
          <a:p>
            <a:pPr algn="l">
              <a:spcAft>
                <a:spcPts val="500"/>
              </a:spcAft>
            </a:pPr>
            <a:r>
              <a:rPr sz="1000" b="1">
                <a:solidFill>
                  <a:srgbClr val="2A9D8F"/>
                </a:solidFill>
                <a:latin typeface="Calibri"/>
              </a:rPr>
              <a:t>●  </a:t>
            </a:r>
            <a:r>
              <a:rPr sz="1000">
                <a:solidFill>
                  <a:srgbClr val="333333"/>
                </a:solidFill>
                <a:latin typeface="Calibri"/>
              </a:rPr>
              <a:t>F42  POS-anchored Heuristic cap</a:t>
            </a:r>
          </a:p>
          <a:p>
            <a:pPr algn="l">
              <a:spcAft>
                <a:spcPts val="500"/>
              </a:spcAft>
            </a:pPr>
            <a:r>
              <a:rPr sz="1000" b="1">
                <a:solidFill>
                  <a:srgbClr val="2A9D8F"/>
                </a:solidFill>
                <a:latin typeface="Calibri"/>
              </a:rPr>
              <a:t>●  </a:t>
            </a:r>
            <a:r>
              <a:rPr sz="1000">
                <a:solidFill>
                  <a:srgbClr val="333333"/>
                </a:solidFill>
                <a:latin typeface="Calibri"/>
              </a:rPr>
              <a:t>F43-F46  Spike attenuation + rebuild</a:t>
            </a:r>
          </a:p>
          <a:p>
            <a:pPr algn="l">
              <a:spcAft>
                <a:spcPts val="500"/>
              </a:spcAft>
            </a:pPr>
            <a:r>
              <a:rPr sz="1000" b="1">
                <a:solidFill>
                  <a:srgbClr val="2A9D8F"/>
                </a:solidFill>
                <a:latin typeface="Calibri"/>
              </a:rPr>
              <a:t>●  </a:t>
            </a:r>
            <a:r>
              <a:rPr sz="1000">
                <a:solidFill>
                  <a:srgbClr val="333333"/>
                </a:solidFill>
                <a:latin typeface="Calibri"/>
              </a:rPr>
              <a:t>+ F25 / F28-32 / T4 supporting rules</a:t>
            </a:r>
          </a:p>
        </p:txBody>
      </p:sp>
      <p:sp>
        <p:nvSpPr>
          <p:cNvPr id="15" name="TextBox 14"/>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34 / 39</a:t>
            </a:r>
          </a:p>
        </p:txBody>
      </p:sp>
      <p:sp>
        <p:nvSpPr>
          <p:cNvPr id="16" name="TextBox 15"/>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How forecasts get to you — automated nightly</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You don't run anything. The pipeline runs itself.</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00584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005840"/>
            <a:ext cx="1828800" cy="11887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05840"/>
            <a:ext cx="1828800" cy="1188720"/>
          </a:xfrm>
          <a:prstGeom prst="rect">
            <a:avLst/>
          </a:prstGeom>
          <a:noFill/>
        </p:spPr>
        <p:txBody>
          <a:bodyPr wrap="square" lIns="45720" rIns="45720" tIns="18288" bIns="18288" anchor="ctr">
            <a:spAutoFit/>
          </a:bodyPr>
          <a:lstStyle/>
          <a:p>
            <a:pPr algn="ctr"/>
            <a:r>
              <a:rPr sz="1500" b="1">
                <a:solidFill>
                  <a:srgbClr val="FFFFFF"/>
                </a:solidFill>
                <a:latin typeface="Calibri"/>
              </a:rPr>
              <a:t>Overnight</a:t>
            </a:r>
          </a:p>
        </p:txBody>
      </p:sp>
      <p:sp>
        <p:nvSpPr>
          <p:cNvPr id="9" name="TextBox 8"/>
          <p:cNvSpPr txBox="1"/>
          <p:nvPr/>
        </p:nvSpPr>
        <p:spPr>
          <a:xfrm>
            <a:off x="2834640" y="1097280"/>
            <a:ext cx="8503920" cy="292608"/>
          </a:xfrm>
          <a:prstGeom prst="rect">
            <a:avLst/>
          </a:prstGeom>
          <a:noFill/>
        </p:spPr>
        <p:txBody>
          <a:bodyPr wrap="square" lIns="45720" rIns="45720" tIns="18288" bIns="18288" anchor="t">
            <a:spAutoFit/>
          </a:bodyPr>
          <a:lstStyle/>
          <a:p>
            <a:pPr algn="l"/>
            <a:r>
              <a:rPr sz="1200" b="1">
                <a:solidFill>
                  <a:srgbClr val="1F3A5F"/>
                </a:solidFill>
                <a:latin typeface="Calibri"/>
              </a:rPr>
              <a:t>Claude Nightly runs the forecaster automatically</a:t>
            </a:r>
          </a:p>
        </p:txBody>
      </p:sp>
      <p:sp>
        <p:nvSpPr>
          <p:cNvPr id="10" name="TextBox 9"/>
          <p:cNvSpPr txBox="1"/>
          <p:nvPr/>
        </p:nvSpPr>
        <p:spPr>
          <a:xfrm>
            <a:off x="2834640" y="1417320"/>
            <a:ext cx="8503920" cy="685800"/>
          </a:xfrm>
          <a:prstGeom prst="rect">
            <a:avLst/>
          </a:prstGeom>
          <a:noFill/>
        </p:spPr>
        <p:txBody>
          <a:bodyPr wrap="square" lIns="45720" rIns="45720" tIns="18288" bIns="18288" anchor="t">
            <a:spAutoFit/>
          </a:bodyPr>
          <a:lstStyle/>
          <a:p>
            <a:pPr algn="l"/>
            <a:r>
              <a:rPr sz="1100" b="0">
                <a:solidFill>
                  <a:srgbClr val="333333"/>
                </a:solidFill>
                <a:latin typeface="Calibri"/>
              </a:rPr>
              <a:t>Pulls fresh Quickbase data → runs all 4 forecast phases → writes AI_PRJ_W1–W26 + AI_ALERT back to Quickbase. No manual command needed.</a:t>
            </a:r>
          </a:p>
        </p:txBody>
      </p:sp>
      <p:sp>
        <p:nvSpPr>
          <p:cNvPr id="11" name="Rectangle 10"/>
          <p:cNvSpPr/>
          <p:nvPr/>
        </p:nvSpPr>
        <p:spPr>
          <a:xfrm>
            <a:off x="914400" y="233172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2331720"/>
            <a:ext cx="1828800" cy="11887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331720"/>
            <a:ext cx="1828800" cy="1188720"/>
          </a:xfrm>
          <a:prstGeom prst="rect">
            <a:avLst/>
          </a:prstGeom>
          <a:noFill/>
        </p:spPr>
        <p:txBody>
          <a:bodyPr wrap="square" lIns="45720" rIns="45720" tIns="18288" bIns="18288" anchor="ctr">
            <a:spAutoFit/>
          </a:bodyPr>
          <a:lstStyle/>
          <a:p>
            <a:pPr algn="ctr"/>
            <a:r>
              <a:rPr sz="1500" b="1">
                <a:solidFill>
                  <a:srgbClr val="FFFFFF"/>
                </a:solidFill>
                <a:latin typeface="Calibri"/>
              </a:rPr>
              <a:t>Morning</a:t>
            </a:r>
          </a:p>
        </p:txBody>
      </p:sp>
      <p:sp>
        <p:nvSpPr>
          <p:cNvPr id="14" name="TextBox 13"/>
          <p:cNvSpPr txBox="1"/>
          <p:nvPr/>
        </p:nvSpPr>
        <p:spPr>
          <a:xfrm>
            <a:off x="2834640" y="2423160"/>
            <a:ext cx="8503920" cy="292608"/>
          </a:xfrm>
          <a:prstGeom prst="rect">
            <a:avLst/>
          </a:prstGeom>
          <a:noFill/>
        </p:spPr>
        <p:txBody>
          <a:bodyPr wrap="square" lIns="45720" rIns="45720" tIns="18288" bIns="18288" anchor="t">
            <a:spAutoFit/>
          </a:bodyPr>
          <a:lstStyle/>
          <a:p>
            <a:pPr algn="l"/>
            <a:r>
              <a:rPr sz="1200" b="1">
                <a:solidFill>
                  <a:srgbClr val="1F3A5F"/>
                </a:solidFill>
                <a:latin typeface="Calibri"/>
              </a:rPr>
              <a:t>You open Quickbase like normal</a:t>
            </a:r>
          </a:p>
        </p:txBody>
      </p:sp>
      <p:sp>
        <p:nvSpPr>
          <p:cNvPr id="15" name="TextBox 14"/>
          <p:cNvSpPr txBox="1"/>
          <p:nvPr/>
        </p:nvSpPr>
        <p:spPr>
          <a:xfrm>
            <a:off x="2834640" y="2743200"/>
            <a:ext cx="8503920" cy="685800"/>
          </a:xfrm>
          <a:prstGeom prst="rect">
            <a:avLst/>
          </a:prstGeom>
          <a:noFill/>
        </p:spPr>
        <p:txBody>
          <a:bodyPr wrap="square" lIns="45720" rIns="45720" tIns="18288" bIns="18288" anchor="t">
            <a:spAutoFit/>
          </a:bodyPr>
          <a:lstStyle/>
          <a:p>
            <a:pPr algn="l"/>
            <a:r>
              <a:rPr sz="1100" b="0">
                <a:solidFill>
                  <a:srgbClr val="333333"/>
                </a:solidFill>
                <a:latin typeface="Calibri"/>
              </a:rPr>
              <a:t>The Projections table now has fresh AI numbers and alert text on every active record. Records that need attention have severity tags and flagged-row tints already applied.</a:t>
            </a:r>
          </a:p>
        </p:txBody>
      </p:sp>
      <p:sp>
        <p:nvSpPr>
          <p:cNvPr id="16" name="Rectangle 15"/>
          <p:cNvSpPr/>
          <p:nvPr/>
        </p:nvSpPr>
        <p:spPr>
          <a:xfrm>
            <a:off x="914400" y="365760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657600"/>
            <a:ext cx="1828800" cy="11887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657600"/>
            <a:ext cx="1828800" cy="1188720"/>
          </a:xfrm>
          <a:prstGeom prst="rect">
            <a:avLst/>
          </a:prstGeom>
          <a:noFill/>
        </p:spPr>
        <p:txBody>
          <a:bodyPr wrap="square" lIns="45720" rIns="45720" tIns="18288" bIns="18288" anchor="ctr">
            <a:spAutoFit/>
          </a:bodyPr>
          <a:lstStyle/>
          <a:p>
            <a:pPr algn="ctr"/>
            <a:r>
              <a:rPr sz="1500" b="1">
                <a:solidFill>
                  <a:srgbClr val="FFFFFF"/>
                </a:solidFill>
                <a:latin typeface="Calibri"/>
              </a:rPr>
              <a:t>Review</a:t>
            </a:r>
          </a:p>
        </p:txBody>
      </p:sp>
      <p:sp>
        <p:nvSpPr>
          <p:cNvPr id="19" name="TextBox 18"/>
          <p:cNvSpPr txBox="1"/>
          <p:nvPr/>
        </p:nvSpPr>
        <p:spPr>
          <a:xfrm>
            <a:off x="2834640" y="3749040"/>
            <a:ext cx="8503920" cy="292608"/>
          </a:xfrm>
          <a:prstGeom prst="rect">
            <a:avLst/>
          </a:prstGeom>
          <a:noFill/>
        </p:spPr>
        <p:txBody>
          <a:bodyPr wrap="square" lIns="45720" rIns="45720" tIns="18288" bIns="18288" anchor="t">
            <a:spAutoFit/>
          </a:bodyPr>
          <a:lstStyle/>
          <a:p>
            <a:pPr algn="l"/>
            <a:r>
              <a:rPr sz="1200" b="1">
                <a:solidFill>
                  <a:srgbClr val="1F3A5F"/>
                </a:solidFill>
                <a:latin typeface="Calibri"/>
              </a:rPr>
              <a:t>Open the Inventory Forecaster code page in QB</a:t>
            </a:r>
          </a:p>
        </p:txBody>
      </p:sp>
      <p:sp>
        <p:nvSpPr>
          <p:cNvPr id="20" name="TextBox 19"/>
          <p:cNvSpPr txBox="1"/>
          <p:nvPr/>
        </p:nvSpPr>
        <p:spPr>
          <a:xfrm>
            <a:off x="2834640" y="4069080"/>
            <a:ext cx="8503920" cy="685800"/>
          </a:xfrm>
          <a:prstGeom prst="rect">
            <a:avLst/>
          </a:prstGeom>
          <a:noFill/>
        </p:spPr>
        <p:txBody>
          <a:bodyPr wrap="square" lIns="45720" rIns="45720" tIns="18288" bIns="18288" anchor="t">
            <a:spAutoFit/>
          </a:bodyPr>
          <a:lstStyle/>
          <a:p>
            <a:pPr algn="l"/>
            <a:r>
              <a:rPr sz="1100" b="0">
                <a:solidFill>
                  <a:srgbClr val="333333"/>
                </a:solidFill>
                <a:latin typeface="Calibri"/>
              </a:rPr>
              <a:t>Same browser, same QB login. Filter by your accounts/brands. Click any row to expand the 26-week side-by-side. Read the alert text — it names exactly which rules fired.</a:t>
            </a:r>
          </a:p>
        </p:txBody>
      </p:sp>
      <p:sp>
        <p:nvSpPr>
          <p:cNvPr id="21" name="Rectangle 20"/>
          <p:cNvSpPr/>
          <p:nvPr/>
        </p:nvSpPr>
        <p:spPr>
          <a:xfrm>
            <a:off x="914400" y="4983479"/>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983479"/>
            <a:ext cx="1828800" cy="118872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83479"/>
            <a:ext cx="1828800" cy="1188720"/>
          </a:xfrm>
          <a:prstGeom prst="rect">
            <a:avLst/>
          </a:prstGeom>
          <a:noFill/>
        </p:spPr>
        <p:txBody>
          <a:bodyPr wrap="square" lIns="45720" rIns="45720" tIns="18288" bIns="18288" anchor="ctr">
            <a:spAutoFit/>
          </a:bodyPr>
          <a:lstStyle/>
          <a:p>
            <a:pPr algn="ctr"/>
            <a:r>
              <a:rPr sz="1500" b="1">
                <a:solidFill>
                  <a:srgbClr val="FFFFFF"/>
                </a:solidFill>
                <a:latin typeface="Calibri"/>
              </a:rPr>
              <a:t>Action</a:t>
            </a:r>
          </a:p>
        </p:txBody>
      </p:sp>
      <p:sp>
        <p:nvSpPr>
          <p:cNvPr id="24" name="TextBox 23"/>
          <p:cNvSpPr txBox="1"/>
          <p:nvPr/>
        </p:nvSpPr>
        <p:spPr>
          <a:xfrm>
            <a:off x="2834640" y="5074919"/>
            <a:ext cx="8503920" cy="292608"/>
          </a:xfrm>
          <a:prstGeom prst="rect">
            <a:avLst/>
          </a:prstGeom>
          <a:noFill/>
        </p:spPr>
        <p:txBody>
          <a:bodyPr wrap="square" lIns="45720" rIns="45720" tIns="18288" bIns="18288" anchor="t">
            <a:spAutoFit/>
          </a:bodyPr>
          <a:lstStyle/>
          <a:p>
            <a:pPr algn="l"/>
            <a:r>
              <a:rPr sz="1200" b="1">
                <a:solidFill>
                  <a:srgbClr val="1F3A5F"/>
                </a:solidFill>
                <a:latin typeface="Calibri"/>
              </a:rPr>
              <a:t>Override what doesn't look right</a:t>
            </a:r>
          </a:p>
        </p:txBody>
      </p:sp>
      <p:sp>
        <p:nvSpPr>
          <p:cNvPr id="25" name="TextBox 24"/>
          <p:cNvSpPr txBox="1"/>
          <p:nvPr/>
        </p:nvSpPr>
        <p:spPr>
          <a:xfrm>
            <a:off x="2834640" y="5394959"/>
            <a:ext cx="8503920" cy="685800"/>
          </a:xfrm>
          <a:prstGeom prst="rect">
            <a:avLst/>
          </a:prstGeom>
          <a:noFill/>
        </p:spPr>
        <p:txBody>
          <a:bodyPr wrap="square" lIns="45720" rIns="45720" tIns="18288" bIns="18288" anchor="t">
            <a:spAutoFit/>
          </a:bodyPr>
          <a:lstStyle/>
          <a:p>
            <a:pPr algn="l"/>
            <a:r>
              <a:rPr sz="1100" b="0">
                <a:solidFill>
                  <a:srgbClr val="333333"/>
                </a:solidFill>
                <a:latin typeface="Calibri"/>
              </a:rPr>
              <a:t>'Use AI', 'Use Suggested', or edit any week directly in the table → 'Save All' commits your edits back to Quickbase. Flag/comment for the next planning cycle.</a:t>
            </a:r>
          </a:p>
        </p:txBody>
      </p:sp>
      <p:sp>
        <p:nvSpPr>
          <p:cNvPr id="26" name="TextBox 25"/>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35 / 39</a:t>
            </a:r>
          </a:p>
        </p:txBody>
      </p:sp>
      <p:sp>
        <p:nvSpPr>
          <p:cNvPr id="27" name="TextBox 26"/>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What the viewer looks like</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Inventory Forecaster code page — opens inside Quickbase, uses your QB login</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960120"/>
            <a:ext cx="11277295" cy="5120640"/>
          </a:xfrm>
          <a:prstGeom prst="rect">
            <a:avLst/>
          </a:prstGeom>
          <a:solidFill>
            <a:srgbClr val="FFFFFF"/>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960120"/>
            <a:ext cx="11277295"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033272"/>
            <a:ext cx="128016" cy="128016"/>
          </a:xfrm>
          <a:prstGeom prst="ellipse">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1033272"/>
            <a:ext cx="128016" cy="128016"/>
          </a:xfrm>
          <a:prstGeom prst="ellipse">
            <a:avLst/>
          </a:prstGeom>
          <a:solidFill>
            <a:srgbClr val="FEBC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1033272"/>
            <a:ext cx="128016" cy="128016"/>
          </a:xfrm>
          <a:prstGeom prst="ellipse">
            <a:avLst/>
          </a:prstGeom>
          <a:solidFill>
            <a:srgbClr val="28C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960120"/>
            <a:ext cx="7315200" cy="292608"/>
          </a:xfrm>
          <a:prstGeom prst="rect">
            <a:avLst/>
          </a:prstGeom>
          <a:noFill/>
        </p:spPr>
        <p:txBody>
          <a:bodyPr wrap="square" lIns="45720" rIns="45720" tIns="18288" bIns="18288" anchor="ctr">
            <a:spAutoFit/>
          </a:bodyPr>
          <a:lstStyle/>
          <a:p>
            <a:pPr algn="l"/>
            <a:r>
              <a:rPr sz="1000" b="0">
                <a:solidFill>
                  <a:srgbClr val="333333"/>
                </a:solidFill>
                <a:latin typeface="Calibri"/>
              </a:rPr>
              <a:t>pim.quickbase.com  ·  Inventory Forecaster</a:t>
            </a:r>
          </a:p>
        </p:txBody>
      </p:sp>
      <p:sp>
        <p:nvSpPr>
          <p:cNvPr id="12" name="Rectangle 11"/>
          <p:cNvSpPr/>
          <p:nvPr/>
        </p:nvSpPr>
        <p:spPr>
          <a:xfrm>
            <a:off x="548640" y="1325880"/>
            <a:ext cx="11094415" cy="365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325880"/>
            <a:ext cx="4572000" cy="365760"/>
          </a:xfrm>
          <a:prstGeom prst="rect">
            <a:avLst/>
          </a:prstGeom>
          <a:noFill/>
        </p:spPr>
        <p:txBody>
          <a:bodyPr wrap="square" lIns="45720" rIns="45720" tIns="18288" bIns="18288" anchor="ctr">
            <a:spAutoFit/>
          </a:bodyPr>
          <a:lstStyle/>
          <a:p>
            <a:pPr algn="l"/>
            <a:r>
              <a:rPr sz="1000" b="0">
                <a:solidFill>
                  <a:srgbClr val="FFFFFF"/>
                </a:solidFill>
                <a:latin typeface="Calibri"/>
              </a:rPr>
              <a:t>Severity: All  ·  Brand: All  ·  Customer: AMAZON.COM.KYDC  ·  4,205 records</a:t>
            </a:r>
          </a:p>
        </p:txBody>
      </p:sp>
      <p:sp>
        <p:nvSpPr>
          <p:cNvPr id="14" name="Rectangle 13"/>
          <p:cNvSpPr/>
          <p:nvPr/>
        </p:nvSpPr>
        <p:spPr>
          <a:xfrm>
            <a:off x="9631375" y="1380744"/>
            <a:ext cx="868680" cy="25603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1375" y="1380744"/>
            <a:ext cx="868680" cy="256032"/>
          </a:xfrm>
          <a:prstGeom prst="rect">
            <a:avLst/>
          </a:prstGeom>
          <a:noFill/>
        </p:spPr>
        <p:txBody>
          <a:bodyPr wrap="square" lIns="45720" rIns="45720" tIns="18288" bIns="18288" anchor="ctr">
            <a:spAutoFit/>
          </a:bodyPr>
          <a:lstStyle/>
          <a:p>
            <a:pPr algn="ctr"/>
            <a:r>
              <a:rPr sz="1000" b="1">
                <a:solidFill>
                  <a:srgbClr val="FFFFFF"/>
                </a:solidFill>
                <a:latin typeface="Calibri"/>
              </a:rPr>
              <a:t>Save All</a:t>
            </a:r>
          </a:p>
        </p:txBody>
      </p:sp>
      <p:sp>
        <p:nvSpPr>
          <p:cNvPr id="16" name="Rectangle 15"/>
          <p:cNvSpPr/>
          <p:nvPr/>
        </p:nvSpPr>
        <p:spPr>
          <a:xfrm>
            <a:off x="10591495" y="1380744"/>
            <a:ext cx="100584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91495" y="1380744"/>
            <a:ext cx="1005840" cy="256032"/>
          </a:xfrm>
          <a:prstGeom prst="rect">
            <a:avLst/>
          </a:prstGeom>
          <a:noFill/>
        </p:spPr>
        <p:txBody>
          <a:bodyPr wrap="square" lIns="45720" rIns="45720" tIns="18288" bIns="18288" anchor="ctr">
            <a:spAutoFit/>
          </a:bodyPr>
          <a:lstStyle/>
          <a:p>
            <a:pPr algn="ctr"/>
            <a:r>
              <a:rPr sz="1000" b="0">
                <a:solidFill>
                  <a:srgbClr val="333333"/>
                </a:solidFill>
                <a:latin typeface="Calibri"/>
              </a:rPr>
              <a:t>Export CSV</a:t>
            </a:r>
          </a:p>
        </p:txBody>
      </p:sp>
      <p:sp>
        <p:nvSpPr>
          <p:cNvPr id="18" name="Rectangle 17"/>
          <p:cNvSpPr/>
          <p:nvPr/>
        </p:nvSpPr>
        <p:spPr>
          <a:xfrm>
            <a:off x="548640" y="1783080"/>
            <a:ext cx="11094415" cy="2743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1783080"/>
            <a:ext cx="1693358" cy="274320"/>
          </a:xfrm>
          <a:prstGeom prst="rect">
            <a:avLst/>
          </a:prstGeom>
          <a:noFill/>
        </p:spPr>
        <p:txBody>
          <a:bodyPr wrap="square" lIns="45720" rIns="45720" tIns="18288" bIns="18288" anchor="ctr">
            <a:spAutoFit/>
          </a:bodyPr>
          <a:lstStyle/>
          <a:p>
            <a:pPr algn="ctr"/>
            <a:r>
              <a:rPr sz="900" b="1">
                <a:solidFill>
                  <a:srgbClr val="FFFFFF"/>
                </a:solidFill>
                <a:latin typeface="Calibri"/>
              </a:rPr>
              <a:t>Key</a:t>
            </a:r>
          </a:p>
        </p:txBody>
      </p:sp>
      <p:sp>
        <p:nvSpPr>
          <p:cNvPr id="20" name="TextBox 19"/>
          <p:cNvSpPr txBox="1"/>
          <p:nvPr/>
        </p:nvSpPr>
        <p:spPr>
          <a:xfrm>
            <a:off x="2241998" y="1783080"/>
            <a:ext cx="1284616" cy="274320"/>
          </a:xfrm>
          <a:prstGeom prst="rect">
            <a:avLst/>
          </a:prstGeom>
          <a:noFill/>
        </p:spPr>
        <p:txBody>
          <a:bodyPr wrap="square" lIns="45720" rIns="45720" tIns="18288" bIns="18288" anchor="ctr">
            <a:spAutoFit/>
          </a:bodyPr>
          <a:lstStyle/>
          <a:p>
            <a:pPr algn="ctr"/>
            <a:r>
              <a:rPr sz="900" b="1">
                <a:solidFill>
                  <a:srgbClr val="FFFFFF"/>
                </a:solidFill>
                <a:latin typeface="Calibri"/>
              </a:rPr>
              <a:t>Brand</a:t>
            </a:r>
          </a:p>
        </p:txBody>
      </p:sp>
      <p:sp>
        <p:nvSpPr>
          <p:cNvPr id="21" name="TextBox 20"/>
          <p:cNvSpPr txBox="1"/>
          <p:nvPr/>
        </p:nvSpPr>
        <p:spPr>
          <a:xfrm>
            <a:off x="3526614" y="1783080"/>
            <a:ext cx="1634966" cy="274320"/>
          </a:xfrm>
          <a:prstGeom prst="rect">
            <a:avLst/>
          </a:prstGeom>
          <a:noFill/>
        </p:spPr>
        <p:txBody>
          <a:bodyPr wrap="square" lIns="45720" rIns="45720" tIns="18288" bIns="18288" anchor="ctr">
            <a:spAutoFit/>
          </a:bodyPr>
          <a:lstStyle/>
          <a:p>
            <a:pPr algn="ctr"/>
            <a:r>
              <a:rPr sz="900" b="1">
                <a:solidFill>
                  <a:srgbClr val="FFFFFF"/>
                </a:solidFill>
                <a:latin typeface="Calibri"/>
              </a:rPr>
              <a:t>Customer</a:t>
            </a:r>
          </a:p>
        </p:txBody>
      </p:sp>
      <p:sp>
        <p:nvSpPr>
          <p:cNvPr id="22" name="TextBox 21"/>
          <p:cNvSpPr txBox="1"/>
          <p:nvPr/>
        </p:nvSpPr>
        <p:spPr>
          <a:xfrm>
            <a:off x="5161580" y="1783080"/>
            <a:ext cx="934266" cy="274320"/>
          </a:xfrm>
          <a:prstGeom prst="rect">
            <a:avLst/>
          </a:prstGeom>
          <a:noFill/>
        </p:spPr>
        <p:txBody>
          <a:bodyPr wrap="square" lIns="45720" rIns="45720" tIns="18288" bIns="18288" anchor="ctr">
            <a:spAutoFit/>
          </a:bodyPr>
          <a:lstStyle/>
          <a:p>
            <a:pPr algn="ctr"/>
            <a:r>
              <a:rPr sz="900" b="1">
                <a:solidFill>
                  <a:srgbClr val="FFFFFF"/>
                </a:solidFill>
                <a:latin typeface="Calibri"/>
              </a:rPr>
              <a:t>MStyle</a:t>
            </a:r>
          </a:p>
        </p:txBody>
      </p:sp>
      <p:sp>
        <p:nvSpPr>
          <p:cNvPr id="23" name="TextBox 22"/>
          <p:cNvSpPr txBox="1"/>
          <p:nvPr/>
        </p:nvSpPr>
        <p:spPr>
          <a:xfrm>
            <a:off x="6095846" y="1783080"/>
            <a:ext cx="642308" cy="274320"/>
          </a:xfrm>
          <a:prstGeom prst="rect">
            <a:avLst/>
          </a:prstGeom>
          <a:noFill/>
        </p:spPr>
        <p:txBody>
          <a:bodyPr wrap="square" lIns="45720" rIns="45720" tIns="18288" bIns="18288" anchor="ctr">
            <a:spAutoFit/>
          </a:bodyPr>
          <a:lstStyle/>
          <a:p>
            <a:pPr algn="ctr"/>
            <a:r>
              <a:rPr sz="900" b="1">
                <a:solidFill>
                  <a:srgbClr val="FFFFFF"/>
                </a:solidFill>
                <a:latin typeface="Calibri"/>
              </a:rPr>
              <a:t>Pri</a:t>
            </a:r>
          </a:p>
        </p:txBody>
      </p:sp>
      <p:sp>
        <p:nvSpPr>
          <p:cNvPr id="24" name="TextBox 23"/>
          <p:cNvSpPr txBox="1"/>
          <p:nvPr/>
        </p:nvSpPr>
        <p:spPr>
          <a:xfrm>
            <a:off x="6738154" y="1783080"/>
            <a:ext cx="875874" cy="274320"/>
          </a:xfrm>
          <a:prstGeom prst="rect">
            <a:avLst/>
          </a:prstGeom>
          <a:noFill/>
        </p:spPr>
        <p:txBody>
          <a:bodyPr wrap="square" lIns="45720" rIns="45720" tIns="18288" bIns="18288" anchor="ctr">
            <a:spAutoFit/>
          </a:bodyPr>
          <a:lstStyle/>
          <a:p>
            <a:pPr algn="ctr"/>
            <a:r>
              <a:rPr sz="900" b="1">
                <a:solidFill>
                  <a:srgbClr val="FFFFFF"/>
                </a:solidFill>
                <a:latin typeface="Calibri"/>
              </a:rPr>
              <a:t>Manual</a:t>
            </a:r>
          </a:p>
        </p:txBody>
      </p:sp>
      <p:sp>
        <p:nvSpPr>
          <p:cNvPr id="25" name="TextBox 24"/>
          <p:cNvSpPr txBox="1"/>
          <p:nvPr/>
        </p:nvSpPr>
        <p:spPr>
          <a:xfrm>
            <a:off x="7614028" y="1783080"/>
            <a:ext cx="875874" cy="274320"/>
          </a:xfrm>
          <a:prstGeom prst="rect">
            <a:avLst/>
          </a:prstGeom>
          <a:noFill/>
        </p:spPr>
        <p:txBody>
          <a:bodyPr wrap="square" lIns="45720" rIns="45720" tIns="18288" bIns="18288" anchor="ctr">
            <a:spAutoFit/>
          </a:bodyPr>
          <a:lstStyle/>
          <a:p>
            <a:pPr algn="ctr"/>
            <a:r>
              <a:rPr sz="900" b="1">
                <a:solidFill>
                  <a:srgbClr val="FFFFFF"/>
                </a:solidFill>
                <a:latin typeface="Calibri"/>
              </a:rPr>
              <a:t>AI</a:t>
            </a:r>
          </a:p>
        </p:txBody>
      </p:sp>
      <p:sp>
        <p:nvSpPr>
          <p:cNvPr id="26" name="TextBox 25"/>
          <p:cNvSpPr txBox="1"/>
          <p:nvPr/>
        </p:nvSpPr>
        <p:spPr>
          <a:xfrm>
            <a:off x="8489902" y="1783080"/>
            <a:ext cx="875874" cy="274320"/>
          </a:xfrm>
          <a:prstGeom prst="rect">
            <a:avLst/>
          </a:prstGeom>
          <a:noFill/>
        </p:spPr>
        <p:txBody>
          <a:bodyPr wrap="square" lIns="45720" rIns="45720" tIns="18288" bIns="18288" anchor="ctr">
            <a:spAutoFit/>
          </a:bodyPr>
          <a:lstStyle/>
          <a:p>
            <a:pPr algn="ctr"/>
            <a:r>
              <a:rPr sz="900" b="1">
                <a:solidFill>
                  <a:srgbClr val="FFFFFF"/>
                </a:solidFill>
                <a:latin typeface="Calibri"/>
              </a:rPr>
              <a:t>Sugg</a:t>
            </a:r>
          </a:p>
        </p:txBody>
      </p:sp>
      <p:sp>
        <p:nvSpPr>
          <p:cNvPr id="27" name="TextBox 26"/>
          <p:cNvSpPr txBox="1"/>
          <p:nvPr/>
        </p:nvSpPr>
        <p:spPr>
          <a:xfrm>
            <a:off x="9365776" y="1783080"/>
            <a:ext cx="1401399" cy="274320"/>
          </a:xfrm>
          <a:prstGeom prst="rect">
            <a:avLst/>
          </a:prstGeom>
          <a:noFill/>
        </p:spPr>
        <p:txBody>
          <a:bodyPr wrap="square" lIns="45720" rIns="45720" tIns="18288" bIns="18288" anchor="ctr">
            <a:spAutoFit/>
          </a:bodyPr>
          <a:lstStyle/>
          <a:p>
            <a:pPr algn="ctr"/>
            <a:r>
              <a:rPr sz="900" b="1">
                <a:solidFill>
                  <a:srgbClr val="FFFFFF"/>
                </a:solidFill>
                <a:latin typeface="Calibri"/>
              </a:rPr>
              <a:t>AI vs Manual</a:t>
            </a:r>
          </a:p>
        </p:txBody>
      </p:sp>
      <p:sp>
        <p:nvSpPr>
          <p:cNvPr id="28" name="TextBox 27"/>
          <p:cNvSpPr txBox="1"/>
          <p:nvPr/>
        </p:nvSpPr>
        <p:spPr>
          <a:xfrm>
            <a:off x="10767175" y="1783080"/>
            <a:ext cx="875874" cy="274320"/>
          </a:xfrm>
          <a:prstGeom prst="rect">
            <a:avLst/>
          </a:prstGeom>
          <a:noFill/>
        </p:spPr>
        <p:txBody>
          <a:bodyPr wrap="square" lIns="45720" rIns="45720" tIns="18288" bIns="18288" anchor="ctr">
            <a:spAutoFit/>
          </a:bodyPr>
          <a:lstStyle/>
          <a:p>
            <a:pPr algn="ctr"/>
            <a:r>
              <a:rPr sz="900" b="1">
                <a:solidFill>
                  <a:srgbClr val="FFFFFF"/>
                </a:solidFill>
                <a:latin typeface="Calibri"/>
              </a:rPr>
              <a:t>L13</a:t>
            </a:r>
          </a:p>
        </p:txBody>
      </p:sp>
      <p:sp>
        <p:nvSpPr>
          <p:cNvPr id="29" name="Rectangle 28"/>
          <p:cNvSpPr/>
          <p:nvPr/>
        </p:nvSpPr>
        <p:spPr>
          <a:xfrm>
            <a:off x="548640" y="2057400"/>
            <a:ext cx="11094415" cy="329184"/>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2057400"/>
            <a:ext cx="36576" cy="32918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057400"/>
            <a:ext cx="1601918" cy="329184"/>
          </a:xfrm>
          <a:prstGeom prst="rect">
            <a:avLst/>
          </a:prstGeom>
          <a:noFill/>
        </p:spPr>
        <p:txBody>
          <a:bodyPr wrap="square" lIns="45720" rIns="45720" tIns="18288" bIns="18288" anchor="ctr">
            <a:spAutoFit/>
          </a:bodyPr>
          <a:lstStyle/>
          <a:p>
            <a:pPr algn="l"/>
            <a:r>
              <a:rPr sz="900" b="0">
                <a:solidFill>
                  <a:srgbClr val="333333"/>
                </a:solidFill>
                <a:latin typeface="Calibri"/>
              </a:rPr>
              <a:t>1864-FF8654</a:t>
            </a:r>
          </a:p>
        </p:txBody>
      </p:sp>
      <p:sp>
        <p:nvSpPr>
          <p:cNvPr id="32" name="TextBox 31"/>
          <p:cNvSpPr txBox="1"/>
          <p:nvPr/>
        </p:nvSpPr>
        <p:spPr>
          <a:xfrm>
            <a:off x="2287718" y="2057400"/>
            <a:ext cx="1193176" cy="329184"/>
          </a:xfrm>
          <a:prstGeom prst="rect">
            <a:avLst/>
          </a:prstGeom>
          <a:noFill/>
        </p:spPr>
        <p:txBody>
          <a:bodyPr wrap="square" lIns="45720" rIns="45720" tIns="18288" bIns="18288" anchor="ctr">
            <a:spAutoFit/>
          </a:bodyPr>
          <a:lstStyle/>
          <a:p>
            <a:pPr algn="l"/>
            <a:r>
              <a:rPr sz="900" b="0">
                <a:solidFill>
                  <a:srgbClr val="333333"/>
                </a:solidFill>
                <a:latin typeface="Calibri"/>
              </a:rPr>
              <a:t>Glad for Pets</a:t>
            </a:r>
          </a:p>
        </p:txBody>
      </p:sp>
      <p:sp>
        <p:nvSpPr>
          <p:cNvPr id="33" name="TextBox 32"/>
          <p:cNvSpPr txBox="1"/>
          <p:nvPr/>
        </p:nvSpPr>
        <p:spPr>
          <a:xfrm>
            <a:off x="3572334" y="2057400"/>
            <a:ext cx="1543526" cy="329184"/>
          </a:xfrm>
          <a:prstGeom prst="rect">
            <a:avLst/>
          </a:prstGeom>
          <a:noFill/>
        </p:spPr>
        <p:txBody>
          <a:bodyPr wrap="square" lIns="45720" rIns="45720" tIns="18288" bIns="18288" anchor="ctr">
            <a:spAutoFit/>
          </a:bodyPr>
          <a:lstStyle/>
          <a:p>
            <a:pPr algn="l"/>
            <a:r>
              <a:rPr sz="900" b="0">
                <a:solidFill>
                  <a:srgbClr val="333333"/>
                </a:solidFill>
                <a:latin typeface="Calibri"/>
              </a:rPr>
              <a:t>AMAZON</a:t>
            </a:r>
          </a:p>
        </p:txBody>
      </p:sp>
      <p:sp>
        <p:nvSpPr>
          <p:cNvPr id="34" name="TextBox 33"/>
          <p:cNvSpPr txBox="1"/>
          <p:nvPr/>
        </p:nvSpPr>
        <p:spPr>
          <a:xfrm>
            <a:off x="5207300" y="2057400"/>
            <a:ext cx="842826" cy="329184"/>
          </a:xfrm>
          <a:prstGeom prst="rect">
            <a:avLst/>
          </a:prstGeom>
          <a:noFill/>
        </p:spPr>
        <p:txBody>
          <a:bodyPr wrap="square" lIns="45720" rIns="45720" tIns="18288" bIns="18288" anchor="ctr">
            <a:spAutoFit/>
          </a:bodyPr>
          <a:lstStyle/>
          <a:p>
            <a:pPr algn="l"/>
            <a:r>
              <a:rPr sz="900" b="0">
                <a:solidFill>
                  <a:srgbClr val="333333"/>
                </a:solidFill>
                <a:latin typeface="Calibri"/>
              </a:rPr>
              <a:t>FF8654</a:t>
            </a:r>
          </a:p>
        </p:txBody>
      </p:sp>
      <p:sp>
        <p:nvSpPr>
          <p:cNvPr id="35" name="Rectangle 34"/>
          <p:cNvSpPr/>
          <p:nvPr/>
        </p:nvSpPr>
        <p:spPr>
          <a:xfrm>
            <a:off x="6187286" y="2121408"/>
            <a:ext cx="459428" cy="201168"/>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5846" y="2057400"/>
            <a:ext cx="642308" cy="329184"/>
          </a:xfrm>
          <a:prstGeom prst="rect">
            <a:avLst/>
          </a:prstGeom>
          <a:noFill/>
        </p:spPr>
        <p:txBody>
          <a:bodyPr wrap="square" lIns="45720" rIns="45720" tIns="18288" bIns="18288" anchor="ctr">
            <a:spAutoFit/>
          </a:bodyPr>
          <a:lstStyle/>
          <a:p>
            <a:pPr algn="ctr"/>
            <a:r>
              <a:rPr sz="800" b="1">
                <a:solidFill>
                  <a:srgbClr val="FFFFFF"/>
                </a:solidFill>
                <a:latin typeface="Calibri"/>
              </a:rPr>
              <a:t>MED</a:t>
            </a:r>
          </a:p>
        </p:txBody>
      </p:sp>
      <p:sp>
        <p:nvSpPr>
          <p:cNvPr id="37" name="TextBox 36"/>
          <p:cNvSpPr txBox="1"/>
          <p:nvPr/>
        </p:nvSpPr>
        <p:spPr>
          <a:xfrm>
            <a:off x="6783874" y="2057400"/>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14,200</a:t>
            </a:r>
          </a:p>
        </p:txBody>
      </p:sp>
      <p:sp>
        <p:nvSpPr>
          <p:cNvPr id="38" name="TextBox 37"/>
          <p:cNvSpPr txBox="1"/>
          <p:nvPr/>
        </p:nvSpPr>
        <p:spPr>
          <a:xfrm>
            <a:off x="7659748" y="2057400"/>
            <a:ext cx="784434" cy="329184"/>
          </a:xfrm>
          <a:prstGeom prst="rect">
            <a:avLst/>
          </a:prstGeom>
          <a:noFill/>
        </p:spPr>
        <p:txBody>
          <a:bodyPr wrap="square" lIns="45720" rIns="45720" tIns="18288" bIns="18288" anchor="ctr">
            <a:spAutoFit/>
          </a:bodyPr>
          <a:lstStyle/>
          <a:p>
            <a:pPr algn="r"/>
            <a:r>
              <a:rPr sz="900" b="1">
                <a:solidFill>
                  <a:srgbClr val="1F3A5F"/>
                </a:solidFill>
                <a:latin typeface="Calibri"/>
              </a:rPr>
              <a:t>12,850</a:t>
            </a:r>
          </a:p>
        </p:txBody>
      </p:sp>
      <p:sp>
        <p:nvSpPr>
          <p:cNvPr id="39" name="TextBox 38"/>
          <p:cNvSpPr txBox="1"/>
          <p:nvPr/>
        </p:nvSpPr>
        <p:spPr>
          <a:xfrm>
            <a:off x="8535622" y="2057400"/>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13,400</a:t>
            </a:r>
          </a:p>
        </p:txBody>
      </p:sp>
      <p:sp>
        <p:nvSpPr>
          <p:cNvPr id="40" name="TextBox 39"/>
          <p:cNvSpPr txBox="1"/>
          <p:nvPr/>
        </p:nvSpPr>
        <p:spPr>
          <a:xfrm>
            <a:off x="9365776" y="2057400"/>
            <a:ext cx="1401399" cy="329184"/>
          </a:xfrm>
          <a:prstGeom prst="rect">
            <a:avLst/>
          </a:prstGeom>
          <a:noFill/>
        </p:spPr>
        <p:txBody>
          <a:bodyPr wrap="square" lIns="45720" rIns="45720" tIns="18288" bIns="18288" anchor="ctr">
            <a:spAutoFit/>
          </a:bodyPr>
          <a:lstStyle/>
          <a:p>
            <a:pPr algn="ctr"/>
            <a:r>
              <a:rPr sz="900" b="1">
                <a:solidFill>
                  <a:srgbClr val="C62828"/>
                </a:solidFill>
                <a:latin typeface="Calibri"/>
              </a:rPr>
              <a:t>−9.5%</a:t>
            </a:r>
          </a:p>
        </p:txBody>
      </p:sp>
      <p:sp>
        <p:nvSpPr>
          <p:cNvPr id="41" name="TextBox 40"/>
          <p:cNvSpPr txBox="1"/>
          <p:nvPr/>
        </p:nvSpPr>
        <p:spPr>
          <a:xfrm>
            <a:off x="10812895" y="2057400"/>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486</a:t>
            </a:r>
          </a:p>
        </p:txBody>
      </p:sp>
      <p:sp>
        <p:nvSpPr>
          <p:cNvPr id="42" name="Rectangle 41"/>
          <p:cNvSpPr/>
          <p:nvPr/>
        </p:nvSpPr>
        <p:spPr>
          <a:xfrm>
            <a:off x="548640" y="2404872"/>
            <a:ext cx="11094415" cy="329184"/>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2404872"/>
            <a:ext cx="36576"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 y="2404872"/>
            <a:ext cx="1601918" cy="329184"/>
          </a:xfrm>
          <a:prstGeom prst="rect">
            <a:avLst/>
          </a:prstGeom>
          <a:noFill/>
        </p:spPr>
        <p:txBody>
          <a:bodyPr wrap="square" lIns="45720" rIns="45720" tIns="18288" bIns="18288" anchor="ctr">
            <a:spAutoFit/>
          </a:bodyPr>
          <a:lstStyle/>
          <a:p>
            <a:pPr algn="l"/>
            <a:r>
              <a:rPr sz="900" b="0">
                <a:solidFill>
                  <a:srgbClr val="333333"/>
                </a:solidFill>
                <a:latin typeface="Calibri"/>
              </a:rPr>
              <a:t>1864-BB13437</a:t>
            </a:r>
          </a:p>
        </p:txBody>
      </p:sp>
      <p:sp>
        <p:nvSpPr>
          <p:cNvPr id="45" name="TextBox 44"/>
          <p:cNvSpPr txBox="1"/>
          <p:nvPr/>
        </p:nvSpPr>
        <p:spPr>
          <a:xfrm>
            <a:off x="2287718" y="2404872"/>
            <a:ext cx="1193176" cy="329184"/>
          </a:xfrm>
          <a:prstGeom prst="rect">
            <a:avLst/>
          </a:prstGeom>
          <a:noFill/>
        </p:spPr>
        <p:txBody>
          <a:bodyPr wrap="square" lIns="45720" rIns="45720" tIns="18288" bIns="18288" anchor="ctr">
            <a:spAutoFit/>
          </a:bodyPr>
          <a:lstStyle/>
          <a:p>
            <a:pPr algn="l"/>
            <a:r>
              <a:rPr sz="900" b="0">
                <a:solidFill>
                  <a:srgbClr val="333333"/>
                </a:solidFill>
                <a:latin typeface="Calibri"/>
              </a:rPr>
              <a:t>Burts Bees</a:t>
            </a:r>
          </a:p>
        </p:txBody>
      </p:sp>
      <p:sp>
        <p:nvSpPr>
          <p:cNvPr id="46" name="TextBox 45"/>
          <p:cNvSpPr txBox="1"/>
          <p:nvPr/>
        </p:nvSpPr>
        <p:spPr>
          <a:xfrm>
            <a:off x="3572334" y="2404872"/>
            <a:ext cx="1543526" cy="329184"/>
          </a:xfrm>
          <a:prstGeom prst="rect">
            <a:avLst/>
          </a:prstGeom>
          <a:noFill/>
        </p:spPr>
        <p:txBody>
          <a:bodyPr wrap="square" lIns="45720" rIns="45720" tIns="18288" bIns="18288" anchor="ctr">
            <a:spAutoFit/>
          </a:bodyPr>
          <a:lstStyle/>
          <a:p>
            <a:pPr algn="l"/>
            <a:r>
              <a:rPr sz="900" b="0">
                <a:solidFill>
                  <a:srgbClr val="333333"/>
                </a:solidFill>
                <a:latin typeface="Calibri"/>
              </a:rPr>
              <a:t>AMAZON</a:t>
            </a:r>
          </a:p>
        </p:txBody>
      </p:sp>
      <p:sp>
        <p:nvSpPr>
          <p:cNvPr id="47" name="TextBox 46"/>
          <p:cNvSpPr txBox="1"/>
          <p:nvPr/>
        </p:nvSpPr>
        <p:spPr>
          <a:xfrm>
            <a:off x="5207300" y="2404872"/>
            <a:ext cx="842826" cy="329184"/>
          </a:xfrm>
          <a:prstGeom prst="rect">
            <a:avLst/>
          </a:prstGeom>
          <a:noFill/>
        </p:spPr>
        <p:txBody>
          <a:bodyPr wrap="square" lIns="45720" rIns="45720" tIns="18288" bIns="18288" anchor="ctr">
            <a:spAutoFit/>
          </a:bodyPr>
          <a:lstStyle/>
          <a:p>
            <a:pPr algn="l"/>
            <a:r>
              <a:rPr sz="900" b="0">
                <a:solidFill>
                  <a:srgbClr val="333333"/>
                </a:solidFill>
                <a:latin typeface="Calibri"/>
              </a:rPr>
              <a:t>BB13437</a:t>
            </a:r>
          </a:p>
        </p:txBody>
      </p:sp>
      <p:sp>
        <p:nvSpPr>
          <p:cNvPr id="48" name="Rectangle 47"/>
          <p:cNvSpPr/>
          <p:nvPr/>
        </p:nvSpPr>
        <p:spPr>
          <a:xfrm>
            <a:off x="6187286" y="2468880"/>
            <a:ext cx="459428" cy="2011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95846" y="2404872"/>
            <a:ext cx="642308" cy="329184"/>
          </a:xfrm>
          <a:prstGeom prst="rect">
            <a:avLst/>
          </a:prstGeom>
          <a:noFill/>
        </p:spPr>
        <p:txBody>
          <a:bodyPr wrap="square" lIns="45720" rIns="45720" tIns="18288" bIns="18288" anchor="ctr">
            <a:spAutoFit/>
          </a:bodyPr>
          <a:lstStyle/>
          <a:p>
            <a:pPr algn="ctr"/>
            <a:r>
              <a:rPr sz="800" b="1">
                <a:solidFill>
                  <a:srgbClr val="FFFFFF"/>
                </a:solidFill>
                <a:latin typeface="Calibri"/>
              </a:rPr>
              <a:t>LOW</a:t>
            </a:r>
          </a:p>
        </p:txBody>
      </p:sp>
      <p:sp>
        <p:nvSpPr>
          <p:cNvPr id="50" name="TextBox 49"/>
          <p:cNvSpPr txBox="1"/>
          <p:nvPr/>
        </p:nvSpPr>
        <p:spPr>
          <a:xfrm>
            <a:off x="6783874" y="2404872"/>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8,400</a:t>
            </a:r>
          </a:p>
        </p:txBody>
      </p:sp>
      <p:sp>
        <p:nvSpPr>
          <p:cNvPr id="51" name="TextBox 50"/>
          <p:cNvSpPr txBox="1"/>
          <p:nvPr/>
        </p:nvSpPr>
        <p:spPr>
          <a:xfrm>
            <a:off x="7659748" y="2404872"/>
            <a:ext cx="784434" cy="329184"/>
          </a:xfrm>
          <a:prstGeom prst="rect">
            <a:avLst/>
          </a:prstGeom>
          <a:noFill/>
        </p:spPr>
        <p:txBody>
          <a:bodyPr wrap="square" lIns="45720" rIns="45720" tIns="18288" bIns="18288" anchor="ctr">
            <a:spAutoFit/>
          </a:bodyPr>
          <a:lstStyle/>
          <a:p>
            <a:pPr algn="r"/>
            <a:r>
              <a:rPr sz="900" b="1">
                <a:solidFill>
                  <a:srgbClr val="1F3A5F"/>
                </a:solidFill>
                <a:latin typeface="Calibri"/>
              </a:rPr>
              <a:t>8,180</a:t>
            </a:r>
          </a:p>
        </p:txBody>
      </p:sp>
      <p:sp>
        <p:nvSpPr>
          <p:cNvPr id="52" name="TextBox 51"/>
          <p:cNvSpPr txBox="1"/>
          <p:nvPr/>
        </p:nvSpPr>
        <p:spPr>
          <a:xfrm>
            <a:off x="8535622" y="2404872"/>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8,300</a:t>
            </a:r>
          </a:p>
        </p:txBody>
      </p:sp>
      <p:sp>
        <p:nvSpPr>
          <p:cNvPr id="53" name="TextBox 52"/>
          <p:cNvSpPr txBox="1"/>
          <p:nvPr/>
        </p:nvSpPr>
        <p:spPr>
          <a:xfrm>
            <a:off x="9365776" y="2404872"/>
            <a:ext cx="1401399" cy="329184"/>
          </a:xfrm>
          <a:prstGeom prst="rect">
            <a:avLst/>
          </a:prstGeom>
          <a:noFill/>
        </p:spPr>
        <p:txBody>
          <a:bodyPr wrap="square" lIns="45720" rIns="45720" tIns="18288" bIns="18288" anchor="ctr">
            <a:spAutoFit/>
          </a:bodyPr>
          <a:lstStyle/>
          <a:p>
            <a:pPr algn="ctr"/>
            <a:r>
              <a:rPr sz="900" b="1">
                <a:solidFill>
                  <a:srgbClr val="C62828"/>
                </a:solidFill>
                <a:latin typeface="Calibri"/>
              </a:rPr>
              <a:t>−2.6%</a:t>
            </a:r>
          </a:p>
        </p:txBody>
      </p:sp>
      <p:sp>
        <p:nvSpPr>
          <p:cNvPr id="54" name="TextBox 53"/>
          <p:cNvSpPr txBox="1"/>
          <p:nvPr/>
        </p:nvSpPr>
        <p:spPr>
          <a:xfrm>
            <a:off x="10812895" y="2404872"/>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315</a:t>
            </a:r>
          </a:p>
        </p:txBody>
      </p:sp>
      <p:sp>
        <p:nvSpPr>
          <p:cNvPr id="55" name="Rectangle 54"/>
          <p:cNvSpPr/>
          <p:nvPr/>
        </p:nvSpPr>
        <p:spPr>
          <a:xfrm>
            <a:off x="548640" y="2752344"/>
            <a:ext cx="11094415" cy="329184"/>
          </a:xfrm>
          <a:prstGeom prst="rect">
            <a:avLst/>
          </a:prstGeom>
          <a:solidFill>
            <a:srgbClr val="FFEBEE"/>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8640" y="2752344"/>
            <a:ext cx="36576" cy="32918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2752344"/>
            <a:ext cx="1601918" cy="329184"/>
          </a:xfrm>
          <a:prstGeom prst="rect">
            <a:avLst/>
          </a:prstGeom>
          <a:noFill/>
        </p:spPr>
        <p:txBody>
          <a:bodyPr wrap="square" lIns="45720" rIns="45720" tIns="18288" bIns="18288" anchor="ctr">
            <a:spAutoFit/>
          </a:bodyPr>
          <a:lstStyle/>
          <a:p>
            <a:pPr algn="l"/>
            <a:r>
              <a:rPr sz="900" b="0">
                <a:solidFill>
                  <a:srgbClr val="333333"/>
                </a:solidFill>
                <a:latin typeface="Calibri"/>
              </a:rPr>
              <a:t>1864-FF4934</a:t>
            </a:r>
          </a:p>
        </p:txBody>
      </p:sp>
      <p:sp>
        <p:nvSpPr>
          <p:cNvPr id="58" name="TextBox 57"/>
          <p:cNvSpPr txBox="1"/>
          <p:nvPr/>
        </p:nvSpPr>
        <p:spPr>
          <a:xfrm>
            <a:off x="2287718" y="2752344"/>
            <a:ext cx="1193176" cy="329184"/>
          </a:xfrm>
          <a:prstGeom prst="rect">
            <a:avLst/>
          </a:prstGeom>
          <a:noFill/>
        </p:spPr>
        <p:txBody>
          <a:bodyPr wrap="square" lIns="45720" rIns="45720" tIns="18288" bIns="18288" anchor="ctr">
            <a:spAutoFit/>
          </a:bodyPr>
          <a:lstStyle/>
          <a:p>
            <a:pPr algn="l"/>
            <a:r>
              <a:rPr sz="900" b="0">
                <a:solidFill>
                  <a:srgbClr val="333333"/>
                </a:solidFill>
                <a:latin typeface="Calibri"/>
              </a:rPr>
              <a:t>Glad for Pets</a:t>
            </a:r>
          </a:p>
        </p:txBody>
      </p:sp>
      <p:sp>
        <p:nvSpPr>
          <p:cNvPr id="59" name="TextBox 58"/>
          <p:cNvSpPr txBox="1"/>
          <p:nvPr/>
        </p:nvSpPr>
        <p:spPr>
          <a:xfrm>
            <a:off x="3572334" y="2752344"/>
            <a:ext cx="1543526" cy="329184"/>
          </a:xfrm>
          <a:prstGeom prst="rect">
            <a:avLst/>
          </a:prstGeom>
          <a:noFill/>
        </p:spPr>
        <p:txBody>
          <a:bodyPr wrap="square" lIns="45720" rIns="45720" tIns="18288" bIns="18288" anchor="ctr">
            <a:spAutoFit/>
          </a:bodyPr>
          <a:lstStyle/>
          <a:p>
            <a:pPr algn="l"/>
            <a:r>
              <a:rPr sz="900" b="0">
                <a:solidFill>
                  <a:srgbClr val="333333"/>
                </a:solidFill>
                <a:latin typeface="Calibri"/>
              </a:rPr>
              <a:t>AMAZON</a:t>
            </a:r>
          </a:p>
        </p:txBody>
      </p:sp>
      <p:sp>
        <p:nvSpPr>
          <p:cNvPr id="60" name="TextBox 59"/>
          <p:cNvSpPr txBox="1"/>
          <p:nvPr/>
        </p:nvSpPr>
        <p:spPr>
          <a:xfrm>
            <a:off x="5207300" y="2752344"/>
            <a:ext cx="842826" cy="329184"/>
          </a:xfrm>
          <a:prstGeom prst="rect">
            <a:avLst/>
          </a:prstGeom>
          <a:noFill/>
        </p:spPr>
        <p:txBody>
          <a:bodyPr wrap="square" lIns="45720" rIns="45720" tIns="18288" bIns="18288" anchor="ctr">
            <a:spAutoFit/>
          </a:bodyPr>
          <a:lstStyle/>
          <a:p>
            <a:pPr algn="l"/>
            <a:r>
              <a:rPr sz="900" b="0">
                <a:solidFill>
                  <a:srgbClr val="333333"/>
                </a:solidFill>
                <a:latin typeface="Calibri"/>
              </a:rPr>
              <a:t>FF4934</a:t>
            </a:r>
          </a:p>
        </p:txBody>
      </p:sp>
      <p:sp>
        <p:nvSpPr>
          <p:cNvPr id="61" name="Rectangle 60"/>
          <p:cNvSpPr/>
          <p:nvPr/>
        </p:nvSpPr>
        <p:spPr>
          <a:xfrm>
            <a:off x="6187286" y="2816352"/>
            <a:ext cx="459428" cy="20116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095846" y="2752344"/>
            <a:ext cx="642308" cy="329184"/>
          </a:xfrm>
          <a:prstGeom prst="rect">
            <a:avLst/>
          </a:prstGeom>
          <a:noFill/>
        </p:spPr>
        <p:txBody>
          <a:bodyPr wrap="square" lIns="45720" rIns="45720" tIns="18288" bIns="18288" anchor="ctr">
            <a:spAutoFit/>
          </a:bodyPr>
          <a:lstStyle/>
          <a:p>
            <a:pPr algn="ctr"/>
            <a:r>
              <a:rPr sz="800" b="1">
                <a:solidFill>
                  <a:srgbClr val="FFFFFF"/>
                </a:solidFill>
                <a:latin typeface="Calibri"/>
              </a:rPr>
              <a:t>CRIT</a:t>
            </a:r>
          </a:p>
        </p:txBody>
      </p:sp>
      <p:sp>
        <p:nvSpPr>
          <p:cNvPr id="63" name="TextBox 62"/>
          <p:cNvSpPr txBox="1"/>
          <p:nvPr/>
        </p:nvSpPr>
        <p:spPr>
          <a:xfrm>
            <a:off x="6783874" y="2752344"/>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2,100</a:t>
            </a:r>
          </a:p>
        </p:txBody>
      </p:sp>
      <p:sp>
        <p:nvSpPr>
          <p:cNvPr id="64" name="TextBox 63"/>
          <p:cNvSpPr txBox="1"/>
          <p:nvPr/>
        </p:nvSpPr>
        <p:spPr>
          <a:xfrm>
            <a:off x="7659748" y="2752344"/>
            <a:ext cx="784434" cy="329184"/>
          </a:xfrm>
          <a:prstGeom prst="rect">
            <a:avLst/>
          </a:prstGeom>
          <a:noFill/>
        </p:spPr>
        <p:txBody>
          <a:bodyPr wrap="square" lIns="45720" rIns="45720" tIns="18288" bIns="18288" anchor="ctr">
            <a:spAutoFit/>
          </a:bodyPr>
          <a:lstStyle/>
          <a:p>
            <a:pPr algn="r"/>
            <a:r>
              <a:rPr sz="900" b="1">
                <a:solidFill>
                  <a:srgbClr val="1F3A5F"/>
                </a:solidFill>
                <a:latin typeface="Calibri"/>
              </a:rPr>
              <a:t>5,050</a:t>
            </a:r>
          </a:p>
        </p:txBody>
      </p:sp>
      <p:sp>
        <p:nvSpPr>
          <p:cNvPr id="65" name="TextBox 64"/>
          <p:cNvSpPr txBox="1"/>
          <p:nvPr/>
        </p:nvSpPr>
        <p:spPr>
          <a:xfrm>
            <a:off x="8535622" y="2752344"/>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3,900</a:t>
            </a:r>
          </a:p>
        </p:txBody>
      </p:sp>
      <p:sp>
        <p:nvSpPr>
          <p:cNvPr id="66" name="TextBox 65"/>
          <p:cNvSpPr txBox="1"/>
          <p:nvPr/>
        </p:nvSpPr>
        <p:spPr>
          <a:xfrm>
            <a:off x="9365776" y="2752344"/>
            <a:ext cx="1401399" cy="329184"/>
          </a:xfrm>
          <a:prstGeom prst="rect">
            <a:avLst/>
          </a:prstGeom>
          <a:noFill/>
        </p:spPr>
        <p:txBody>
          <a:bodyPr wrap="square" lIns="45720" rIns="45720" tIns="18288" bIns="18288" anchor="ctr">
            <a:spAutoFit/>
          </a:bodyPr>
          <a:lstStyle/>
          <a:p>
            <a:pPr algn="ctr"/>
            <a:r>
              <a:rPr sz="900" b="1">
                <a:solidFill>
                  <a:srgbClr val="2E7D32"/>
                </a:solidFill>
                <a:latin typeface="Calibri"/>
              </a:rPr>
              <a:t>+140.5%</a:t>
            </a:r>
          </a:p>
        </p:txBody>
      </p:sp>
      <p:sp>
        <p:nvSpPr>
          <p:cNvPr id="67" name="TextBox 66"/>
          <p:cNvSpPr txBox="1"/>
          <p:nvPr/>
        </p:nvSpPr>
        <p:spPr>
          <a:xfrm>
            <a:off x="10812895" y="2752344"/>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194</a:t>
            </a:r>
          </a:p>
        </p:txBody>
      </p:sp>
      <p:sp>
        <p:nvSpPr>
          <p:cNvPr id="68" name="Rectangle 67"/>
          <p:cNvSpPr/>
          <p:nvPr/>
        </p:nvSpPr>
        <p:spPr>
          <a:xfrm>
            <a:off x="548640" y="3099816"/>
            <a:ext cx="11094415" cy="329184"/>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48640" y="3099816"/>
            <a:ext cx="36576"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94360" y="3099816"/>
            <a:ext cx="1601918" cy="329184"/>
          </a:xfrm>
          <a:prstGeom prst="rect">
            <a:avLst/>
          </a:prstGeom>
          <a:noFill/>
        </p:spPr>
        <p:txBody>
          <a:bodyPr wrap="square" lIns="45720" rIns="45720" tIns="18288" bIns="18288" anchor="ctr">
            <a:spAutoFit/>
          </a:bodyPr>
          <a:lstStyle/>
          <a:p>
            <a:pPr algn="l"/>
            <a:r>
              <a:rPr sz="900" b="0">
                <a:solidFill>
                  <a:srgbClr val="333333"/>
                </a:solidFill>
                <a:latin typeface="Calibri"/>
              </a:rPr>
              <a:t>1745-FF4771</a:t>
            </a:r>
          </a:p>
        </p:txBody>
      </p:sp>
      <p:sp>
        <p:nvSpPr>
          <p:cNvPr id="71" name="TextBox 70"/>
          <p:cNvSpPr txBox="1"/>
          <p:nvPr/>
        </p:nvSpPr>
        <p:spPr>
          <a:xfrm>
            <a:off x="2287718" y="3099816"/>
            <a:ext cx="1193176" cy="329184"/>
          </a:xfrm>
          <a:prstGeom prst="rect">
            <a:avLst/>
          </a:prstGeom>
          <a:noFill/>
        </p:spPr>
        <p:txBody>
          <a:bodyPr wrap="square" lIns="45720" rIns="45720" tIns="18288" bIns="18288" anchor="ctr">
            <a:spAutoFit/>
          </a:bodyPr>
          <a:lstStyle/>
          <a:p>
            <a:pPr algn="l"/>
            <a:r>
              <a:rPr sz="900" b="0">
                <a:solidFill>
                  <a:srgbClr val="333333"/>
                </a:solidFill>
                <a:latin typeface="Calibri"/>
              </a:rPr>
              <a:t>Glad for Pets</a:t>
            </a:r>
          </a:p>
        </p:txBody>
      </p:sp>
      <p:sp>
        <p:nvSpPr>
          <p:cNvPr id="72" name="TextBox 71"/>
          <p:cNvSpPr txBox="1"/>
          <p:nvPr/>
        </p:nvSpPr>
        <p:spPr>
          <a:xfrm>
            <a:off x="3572334" y="3099816"/>
            <a:ext cx="1543526" cy="329184"/>
          </a:xfrm>
          <a:prstGeom prst="rect">
            <a:avLst/>
          </a:prstGeom>
          <a:noFill/>
        </p:spPr>
        <p:txBody>
          <a:bodyPr wrap="square" lIns="45720" rIns="45720" tIns="18288" bIns="18288" anchor="ctr">
            <a:spAutoFit/>
          </a:bodyPr>
          <a:lstStyle/>
          <a:p>
            <a:pPr algn="l"/>
            <a:r>
              <a:rPr sz="900" b="0">
                <a:solidFill>
                  <a:srgbClr val="333333"/>
                </a:solidFill>
                <a:latin typeface="Calibri"/>
              </a:rPr>
              <a:t>WALMART</a:t>
            </a:r>
          </a:p>
        </p:txBody>
      </p:sp>
      <p:sp>
        <p:nvSpPr>
          <p:cNvPr id="73" name="TextBox 72"/>
          <p:cNvSpPr txBox="1"/>
          <p:nvPr/>
        </p:nvSpPr>
        <p:spPr>
          <a:xfrm>
            <a:off x="5207300" y="3099816"/>
            <a:ext cx="842826" cy="329184"/>
          </a:xfrm>
          <a:prstGeom prst="rect">
            <a:avLst/>
          </a:prstGeom>
          <a:noFill/>
        </p:spPr>
        <p:txBody>
          <a:bodyPr wrap="square" lIns="45720" rIns="45720" tIns="18288" bIns="18288" anchor="ctr">
            <a:spAutoFit/>
          </a:bodyPr>
          <a:lstStyle/>
          <a:p>
            <a:pPr algn="l"/>
            <a:r>
              <a:rPr sz="900" b="0">
                <a:solidFill>
                  <a:srgbClr val="333333"/>
                </a:solidFill>
                <a:latin typeface="Calibri"/>
              </a:rPr>
              <a:t>FF4771</a:t>
            </a:r>
          </a:p>
        </p:txBody>
      </p:sp>
      <p:sp>
        <p:nvSpPr>
          <p:cNvPr id="74" name="Rectangle 73"/>
          <p:cNvSpPr/>
          <p:nvPr/>
        </p:nvSpPr>
        <p:spPr>
          <a:xfrm>
            <a:off x="6187286" y="3163824"/>
            <a:ext cx="459428" cy="201168"/>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095846" y="3099816"/>
            <a:ext cx="642308" cy="329184"/>
          </a:xfrm>
          <a:prstGeom prst="rect">
            <a:avLst/>
          </a:prstGeom>
          <a:noFill/>
        </p:spPr>
        <p:txBody>
          <a:bodyPr wrap="square" lIns="45720" rIns="45720" tIns="18288" bIns="18288" anchor="ctr">
            <a:spAutoFit/>
          </a:bodyPr>
          <a:lstStyle/>
          <a:p>
            <a:pPr algn="ctr"/>
            <a:r>
              <a:rPr sz="800" b="1">
                <a:solidFill>
                  <a:srgbClr val="FFFFFF"/>
                </a:solidFill>
                <a:latin typeface="Calibri"/>
              </a:rPr>
              <a:t>MED</a:t>
            </a:r>
          </a:p>
        </p:txBody>
      </p:sp>
      <p:sp>
        <p:nvSpPr>
          <p:cNvPr id="76" name="TextBox 75"/>
          <p:cNvSpPr txBox="1"/>
          <p:nvPr/>
        </p:nvSpPr>
        <p:spPr>
          <a:xfrm>
            <a:off x="6783874" y="3099816"/>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13,500</a:t>
            </a:r>
          </a:p>
        </p:txBody>
      </p:sp>
      <p:sp>
        <p:nvSpPr>
          <p:cNvPr id="77" name="TextBox 76"/>
          <p:cNvSpPr txBox="1"/>
          <p:nvPr/>
        </p:nvSpPr>
        <p:spPr>
          <a:xfrm>
            <a:off x="7659748" y="3099816"/>
            <a:ext cx="784434" cy="329184"/>
          </a:xfrm>
          <a:prstGeom prst="rect">
            <a:avLst/>
          </a:prstGeom>
          <a:noFill/>
        </p:spPr>
        <p:txBody>
          <a:bodyPr wrap="square" lIns="45720" rIns="45720" tIns="18288" bIns="18288" anchor="ctr">
            <a:spAutoFit/>
          </a:bodyPr>
          <a:lstStyle/>
          <a:p>
            <a:pPr algn="r"/>
            <a:r>
              <a:rPr sz="900" b="1">
                <a:solidFill>
                  <a:srgbClr val="1F3A5F"/>
                </a:solidFill>
                <a:latin typeface="Calibri"/>
              </a:rPr>
              <a:t>13,200</a:t>
            </a:r>
          </a:p>
        </p:txBody>
      </p:sp>
      <p:sp>
        <p:nvSpPr>
          <p:cNvPr id="78" name="TextBox 77"/>
          <p:cNvSpPr txBox="1"/>
          <p:nvPr/>
        </p:nvSpPr>
        <p:spPr>
          <a:xfrm>
            <a:off x="8535622" y="3099816"/>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13,400</a:t>
            </a:r>
          </a:p>
        </p:txBody>
      </p:sp>
      <p:sp>
        <p:nvSpPr>
          <p:cNvPr id="79" name="TextBox 78"/>
          <p:cNvSpPr txBox="1"/>
          <p:nvPr/>
        </p:nvSpPr>
        <p:spPr>
          <a:xfrm>
            <a:off x="9365776" y="3099816"/>
            <a:ext cx="1401399" cy="329184"/>
          </a:xfrm>
          <a:prstGeom prst="rect">
            <a:avLst/>
          </a:prstGeom>
          <a:noFill/>
        </p:spPr>
        <p:txBody>
          <a:bodyPr wrap="square" lIns="45720" rIns="45720" tIns="18288" bIns="18288" anchor="ctr">
            <a:spAutoFit/>
          </a:bodyPr>
          <a:lstStyle/>
          <a:p>
            <a:pPr algn="ctr"/>
            <a:r>
              <a:rPr sz="900" b="1">
                <a:solidFill>
                  <a:srgbClr val="C62828"/>
                </a:solidFill>
                <a:latin typeface="Calibri"/>
              </a:rPr>
              <a:t>−2.2%</a:t>
            </a:r>
          </a:p>
        </p:txBody>
      </p:sp>
      <p:sp>
        <p:nvSpPr>
          <p:cNvPr id="80" name="TextBox 79"/>
          <p:cNvSpPr txBox="1"/>
          <p:nvPr/>
        </p:nvSpPr>
        <p:spPr>
          <a:xfrm>
            <a:off x="10812895" y="3099816"/>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520</a:t>
            </a:r>
          </a:p>
        </p:txBody>
      </p:sp>
      <p:sp>
        <p:nvSpPr>
          <p:cNvPr id="81" name="Rectangle 80"/>
          <p:cNvSpPr/>
          <p:nvPr/>
        </p:nvSpPr>
        <p:spPr>
          <a:xfrm>
            <a:off x="548640" y="3447288"/>
            <a:ext cx="11094415" cy="329184"/>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48640" y="3447288"/>
            <a:ext cx="36576" cy="32918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4360" y="3447288"/>
            <a:ext cx="1601918" cy="329184"/>
          </a:xfrm>
          <a:prstGeom prst="rect">
            <a:avLst/>
          </a:prstGeom>
          <a:noFill/>
        </p:spPr>
        <p:txBody>
          <a:bodyPr wrap="square" lIns="45720" rIns="45720" tIns="18288" bIns="18288" anchor="ctr">
            <a:spAutoFit/>
          </a:bodyPr>
          <a:lstStyle/>
          <a:p>
            <a:pPr algn="l"/>
            <a:r>
              <a:rPr sz="900" b="0">
                <a:solidFill>
                  <a:srgbClr val="333333"/>
                </a:solidFill>
                <a:latin typeface="Calibri"/>
              </a:rPr>
              <a:t>1864-BB31553</a:t>
            </a:r>
          </a:p>
        </p:txBody>
      </p:sp>
      <p:sp>
        <p:nvSpPr>
          <p:cNvPr id="84" name="TextBox 83"/>
          <p:cNvSpPr txBox="1"/>
          <p:nvPr/>
        </p:nvSpPr>
        <p:spPr>
          <a:xfrm>
            <a:off x="2287718" y="3447288"/>
            <a:ext cx="1193176" cy="329184"/>
          </a:xfrm>
          <a:prstGeom prst="rect">
            <a:avLst/>
          </a:prstGeom>
          <a:noFill/>
        </p:spPr>
        <p:txBody>
          <a:bodyPr wrap="square" lIns="45720" rIns="45720" tIns="18288" bIns="18288" anchor="ctr">
            <a:spAutoFit/>
          </a:bodyPr>
          <a:lstStyle/>
          <a:p>
            <a:pPr algn="l"/>
            <a:r>
              <a:rPr sz="900" b="0">
                <a:solidFill>
                  <a:srgbClr val="333333"/>
                </a:solidFill>
                <a:latin typeface="Calibri"/>
              </a:rPr>
              <a:t>Burts Bees</a:t>
            </a:r>
          </a:p>
        </p:txBody>
      </p:sp>
      <p:sp>
        <p:nvSpPr>
          <p:cNvPr id="85" name="TextBox 84"/>
          <p:cNvSpPr txBox="1"/>
          <p:nvPr/>
        </p:nvSpPr>
        <p:spPr>
          <a:xfrm>
            <a:off x="3572334" y="3447288"/>
            <a:ext cx="1543526" cy="329184"/>
          </a:xfrm>
          <a:prstGeom prst="rect">
            <a:avLst/>
          </a:prstGeom>
          <a:noFill/>
        </p:spPr>
        <p:txBody>
          <a:bodyPr wrap="square" lIns="45720" rIns="45720" tIns="18288" bIns="18288" anchor="ctr">
            <a:spAutoFit/>
          </a:bodyPr>
          <a:lstStyle/>
          <a:p>
            <a:pPr algn="l"/>
            <a:r>
              <a:rPr sz="900" b="0">
                <a:solidFill>
                  <a:srgbClr val="333333"/>
                </a:solidFill>
                <a:latin typeface="Calibri"/>
              </a:rPr>
              <a:t>AMAZON</a:t>
            </a:r>
          </a:p>
        </p:txBody>
      </p:sp>
      <p:sp>
        <p:nvSpPr>
          <p:cNvPr id="86" name="TextBox 85"/>
          <p:cNvSpPr txBox="1"/>
          <p:nvPr/>
        </p:nvSpPr>
        <p:spPr>
          <a:xfrm>
            <a:off x="5207300" y="3447288"/>
            <a:ext cx="842826" cy="329184"/>
          </a:xfrm>
          <a:prstGeom prst="rect">
            <a:avLst/>
          </a:prstGeom>
          <a:noFill/>
        </p:spPr>
        <p:txBody>
          <a:bodyPr wrap="square" lIns="45720" rIns="45720" tIns="18288" bIns="18288" anchor="ctr">
            <a:spAutoFit/>
          </a:bodyPr>
          <a:lstStyle/>
          <a:p>
            <a:pPr algn="l"/>
            <a:r>
              <a:rPr sz="900" b="0">
                <a:solidFill>
                  <a:srgbClr val="333333"/>
                </a:solidFill>
                <a:latin typeface="Calibri"/>
              </a:rPr>
              <a:t>BB31553</a:t>
            </a:r>
          </a:p>
        </p:txBody>
      </p:sp>
      <p:sp>
        <p:nvSpPr>
          <p:cNvPr id="87" name="Rectangle 86"/>
          <p:cNvSpPr/>
          <p:nvPr/>
        </p:nvSpPr>
        <p:spPr>
          <a:xfrm>
            <a:off x="6187286" y="3511296"/>
            <a:ext cx="459428" cy="2011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095846" y="3447288"/>
            <a:ext cx="642308" cy="329184"/>
          </a:xfrm>
          <a:prstGeom prst="rect">
            <a:avLst/>
          </a:prstGeom>
          <a:noFill/>
        </p:spPr>
        <p:txBody>
          <a:bodyPr wrap="square" lIns="45720" rIns="45720" tIns="18288" bIns="18288" anchor="ctr">
            <a:spAutoFit/>
          </a:bodyPr>
          <a:lstStyle/>
          <a:p>
            <a:pPr algn="ctr"/>
            <a:r>
              <a:rPr sz="800" b="1">
                <a:solidFill>
                  <a:srgbClr val="FFFFFF"/>
                </a:solidFill>
                <a:latin typeface="Calibri"/>
              </a:rPr>
              <a:t>LOW</a:t>
            </a:r>
          </a:p>
        </p:txBody>
      </p:sp>
      <p:sp>
        <p:nvSpPr>
          <p:cNvPr id="89" name="TextBox 88"/>
          <p:cNvSpPr txBox="1"/>
          <p:nvPr/>
        </p:nvSpPr>
        <p:spPr>
          <a:xfrm>
            <a:off x="6783874" y="3447288"/>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1,800</a:t>
            </a:r>
          </a:p>
        </p:txBody>
      </p:sp>
      <p:sp>
        <p:nvSpPr>
          <p:cNvPr id="90" name="TextBox 89"/>
          <p:cNvSpPr txBox="1"/>
          <p:nvPr/>
        </p:nvSpPr>
        <p:spPr>
          <a:xfrm>
            <a:off x="7659748" y="3447288"/>
            <a:ext cx="784434" cy="329184"/>
          </a:xfrm>
          <a:prstGeom prst="rect">
            <a:avLst/>
          </a:prstGeom>
          <a:noFill/>
        </p:spPr>
        <p:txBody>
          <a:bodyPr wrap="square" lIns="45720" rIns="45720" tIns="18288" bIns="18288" anchor="ctr">
            <a:spAutoFit/>
          </a:bodyPr>
          <a:lstStyle/>
          <a:p>
            <a:pPr algn="r"/>
            <a:r>
              <a:rPr sz="900" b="1">
                <a:solidFill>
                  <a:srgbClr val="1F3A5F"/>
                </a:solidFill>
                <a:latin typeface="Calibri"/>
              </a:rPr>
              <a:t>1,820</a:t>
            </a:r>
          </a:p>
        </p:txBody>
      </p:sp>
      <p:sp>
        <p:nvSpPr>
          <p:cNvPr id="91" name="TextBox 90"/>
          <p:cNvSpPr txBox="1"/>
          <p:nvPr/>
        </p:nvSpPr>
        <p:spPr>
          <a:xfrm>
            <a:off x="8535622" y="3447288"/>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1,810</a:t>
            </a:r>
          </a:p>
        </p:txBody>
      </p:sp>
      <p:sp>
        <p:nvSpPr>
          <p:cNvPr id="92" name="TextBox 91"/>
          <p:cNvSpPr txBox="1"/>
          <p:nvPr/>
        </p:nvSpPr>
        <p:spPr>
          <a:xfrm>
            <a:off x="9365776" y="3447288"/>
            <a:ext cx="1401399" cy="329184"/>
          </a:xfrm>
          <a:prstGeom prst="rect">
            <a:avLst/>
          </a:prstGeom>
          <a:noFill/>
        </p:spPr>
        <p:txBody>
          <a:bodyPr wrap="square" lIns="45720" rIns="45720" tIns="18288" bIns="18288" anchor="ctr">
            <a:spAutoFit/>
          </a:bodyPr>
          <a:lstStyle/>
          <a:p>
            <a:pPr algn="ctr"/>
            <a:r>
              <a:rPr sz="900" b="1">
                <a:solidFill>
                  <a:srgbClr val="2E7D32"/>
                </a:solidFill>
                <a:latin typeface="Calibri"/>
              </a:rPr>
              <a:t>+1.1%</a:t>
            </a:r>
          </a:p>
        </p:txBody>
      </p:sp>
      <p:sp>
        <p:nvSpPr>
          <p:cNvPr id="93" name="TextBox 92"/>
          <p:cNvSpPr txBox="1"/>
          <p:nvPr/>
        </p:nvSpPr>
        <p:spPr>
          <a:xfrm>
            <a:off x="10812895" y="3447288"/>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70</a:t>
            </a:r>
          </a:p>
        </p:txBody>
      </p:sp>
      <p:sp>
        <p:nvSpPr>
          <p:cNvPr id="94" name="Rectangle 93"/>
          <p:cNvSpPr/>
          <p:nvPr/>
        </p:nvSpPr>
        <p:spPr>
          <a:xfrm>
            <a:off x="548640" y="3794760"/>
            <a:ext cx="11094415" cy="329184"/>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48640" y="3794760"/>
            <a:ext cx="36576" cy="329184"/>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94360" y="3794760"/>
            <a:ext cx="1601918" cy="329184"/>
          </a:xfrm>
          <a:prstGeom prst="rect">
            <a:avLst/>
          </a:prstGeom>
          <a:noFill/>
        </p:spPr>
        <p:txBody>
          <a:bodyPr wrap="square" lIns="45720" rIns="45720" tIns="18288" bIns="18288" anchor="ctr">
            <a:spAutoFit/>
          </a:bodyPr>
          <a:lstStyle/>
          <a:p>
            <a:pPr algn="l"/>
            <a:r>
              <a:rPr sz="900" b="0">
                <a:solidFill>
                  <a:srgbClr val="333333"/>
                </a:solidFill>
                <a:latin typeface="Calibri"/>
              </a:rPr>
              <a:t>3022-FF8500</a:t>
            </a:r>
          </a:p>
        </p:txBody>
      </p:sp>
      <p:sp>
        <p:nvSpPr>
          <p:cNvPr id="97" name="TextBox 96"/>
          <p:cNvSpPr txBox="1"/>
          <p:nvPr/>
        </p:nvSpPr>
        <p:spPr>
          <a:xfrm>
            <a:off x="2287718" y="3794760"/>
            <a:ext cx="1193176" cy="329184"/>
          </a:xfrm>
          <a:prstGeom prst="rect">
            <a:avLst/>
          </a:prstGeom>
          <a:noFill/>
        </p:spPr>
        <p:txBody>
          <a:bodyPr wrap="square" lIns="45720" rIns="45720" tIns="18288" bIns="18288" anchor="ctr">
            <a:spAutoFit/>
          </a:bodyPr>
          <a:lstStyle/>
          <a:p>
            <a:pPr algn="l"/>
            <a:r>
              <a:rPr sz="900" b="0">
                <a:solidFill>
                  <a:srgbClr val="333333"/>
                </a:solidFill>
                <a:latin typeface="Calibri"/>
              </a:rPr>
              <a:t>Vibrant Life</a:t>
            </a:r>
          </a:p>
        </p:txBody>
      </p:sp>
      <p:sp>
        <p:nvSpPr>
          <p:cNvPr id="98" name="TextBox 97"/>
          <p:cNvSpPr txBox="1"/>
          <p:nvPr/>
        </p:nvSpPr>
        <p:spPr>
          <a:xfrm>
            <a:off x="3572334" y="3794760"/>
            <a:ext cx="1543526" cy="329184"/>
          </a:xfrm>
          <a:prstGeom prst="rect">
            <a:avLst/>
          </a:prstGeom>
          <a:noFill/>
        </p:spPr>
        <p:txBody>
          <a:bodyPr wrap="square" lIns="45720" rIns="45720" tIns="18288" bIns="18288" anchor="ctr">
            <a:spAutoFit/>
          </a:bodyPr>
          <a:lstStyle/>
          <a:p>
            <a:pPr algn="l"/>
            <a:r>
              <a:rPr sz="900" b="0">
                <a:solidFill>
                  <a:srgbClr val="333333"/>
                </a:solidFill>
                <a:latin typeface="Calibri"/>
              </a:rPr>
              <a:t>PETBARN</a:t>
            </a:r>
          </a:p>
        </p:txBody>
      </p:sp>
      <p:sp>
        <p:nvSpPr>
          <p:cNvPr id="99" name="TextBox 98"/>
          <p:cNvSpPr txBox="1"/>
          <p:nvPr/>
        </p:nvSpPr>
        <p:spPr>
          <a:xfrm>
            <a:off x="5207300" y="3794760"/>
            <a:ext cx="842826" cy="329184"/>
          </a:xfrm>
          <a:prstGeom prst="rect">
            <a:avLst/>
          </a:prstGeom>
          <a:noFill/>
        </p:spPr>
        <p:txBody>
          <a:bodyPr wrap="square" lIns="45720" rIns="45720" tIns="18288" bIns="18288" anchor="ctr">
            <a:spAutoFit/>
          </a:bodyPr>
          <a:lstStyle/>
          <a:p>
            <a:pPr algn="l"/>
            <a:r>
              <a:rPr sz="900" b="0">
                <a:solidFill>
                  <a:srgbClr val="333333"/>
                </a:solidFill>
                <a:latin typeface="Calibri"/>
              </a:rPr>
              <a:t>FF8500</a:t>
            </a:r>
          </a:p>
        </p:txBody>
      </p:sp>
      <p:sp>
        <p:nvSpPr>
          <p:cNvPr id="100" name="Rectangle 99"/>
          <p:cNvSpPr/>
          <p:nvPr/>
        </p:nvSpPr>
        <p:spPr>
          <a:xfrm>
            <a:off x="6187286" y="3858768"/>
            <a:ext cx="459428" cy="201168"/>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095846" y="3794760"/>
            <a:ext cx="642308" cy="329184"/>
          </a:xfrm>
          <a:prstGeom prst="rect">
            <a:avLst/>
          </a:prstGeom>
          <a:noFill/>
        </p:spPr>
        <p:txBody>
          <a:bodyPr wrap="square" lIns="45720" rIns="45720" tIns="18288" bIns="18288" anchor="ctr">
            <a:spAutoFit/>
          </a:bodyPr>
          <a:lstStyle/>
          <a:p>
            <a:pPr algn="ctr"/>
            <a:r>
              <a:rPr sz="800" b="1">
                <a:solidFill>
                  <a:srgbClr val="FFFFFF"/>
                </a:solidFill>
                <a:latin typeface="Calibri"/>
              </a:rPr>
              <a:t>MED</a:t>
            </a:r>
          </a:p>
        </p:txBody>
      </p:sp>
      <p:sp>
        <p:nvSpPr>
          <p:cNvPr id="102" name="TextBox 101"/>
          <p:cNvSpPr txBox="1"/>
          <p:nvPr/>
        </p:nvSpPr>
        <p:spPr>
          <a:xfrm>
            <a:off x="6783874" y="3794760"/>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5,500</a:t>
            </a:r>
          </a:p>
        </p:txBody>
      </p:sp>
      <p:sp>
        <p:nvSpPr>
          <p:cNvPr id="103" name="TextBox 102"/>
          <p:cNvSpPr txBox="1"/>
          <p:nvPr/>
        </p:nvSpPr>
        <p:spPr>
          <a:xfrm>
            <a:off x="7659748" y="3794760"/>
            <a:ext cx="784434" cy="329184"/>
          </a:xfrm>
          <a:prstGeom prst="rect">
            <a:avLst/>
          </a:prstGeom>
          <a:noFill/>
        </p:spPr>
        <p:txBody>
          <a:bodyPr wrap="square" lIns="45720" rIns="45720" tIns="18288" bIns="18288" anchor="ctr">
            <a:spAutoFit/>
          </a:bodyPr>
          <a:lstStyle/>
          <a:p>
            <a:pPr algn="r"/>
            <a:r>
              <a:rPr sz="900" b="1">
                <a:solidFill>
                  <a:srgbClr val="1F3A5F"/>
                </a:solidFill>
                <a:latin typeface="Calibri"/>
              </a:rPr>
              <a:t>4,200</a:t>
            </a:r>
          </a:p>
        </p:txBody>
      </p:sp>
      <p:sp>
        <p:nvSpPr>
          <p:cNvPr id="104" name="TextBox 103"/>
          <p:cNvSpPr txBox="1"/>
          <p:nvPr/>
        </p:nvSpPr>
        <p:spPr>
          <a:xfrm>
            <a:off x="8535622" y="3794760"/>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5,100</a:t>
            </a:r>
          </a:p>
        </p:txBody>
      </p:sp>
      <p:sp>
        <p:nvSpPr>
          <p:cNvPr id="105" name="TextBox 104"/>
          <p:cNvSpPr txBox="1"/>
          <p:nvPr/>
        </p:nvSpPr>
        <p:spPr>
          <a:xfrm>
            <a:off x="9365776" y="3794760"/>
            <a:ext cx="1401399" cy="329184"/>
          </a:xfrm>
          <a:prstGeom prst="rect">
            <a:avLst/>
          </a:prstGeom>
          <a:noFill/>
        </p:spPr>
        <p:txBody>
          <a:bodyPr wrap="square" lIns="45720" rIns="45720" tIns="18288" bIns="18288" anchor="ctr">
            <a:spAutoFit/>
          </a:bodyPr>
          <a:lstStyle/>
          <a:p>
            <a:pPr algn="ctr"/>
            <a:r>
              <a:rPr sz="900" b="1">
                <a:solidFill>
                  <a:srgbClr val="C62828"/>
                </a:solidFill>
                <a:latin typeface="Calibri"/>
              </a:rPr>
              <a:t>−23.6%</a:t>
            </a:r>
          </a:p>
        </p:txBody>
      </p:sp>
      <p:sp>
        <p:nvSpPr>
          <p:cNvPr id="106" name="TextBox 105"/>
          <p:cNvSpPr txBox="1"/>
          <p:nvPr/>
        </p:nvSpPr>
        <p:spPr>
          <a:xfrm>
            <a:off x="10812895" y="3794760"/>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162</a:t>
            </a:r>
          </a:p>
        </p:txBody>
      </p:sp>
      <p:sp>
        <p:nvSpPr>
          <p:cNvPr id="107" name="Rectangle 106"/>
          <p:cNvSpPr/>
          <p:nvPr/>
        </p:nvSpPr>
        <p:spPr>
          <a:xfrm>
            <a:off x="548640" y="4142232"/>
            <a:ext cx="11094415" cy="329184"/>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548640" y="4142232"/>
            <a:ext cx="36576" cy="329184"/>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94360" y="4142232"/>
            <a:ext cx="1601918" cy="329184"/>
          </a:xfrm>
          <a:prstGeom prst="rect">
            <a:avLst/>
          </a:prstGeom>
          <a:noFill/>
        </p:spPr>
        <p:txBody>
          <a:bodyPr wrap="square" lIns="45720" rIns="45720" tIns="18288" bIns="18288" anchor="ctr">
            <a:spAutoFit/>
          </a:bodyPr>
          <a:lstStyle/>
          <a:p>
            <a:pPr algn="l"/>
            <a:r>
              <a:rPr sz="900" b="0">
                <a:solidFill>
                  <a:srgbClr val="333333"/>
                </a:solidFill>
                <a:latin typeface="Calibri"/>
              </a:rPr>
              <a:t>1864-FF8654PM</a:t>
            </a:r>
          </a:p>
        </p:txBody>
      </p:sp>
      <p:sp>
        <p:nvSpPr>
          <p:cNvPr id="110" name="TextBox 109"/>
          <p:cNvSpPr txBox="1"/>
          <p:nvPr/>
        </p:nvSpPr>
        <p:spPr>
          <a:xfrm>
            <a:off x="2287718" y="4142232"/>
            <a:ext cx="1193176" cy="329184"/>
          </a:xfrm>
          <a:prstGeom prst="rect">
            <a:avLst/>
          </a:prstGeom>
          <a:noFill/>
        </p:spPr>
        <p:txBody>
          <a:bodyPr wrap="square" lIns="45720" rIns="45720" tIns="18288" bIns="18288" anchor="ctr">
            <a:spAutoFit/>
          </a:bodyPr>
          <a:lstStyle/>
          <a:p>
            <a:pPr algn="l"/>
            <a:r>
              <a:rPr sz="900" b="0">
                <a:solidFill>
                  <a:srgbClr val="333333"/>
                </a:solidFill>
                <a:latin typeface="Calibri"/>
              </a:rPr>
              <a:t>Glad for Pets</a:t>
            </a:r>
          </a:p>
        </p:txBody>
      </p:sp>
      <p:sp>
        <p:nvSpPr>
          <p:cNvPr id="111" name="TextBox 110"/>
          <p:cNvSpPr txBox="1"/>
          <p:nvPr/>
        </p:nvSpPr>
        <p:spPr>
          <a:xfrm>
            <a:off x="3572334" y="4142232"/>
            <a:ext cx="1543526" cy="329184"/>
          </a:xfrm>
          <a:prstGeom prst="rect">
            <a:avLst/>
          </a:prstGeom>
          <a:noFill/>
        </p:spPr>
        <p:txBody>
          <a:bodyPr wrap="square" lIns="45720" rIns="45720" tIns="18288" bIns="18288" anchor="ctr">
            <a:spAutoFit/>
          </a:bodyPr>
          <a:lstStyle/>
          <a:p>
            <a:pPr algn="l"/>
            <a:r>
              <a:rPr sz="900" b="0">
                <a:solidFill>
                  <a:srgbClr val="333333"/>
                </a:solidFill>
                <a:latin typeface="Calibri"/>
              </a:rPr>
              <a:t>AMAZON</a:t>
            </a:r>
          </a:p>
        </p:txBody>
      </p:sp>
      <p:sp>
        <p:nvSpPr>
          <p:cNvPr id="112" name="TextBox 111"/>
          <p:cNvSpPr txBox="1"/>
          <p:nvPr/>
        </p:nvSpPr>
        <p:spPr>
          <a:xfrm>
            <a:off x="5207300" y="4142232"/>
            <a:ext cx="842826" cy="329184"/>
          </a:xfrm>
          <a:prstGeom prst="rect">
            <a:avLst/>
          </a:prstGeom>
          <a:noFill/>
        </p:spPr>
        <p:txBody>
          <a:bodyPr wrap="square" lIns="45720" rIns="45720" tIns="18288" bIns="18288" anchor="ctr">
            <a:spAutoFit/>
          </a:bodyPr>
          <a:lstStyle/>
          <a:p>
            <a:pPr algn="l"/>
            <a:r>
              <a:rPr sz="900" b="0">
                <a:solidFill>
                  <a:srgbClr val="333333"/>
                </a:solidFill>
                <a:latin typeface="Calibri"/>
              </a:rPr>
              <a:t>FF8654</a:t>
            </a:r>
          </a:p>
        </p:txBody>
      </p:sp>
      <p:sp>
        <p:nvSpPr>
          <p:cNvPr id="113" name="Rectangle 112"/>
          <p:cNvSpPr/>
          <p:nvPr/>
        </p:nvSpPr>
        <p:spPr>
          <a:xfrm>
            <a:off x="6187286" y="4206240"/>
            <a:ext cx="459428" cy="2011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095846" y="4142232"/>
            <a:ext cx="642308" cy="329184"/>
          </a:xfrm>
          <a:prstGeom prst="rect">
            <a:avLst/>
          </a:prstGeom>
          <a:noFill/>
        </p:spPr>
        <p:txBody>
          <a:bodyPr wrap="square" lIns="45720" rIns="45720" tIns="18288" bIns="18288" anchor="ctr">
            <a:spAutoFit/>
          </a:bodyPr>
          <a:lstStyle/>
          <a:p>
            <a:pPr algn="ctr"/>
            <a:r>
              <a:rPr sz="800" b="1">
                <a:solidFill>
                  <a:srgbClr val="FFFFFF"/>
                </a:solidFill>
                <a:latin typeface="Calibri"/>
              </a:rPr>
              <a:t>LOW</a:t>
            </a:r>
          </a:p>
        </p:txBody>
      </p:sp>
      <p:sp>
        <p:nvSpPr>
          <p:cNvPr id="115" name="TextBox 114"/>
          <p:cNvSpPr txBox="1"/>
          <p:nvPr/>
        </p:nvSpPr>
        <p:spPr>
          <a:xfrm>
            <a:off x="6783874" y="4142232"/>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0</a:t>
            </a:r>
          </a:p>
        </p:txBody>
      </p:sp>
      <p:sp>
        <p:nvSpPr>
          <p:cNvPr id="116" name="TextBox 115"/>
          <p:cNvSpPr txBox="1"/>
          <p:nvPr/>
        </p:nvSpPr>
        <p:spPr>
          <a:xfrm>
            <a:off x="7659748" y="4142232"/>
            <a:ext cx="784434" cy="329184"/>
          </a:xfrm>
          <a:prstGeom prst="rect">
            <a:avLst/>
          </a:prstGeom>
          <a:noFill/>
        </p:spPr>
        <p:txBody>
          <a:bodyPr wrap="square" lIns="45720" rIns="45720" tIns="18288" bIns="18288" anchor="ctr">
            <a:spAutoFit/>
          </a:bodyPr>
          <a:lstStyle/>
          <a:p>
            <a:pPr algn="r"/>
            <a:r>
              <a:rPr sz="900" b="1">
                <a:solidFill>
                  <a:srgbClr val="1F3A5F"/>
                </a:solidFill>
                <a:latin typeface="Calibri"/>
              </a:rPr>
              <a:t>0</a:t>
            </a:r>
          </a:p>
        </p:txBody>
      </p:sp>
      <p:sp>
        <p:nvSpPr>
          <p:cNvPr id="117" name="TextBox 116"/>
          <p:cNvSpPr txBox="1"/>
          <p:nvPr/>
        </p:nvSpPr>
        <p:spPr>
          <a:xfrm>
            <a:off x="8535622" y="4142232"/>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0</a:t>
            </a:r>
          </a:p>
        </p:txBody>
      </p:sp>
      <p:sp>
        <p:nvSpPr>
          <p:cNvPr id="118" name="TextBox 117"/>
          <p:cNvSpPr txBox="1"/>
          <p:nvPr/>
        </p:nvSpPr>
        <p:spPr>
          <a:xfrm>
            <a:off x="9365776" y="4142232"/>
            <a:ext cx="1401399" cy="329184"/>
          </a:xfrm>
          <a:prstGeom prst="rect">
            <a:avLst/>
          </a:prstGeom>
          <a:noFill/>
        </p:spPr>
        <p:txBody>
          <a:bodyPr wrap="square" lIns="45720" rIns="45720" tIns="18288" bIns="18288" anchor="ctr">
            <a:spAutoFit/>
          </a:bodyPr>
          <a:lstStyle/>
          <a:p>
            <a:pPr algn="ctr"/>
            <a:r>
              <a:rPr sz="900" b="1">
                <a:solidFill>
                  <a:srgbClr val="333333"/>
                </a:solidFill>
                <a:latin typeface="Calibri"/>
              </a:rPr>
              <a:t>0%</a:t>
            </a:r>
          </a:p>
        </p:txBody>
      </p:sp>
      <p:sp>
        <p:nvSpPr>
          <p:cNvPr id="119" name="TextBox 118"/>
          <p:cNvSpPr txBox="1"/>
          <p:nvPr/>
        </p:nvSpPr>
        <p:spPr>
          <a:xfrm>
            <a:off x="10812895" y="4142232"/>
            <a:ext cx="784434" cy="329184"/>
          </a:xfrm>
          <a:prstGeom prst="rect">
            <a:avLst/>
          </a:prstGeom>
          <a:noFill/>
        </p:spPr>
        <p:txBody>
          <a:bodyPr wrap="square" lIns="45720" rIns="45720" tIns="18288" bIns="18288" anchor="ctr">
            <a:spAutoFit/>
          </a:bodyPr>
          <a:lstStyle/>
          <a:p>
            <a:pPr algn="r"/>
            <a:r>
              <a:rPr sz="900" b="0">
                <a:solidFill>
                  <a:srgbClr val="333333"/>
                </a:solidFill>
                <a:latin typeface="Calibri"/>
              </a:rPr>
              <a:t>0</a:t>
            </a:r>
          </a:p>
        </p:txBody>
      </p:sp>
      <p:sp>
        <p:nvSpPr>
          <p:cNvPr id="120" name="Rectangle 119"/>
          <p:cNvSpPr/>
          <p:nvPr/>
        </p:nvSpPr>
        <p:spPr>
          <a:xfrm>
            <a:off x="457200" y="6217920"/>
            <a:ext cx="164592" cy="16459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85800" y="6172200"/>
            <a:ext cx="2743200" cy="274320"/>
          </a:xfrm>
          <a:prstGeom prst="rect">
            <a:avLst/>
          </a:prstGeom>
          <a:noFill/>
        </p:spPr>
        <p:txBody>
          <a:bodyPr wrap="square" lIns="45720" rIns="45720" tIns="18288" bIns="18288" anchor="ctr">
            <a:spAutoFit/>
          </a:bodyPr>
          <a:lstStyle/>
          <a:p>
            <a:pPr algn="l"/>
            <a:r>
              <a:rPr sz="900" b="0">
                <a:solidFill>
                  <a:srgbClr val="333333"/>
                </a:solidFill>
                <a:latin typeface="Calibri"/>
              </a:rPr>
              <a:t>CRITICAL — variance &gt;5x or alert fired</a:t>
            </a:r>
          </a:p>
        </p:txBody>
      </p:sp>
      <p:sp>
        <p:nvSpPr>
          <p:cNvPr id="122" name="Rectangle 121"/>
          <p:cNvSpPr/>
          <p:nvPr/>
        </p:nvSpPr>
        <p:spPr>
          <a:xfrm>
            <a:off x="3383280" y="6217920"/>
            <a:ext cx="164592" cy="164592"/>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611880" y="6172200"/>
            <a:ext cx="2743200" cy="274320"/>
          </a:xfrm>
          <a:prstGeom prst="rect">
            <a:avLst/>
          </a:prstGeom>
          <a:noFill/>
        </p:spPr>
        <p:txBody>
          <a:bodyPr wrap="square" lIns="45720" rIns="45720" tIns="18288" bIns="18288" anchor="ctr">
            <a:spAutoFit/>
          </a:bodyPr>
          <a:lstStyle/>
          <a:p>
            <a:pPr algn="l"/>
            <a:r>
              <a:rPr sz="900" b="0">
                <a:solidFill>
                  <a:srgbClr val="333333"/>
                </a:solidFill>
                <a:latin typeface="Calibri"/>
              </a:rPr>
              <a:t>WARNING — variance 2x-5x</a:t>
            </a:r>
          </a:p>
        </p:txBody>
      </p:sp>
      <p:sp>
        <p:nvSpPr>
          <p:cNvPr id="124" name="Rectangle 123"/>
          <p:cNvSpPr/>
          <p:nvPr/>
        </p:nvSpPr>
        <p:spPr>
          <a:xfrm>
            <a:off x="6309360" y="6217920"/>
            <a:ext cx="164592" cy="16459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537960" y="6172200"/>
            <a:ext cx="2743200" cy="274320"/>
          </a:xfrm>
          <a:prstGeom prst="rect">
            <a:avLst/>
          </a:prstGeom>
          <a:noFill/>
        </p:spPr>
        <p:txBody>
          <a:bodyPr wrap="square" lIns="45720" rIns="45720" tIns="18288" bIns="18288" anchor="ctr">
            <a:spAutoFit/>
          </a:bodyPr>
          <a:lstStyle/>
          <a:p>
            <a:pPr algn="l"/>
            <a:r>
              <a:rPr sz="900" b="0">
                <a:solidFill>
                  <a:srgbClr val="333333"/>
                </a:solidFill>
                <a:latin typeface="Calibri"/>
              </a:rPr>
              <a:t>LOW — within band</a:t>
            </a:r>
          </a:p>
        </p:txBody>
      </p:sp>
      <p:sp>
        <p:nvSpPr>
          <p:cNvPr id="126" name="Rectangle 125"/>
          <p:cNvSpPr/>
          <p:nvPr/>
        </p:nvSpPr>
        <p:spPr>
          <a:xfrm>
            <a:off x="9235440" y="6217920"/>
            <a:ext cx="164592" cy="16459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464040" y="6172200"/>
            <a:ext cx="2743200" cy="274320"/>
          </a:xfrm>
          <a:prstGeom prst="rect">
            <a:avLst/>
          </a:prstGeom>
          <a:noFill/>
        </p:spPr>
        <p:txBody>
          <a:bodyPr wrap="square" lIns="45720" rIns="45720" tIns="18288" bIns="18288" anchor="ctr">
            <a:spAutoFit/>
          </a:bodyPr>
          <a:lstStyle/>
          <a:p>
            <a:pPr algn="l"/>
            <a:r>
              <a:rPr sz="900" b="0">
                <a:solidFill>
                  <a:srgbClr val="333333"/>
                </a:solidFill>
                <a:latin typeface="Calibri"/>
              </a:rPr>
              <a:t>Pink wash — flagged for follow-up</a:t>
            </a:r>
          </a:p>
        </p:txBody>
      </p:sp>
      <p:sp>
        <p:nvSpPr>
          <p:cNvPr id="128" name="TextBox 127"/>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36 / 39</a:t>
            </a:r>
          </a:p>
        </p:txBody>
      </p:sp>
      <p:sp>
        <p:nvSpPr>
          <p:cNvPr id="129" name="TextBox 128"/>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Viewer enhancements — what's new in the QB code page</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Quality-of-life upgrades aimed at planner triage speed</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00584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005840"/>
            <a:ext cx="1828800" cy="118872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05840"/>
            <a:ext cx="1828800" cy="1188720"/>
          </a:xfrm>
          <a:prstGeom prst="rect">
            <a:avLst/>
          </a:prstGeom>
          <a:noFill/>
        </p:spPr>
        <p:txBody>
          <a:bodyPr wrap="square" lIns="45720" rIns="45720" tIns="18288" bIns="18288" anchor="ctr">
            <a:spAutoFit/>
          </a:bodyPr>
          <a:lstStyle/>
          <a:p>
            <a:pPr algn="ctr"/>
            <a:r>
              <a:rPr sz="1400" b="1">
                <a:solidFill>
                  <a:srgbClr val="FFFFFF"/>
                </a:solidFill>
                <a:latin typeface="Calibri"/>
              </a:rPr>
              <a:t>L4W column</a:t>
            </a:r>
          </a:p>
        </p:txBody>
      </p:sp>
      <p:sp>
        <p:nvSpPr>
          <p:cNvPr id="9" name="TextBox 8"/>
          <p:cNvSpPr txBox="1"/>
          <p:nvPr/>
        </p:nvSpPr>
        <p:spPr>
          <a:xfrm>
            <a:off x="2834640" y="1097280"/>
            <a:ext cx="8503920" cy="292608"/>
          </a:xfrm>
          <a:prstGeom prst="rect">
            <a:avLst/>
          </a:prstGeom>
          <a:noFill/>
        </p:spPr>
        <p:txBody>
          <a:bodyPr wrap="square" lIns="45720" rIns="45720" tIns="18288" bIns="18288" anchor="t">
            <a:spAutoFit/>
          </a:bodyPr>
          <a:lstStyle/>
          <a:p>
            <a:pPr algn="l"/>
            <a:r>
              <a:rPr sz="1200" b="1">
                <a:solidFill>
                  <a:srgbClr val="1F3A5F"/>
                </a:solidFill>
                <a:latin typeface="Calibri"/>
              </a:rPr>
              <a:t>New "Ord/Wk L4W" column</a:t>
            </a:r>
          </a:p>
        </p:txBody>
      </p:sp>
      <p:sp>
        <p:nvSpPr>
          <p:cNvPr id="10" name="TextBox 9"/>
          <p:cNvSpPr txBox="1"/>
          <p:nvPr/>
        </p:nvSpPr>
        <p:spPr>
          <a:xfrm>
            <a:off x="2834640" y="1417320"/>
            <a:ext cx="8503920" cy="685800"/>
          </a:xfrm>
          <a:prstGeom prst="rect">
            <a:avLst/>
          </a:prstGeom>
          <a:noFill/>
        </p:spPr>
        <p:txBody>
          <a:bodyPr wrap="square" lIns="45720" rIns="45720" tIns="18288" bIns="18288" anchor="t">
            <a:spAutoFit/>
          </a:bodyPr>
          <a:lstStyle/>
          <a:p>
            <a:pPr algn="l"/>
            <a:r>
              <a:rPr sz="1000" b="0">
                <a:solidFill>
                  <a:srgbClr val="333333"/>
                </a:solidFill>
                <a:latin typeface="Calibri"/>
              </a:rPr>
              <a:t>A 4-week order-rate column now sits immediately to the left of "Ord/Wk L13W". Planners can scan L4W vs L13W side-by-side to spot acceleration or deceleration without expanding the row. The L4W signal is what drives F6/F26/F27 baseline lifts and cuts — surfacing it on the summary row makes those rule firings self-explanatory.</a:t>
            </a:r>
          </a:p>
        </p:txBody>
      </p:sp>
      <p:sp>
        <p:nvSpPr>
          <p:cNvPr id="11" name="Rectangle 10"/>
          <p:cNvSpPr/>
          <p:nvPr/>
        </p:nvSpPr>
        <p:spPr>
          <a:xfrm>
            <a:off x="914400" y="233172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2331720"/>
            <a:ext cx="1828800" cy="11887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331720"/>
            <a:ext cx="1828800" cy="1188720"/>
          </a:xfrm>
          <a:prstGeom prst="rect">
            <a:avLst/>
          </a:prstGeom>
          <a:noFill/>
        </p:spPr>
        <p:txBody>
          <a:bodyPr wrap="square" lIns="45720" rIns="45720" tIns="18288" bIns="18288" anchor="ctr">
            <a:spAutoFit/>
          </a:bodyPr>
          <a:lstStyle/>
          <a:p>
            <a:pPr algn="ctr"/>
            <a:r>
              <a:rPr sz="1400" b="1">
                <a:solidFill>
                  <a:srgbClr val="FFFFFF"/>
                </a:solidFill>
                <a:latin typeface="Calibri"/>
              </a:rPr>
              <a:t>LY actuals rows</a:t>
            </a:r>
          </a:p>
        </p:txBody>
      </p:sp>
      <p:sp>
        <p:nvSpPr>
          <p:cNvPr id="14" name="TextBox 13"/>
          <p:cNvSpPr txBox="1"/>
          <p:nvPr/>
        </p:nvSpPr>
        <p:spPr>
          <a:xfrm>
            <a:off x="2834640" y="2423160"/>
            <a:ext cx="8503920" cy="292608"/>
          </a:xfrm>
          <a:prstGeom prst="rect">
            <a:avLst/>
          </a:prstGeom>
          <a:noFill/>
        </p:spPr>
        <p:txBody>
          <a:bodyPr wrap="square" lIns="45720" rIns="45720" tIns="18288" bIns="18288" anchor="t">
            <a:spAutoFit/>
          </a:bodyPr>
          <a:lstStyle/>
          <a:p>
            <a:pPr algn="l"/>
            <a:r>
              <a:rPr sz="1200" b="1">
                <a:solidFill>
                  <a:srgbClr val="1F3A5F"/>
                </a:solidFill>
                <a:latin typeface="Calibri"/>
              </a:rPr>
              <a:t>Ordered LY · Shipped LY rows in the detail pane</a:t>
            </a:r>
          </a:p>
        </p:txBody>
      </p:sp>
      <p:sp>
        <p:nvSpPr>
          <p:cNvPr id="15" name="TextBox 14"/>
          <p:cNvSpPr txBox="1"/>
          <p:nvPr/>
        </p:nvSpPr>
        <p:spPr>
          <a:xfrm>
            <a:off x="2834640" y="2743200"/>
            <a:ext cx="8503920" cy="685800"/>
          </a:xfrm>
          <a:prstGeom prst="rect">
            <a:avLst/>
          </a:prstGeom>
          <a:noFill/>
        </p:spPr>
        <p:txBody>
          <a:bodyPr wrap="square" lIns="45720" rIns="45720" tIns="18288" bIns="18288" anchor="t">
            <a:spAutoFit/>
          </a:bodyPr>
          <a:lstStyle/>
          <a:p>
            <a:pPr algn="l"/>
            <a:r>
              <a:rPr sz="1000" b="0">
                <a:solidFill>
                  <a:srgbClr val="333333"/>
                </a:solidFill>
                <a:latin typeface="Calibri"/>
              </a:rPr>
              <a:t>Open any row's 26-week side-by-side and you now see two extra rows below "Suggested": "Ordered LY" (green) and "Shipped LY" (blue), aligned to W1-W26 by pulling the values from 52 weeks before each forecast week (Ord_LW-26..LW-51 and Shp_LW-26..LW-51). Sanity-check seasonal lifts and event-week shapes against last-year reality without leaving the row. Coverage on May 7: 2,691 records have non-zero LY ord; 2,623 have non-zero LY shp.</a:t>
            </a:r>
          </a:p>
        </p:txBody>
      </p:sp>
      <p:sp>
        <p:nvSpPr>
          <p:cNvPr id="16" name="Rectangle 15"/>
          <p:cNvSpPr/>
          <p:nvPr/>
        </p:nvSpPr>
        <p:spPr>
          <a:xfrm>
            <a:off x="914400" y="3657600"/>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657600"/>
            <a:ext cx="1828800" cy="11887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657600"/>
            <a:ext cx="1828800" cy="1188720"/>
          </a:xfrm>
          <a:prstGeom prst="rect">
            <a:avLst/>
          </a:prstGeom>
          <a:noFill/>
        </p:spPr>
        <p:txBody>
          <a:bodyPr wrap="square" lIns="45720" rIns="45720" tIns="18288" bIns="18288" anchor="ctr">
            <a:spAutoFit/>
          </a:bodyPr>
          <a:lstStyle/>
          <a:p>
            <a:pPr algn="ctr"/>
            <a:r>
              <a:rPr sz="1400" b="1">
                <a:solidFill>
                  <a:srgbClr val="FFFFFF"/>
                </a:solidFill>
                <a:latin typeface="Calibri"/>
              </a:rPr>
              <a:t>Sticky column headers</a:t>
            </a:r>
          </a:p>
        </p:txBody>
      </p:sp>
      <p:sp>
        <p:nvSpPr>
          <p:cNvPr id="19" name="TextBox 18"/>
          <p:cNvSpPr txBox="1"/>
          <p:nvPr/>
        </p:nvSpPr>
        <p:spPr>
          <a:xfrm>
            <a:off x="2834640" y="3749040"/>
            <a:ext cx="8503920" cy="292608"/>
          </a:xfrm>
          <a:prstGeom prst="rect">
            <a:avLst/>
          </a:prstGeom>
          <a:noFill/>
        </p:spPr>
        <p:txBody>
          <a:bodyPr wrap="square" lIns="45720" rIns="45720" tIns="18288" bIns="18288" anchor="t">
            <a:spAutoFit/>
          </a:bodyPr>
          <a:lstStyle/>
          <a:p>
            <a:pPr algn="l"/>
            <a:r>
              <a:rPr sz="1200" b="1">
                <a:solidFill>
                  <a:srgbClr val="1F3A5F"/>
                </a:solidFill>
                <a:latin typeface="Calibri"/>
              </a:rPr>
              <a:t>Header row freezes during scroll</a:t>
            </a:r>
          </a:p>
        </p:txBody>
      </p:sp>
      <p:sp>
        <p:nvSpPr>
          <p:cNvPr id="20" name="TextBox 19"/>
          <p:cNvSpPr txBox="1"/>
          <p:nvPr/>
        </p:nvSpPr>
        <p:spPr>
          <a:xfrm>
            <a:off x="2834640" y="4069080"/>
            <a:ext cx="8503920" cy="685800"/>
          </a:xfrm>
          <a:prstGeom prst="rect">
            <a:avLst/>
          </a:prstGeom>
          <a:noFill/>
        </p:spPr>
        <p:txBody>
          <a:bodyPr wrap="square" lIns="45720" rIns="45720" tIns="18288" bIns="18288" anchor="t">
            <a:spAutoFit/>
          </a:bodyPr>
          <a:lstStyle/>
          <a:p>
            <a:pPr algn="l"/>
            <a:r>
              <a:rPr sz="1000" b="0">
                <a:solidFill>
                  <a:srgbClr val="333333"/>
                </a:solidFill>
                <a:latin typeface="Calibri"/>
              </a:rPr>
              <a:t>On long lists, the column headers (Manual / AI / Suggested / variance / L13 / L4W / etc.) now stay pinned at the top of the table while you scroll. CSS fix: border-collapse:separate + box-shadow replaces border-bottom so the sticky position holds. No more lost context after the first 20 rows.</a:t>
            </a:r>
          </a:p>
        </p:txBody>
      </p:sp>
      <p:sp>
        <p:nvSpPr>
          <p:cNvPr id="21" name="Rectangle 20"/>
          <p:cNvSpPr/>
          <p:nvPr/>
        </p:nvSpPr>
        <p:spPr>
          <a:xfrm>
            <a:off x="914400" y="4983479"/>
            <a:ext cx="10515600" cy="1188720"/>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983479"/>
            <a:ext cx="1828800" cy="1188720"/>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983479"/>
            <a:ext cx="1828800" cy="1188720"/>
          </a:xfrm>
          <a:prstGeom prst="rect">
            <a:avLst/>
          </a:prstGeom>
          <a:noFill/>
        </p:spPr>
        <p:txBody>
          <a:bodyPr wrap="square" lIns="45720" rIns="45720" tIns="18288" bIns="18288" anchor="ctr">
            <a:spAutoFit/>
          </a:bodyPr>
          <a:lstStyle/>
          <a:p>
            <a:pPr algn="ctr"/>
            <a:r>
              <a:rPr sz="1400" b="1">
                <a:solidFill>
                  <a:srgbClr val="FFFFFF"/>
                </a:solidFill>
                <a:latin typeface="Calibri"/>
              </a:rPr>
              <a:t>Wider CSV exports</a:t>
            </a:r>
          </a:p>
        </p:txBody>
      </p:sp>
      <p:sp>
        <p:nvSpPr>
          <p:cNvPr id="24" name="TextBox 23"/>
          <p:cNvSpPr txBox="1"/>
          <p:nvPr/>
        </p:nvSpPr>
        <p:spPr>
          <a:xfrm>
            <a:off x="2834640" y="5074919"/>
            <a:ext cx="8503920" cy="292608"/>
          </a:xfrm>
          <a:prstGeom prst="rect">
            <a:avLst/>
          </a:prstGeom>
          <a:noFill/>
        </p:spPr>
        <p:txBody>
          <a:bodyPr wrap="square" lIns="45720" rIns="45720" tIns="18288" bIns="18288" anchor="t">
            <a:spAutoFit/>
          </a:bodyPr>
          <a:lstStyle/>
          <a:p>
            <a:pPr algn="l"/>
            <a:r>
              <a:rPr sz="1200" b="1">
                <a:solidFill>
                  <a:srgbClr val="1F3A5F"/>
                </a:solidFill>
                <a:latin typeface="Calibri"/>
              </a:rPr>
              <a:t>Both export buttons now produce 160-column files</a:t>
            </a:r>
          </a:p>
        </p:txBody>
      </p:sp>
      <p:sp>
        <p:nvSpPr>
          <p:cNvPr id="25" name="TextBox 24"/>
          <p:cNvSpPr txBox="1"/>
          <p:nvPr/>
        </p:nvSpPr>
        <p:spPr>
          <a:xfrm>
            <a:off x="2834640" y="5394959"/>
            <a:ext cx="8503920" cy="685800"/>
          </a:xfrm>
          <a:prstGeom prst="rect">
            <a:avLst/>
          </a:prstGeom>
          <a:noFill/>
        </p:spPr>
        <p:txBody>
          <a:bodyPr wrap="square" lIns="45720" rIns="45720" tIns="18288" bIns="18288" anchor="t">
            <a:spAutoFit/>
          </a:bodyPr>
          <a:lstStyle/>
          <a:p>
            <a:pPr algn="l"/>
            <a:r>
              <a:rPr sz="1000" b="0">
                <a:solidFill>
                  <a:srgbClr val="333333"/>
                </a:solidFill>
                <a:latin typeface="Calibri"/>
              </a:rPr>
              <a:t>"Export All In View" and "Export Flagged" both produce 160-column wide CSVs: 28 summary columns + 5 series × 26 weeks (Manual / AI / Suggested / Ordered LY / Shipped LY). Reviewers get the full week-level picture for offline analysis, audit trails, or side-by-side compares in Excel.</a:t>
            </a:r>
          </a:p>
        </p:txBody>
      </p:sp>
      <p:sp>
        <p:nvSpPr>
          <p:cNvPr id="26" name="TextBox 25"/>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37 / 39</a:t>
            </a:r>
          </a:p>
        </p:txBody>
      </p:sp>
      <p:sp>
        <p:nvSpPr>
          <p:cNvPr id="27" name="TextBox 26"/>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Latest run results — May 7, 2026</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Full --all forecast against live Quickbase data</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3749039"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51560"/>
            <a:ext cx="3749039" cy="502920"/>
          </a:xfrm>
          <a:prstGeom prst="rect">
            <a:avLst/>
          </a:prstGeom>
          <a:noFill/>
        </p:spPr>
        <p:txBody>
          <a:bodyPr wrap="square" lIns="45720" rIns="45720" tIns="18288" bIns="18288" anchor="ctr">
            <a:spAutoFit/>
          </a:bodyPr>
          <a:lstStyle/>
          <a:p>
            <a:pPr algn="ctr"/>
            <a:r>
              <a:rPr sz="2200" b="1">
                <a:solidFill>
                  <a:srgbClr val="FFFFFF"/>
                </a:solidFill>
                <a:latin typeface="Calibri"/>
              </a:rPr>
              <a:t>4,194</a:t>
            </a:r>
          </a:p>
        </p:txBody>
      </p:sp>
      <p:sp>
        <p:nvSpPr>
          <p:cNvPr id="8" name="TextBox 7"/>
          <p:cNvSpPr txBox="1"/>
          <p:nvPr/>
        </p:nvSpPr>
        <p:spPr>
          <a:xfrm>
            <a:off x="457200" y="1554480"/>
            <a:ext cx="3749039" cy="411480"/>
          </a:xfrm>
          <a:prstGeom prst="rect">
            <a:avLst/>
          </a:prstGeom>
          <a:noFill/>
        </p:spPr>
        <p:txBody>
          <a:bodyPr wrap="square" lIns="45720" rIns="45720" tIns="18288" bIns="18288" anchor="ctr">
            <a:spAutoFit/>
          </a:bodyPr>
          <a:lstStyle/>
          <a:p>
            <a:pPr algn="ctr"/>
            <a:r>
              <a:rPr sz="1100" b="0">
                <a:solidFill>
                  <a:srgbClr val="FFFFFF"/>
                </a:solidFill>
                <a:latin typeface="Calibri"/>
              </a:rPr>
              <a:t>Active records processed</a:t>
            </a:r>
          </a:p>
        </p:txBody>
      </p:sp>
      <p:sp>
        <p:nvSpPr>
          <p:cNvPr id="9" name="Rectangle 8"/>
          <p:cNvSpPr/>
          <p:nvPr/>
        </p:nvSpPr>
        <p:spPr>
          <a:xfrm>
            <a:off x="4297680" y="1005840"/>
            <a:ext cx="3749039" cy="100584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051560"/>
            <a:ext cx="3749039" cy="502920"/>
          </a:xfrm>
          <a:prstGeom prst="rect">
            <a:avLst/>
          </a:prstGeom>
          <a:noFill/>
        </p:spPr>
        <p:txBody>
          <a:bodyPr wrap="square" lIns="45720" rIns="45720" tIns="18288" bIns="18288" anchor="ctr">
            <a:spAutoFit/>
          </a:bodyPr>
          <a:lstStyle/>
          <a:p>
            <a:pPr algn="ctr"/>
            <a:r>
              <a:rPr sz="2200" b="1">
                <a:solidFill>
                  <a:srgbClr val="FFFFFF"/>
                </a:solidFill>
                <a:latin typeface="Calibri"/>
              </a:rPr>
              <a:t>3,526</a:t>
            </a:r>
          </a:p>
        </p:txBody>
      </p:sp>
      <p:sp>
        <p:nvSpPr>
          <p:cNvPr id="11" name="TextBox 10"/>
          <p:cNvSpPr txBox="1"/>
          <p:nvPr/>
        </p:nvSpPr>
        <p:spPr>
          <a:xfrm>
            <a:off x="4297680" y="1554480"/>
            <a:ext cx="3749039" cy="411480"/>
          </a:xfrm>
          <a:prstGeom prst="rect">
            <a:avLst/>
          </a:prstGeom>
          <a:noFill/>
        </p:spPr>
        <p:txBody>
          <a:bodyPr wrap="square" lIns="45720" rIns="45720" tIns="18288" bIns="18288" anchor="ctr">
            <a:spAutoFit/>
          </a:bodyPr>
          <a:lstStyle/>
          <a:p>
            <a:pPr algn="ctr"/>
            <a:r>
              <a:rPr sz="1100" b="0">
                <a:solidFill>
                  <a:srgbClr val="FFFFFF"/>
                </a:solidFill>
                <a:latin typeface="Calibri"/>
              </a:rPr>
              <a:t>ALERT records (&gt;5% var. vs manual)</a:t>
            </a:r>
          </a:p>
        </p:txBody>
      </p:sp>
      <p:sp>
        <p:nvSpPr>
          <p:cNvPr id="12" name="Rectangle 11"/>
          <p:cNvSpPr/>
          <p:nvPr/>
        </p:nvSpPr>
        <p:spPr>
          <a:xfrm>
            <a:off x="8138160" y="1005840"/>
            <a:ext cx="3749039" cy="100584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051560"/>
            <a:ext cx="3749039" cy="502920"/>
          </a:xfrm>
          <a:prstGeom prst="rect">
            <a:avLst/>
          </a:prstGeom>
          <a:noFill/>
        </p:spPr>
        <p:txBody>
          <a:bodyPr wrap="square" lIns="45720" rIns="45720" tIns="18288" bIns="18288" anchor="ctr">
            <a:spAutoFit/>
          </a:bodyPr>
          <a:lstStyle/>
          <a:p>
            <a:pPr algn="ctr"/>
            <a:r>
              <a:rPr sz="1600" b="1">
                <a:solidFill>
                  <a:srgbClr val="FFFFFF"/>
                </a:solidFill>
                <a:latin typeface="Calibri"/>
              </a:rPr>
              <a:t>AI_PRJ_W1..W26</a:t>
            </a:r>
          </a:p>
        </p:txBody>
      </p:sp>
      <p:sp>
        <p:nvSpPr>
          <p:cNvPr id="14" name="TextBox 13"/>
          <p:cNvSpPr txBox="1"/>
          <p:nvPr/>
        </p:nvSpPr>
        <p:spPr>
          <a:xfrm>
            <a:off x="8138160" y="1554480"/>
            <a:ext cx="3749039" cy="411480"/>
          </a:xfrm>
          <a:prstGeom prst="rect">
            <a:avLst/>
          </a:prstGeom>
          <a:noFill/>
        </p:spPr>
        <p:txBody>
          <a:bodyPr wrap="square" lIns="45720" rIns="45720" tIns="18288" bIns="18288" anchor="ctr">
            <a:spAutoFit/>
          </a:bodyPr>
          <a:lstStyle/>
          <a:p>
            <a:pPr algn="ctr"/>
            <a:r>
              <a:rPr sz="1100" b="0">
                <a:solidFill>
                  <a:srgbClr val="FFFFFF"/>
                </a:solidFill>
                <a:latin typeface="Calibri"/>
              </a:rPr>
              <a:t>Written back to Quickbase + AI_ALERT</a:t>
            </a:r>
          </a:p>
        </p:txBody>
      </p:sp>
      <p:sp>
        <p:nvSpPr>
          <p:cNvPr id="15" name="TextBox 14"/>
          <p:cNvSpPr txBox="1"/>
          <p:nvPr/>
        </p:nvSpPr>
        <p:spPr>
          <a:xfrm>
            <a:off x="457200" y="2194560"/>
            <a:ext cx="11277295" cy="320040"/>
          </a:xfrm>
          <a:prstGeom prst="rect">
            <a:avLst/>
          </a:prstGeom>
          <a:noFill/>
        </p:spPr>
        <p:txBody>
          <a:bodyPr wrap="square" lIns="45720" rIns="45720" tIns="18288" bIns="18288" anchor="t">
            <a:spAutoFit/>
          </a:bodyPr>
          <a:lstStyle/>
          <a:p>
            <a:pPr algn="l"/>
            <a:r>
              <a:rPr sz="1400" b="1">
                <a:solidFill>
                  <a:srgbClr val="1F3A5F"/>
                </a:solidFill>
                <a:latin typeface="Calibri"/>
              </a:rPr>
              <a:t>Model split across the 4,194 records</a:t>
            </a:r>
          </a:p>
        </p:txBody>
      </p:sp>
      <p:graphicFrame>
        <p:nvGraphicFramePr>
          <p:cNvPr id="16" name="Table 15"/>
          <p:cNvGraphicFramePr>
            <a:graphicFrameLocks noGrp="1"/>
          </p:cNvGraphicFramePr>
          <p:nvPr/>
        </p:nvGraphicFramePr>
        <p:xfrm>
          <a:off x="457200" y="2560320"/>
          <a:ext cx="5669280" cy="3474720"/>
        </p:xfrm>
        <a:graphic>
          <a:graphicData uri="http://schemas.openxmlformats.org/drawingml/2006/table">
            <a:tbl>
              <a:tblPr firstRow="1" bandRow="1">
                <a:tableStyleId>{5C22544A-7EE6-4342-B048-85BDC9FD1C3A}</a:tableStyleId>
              </a:tblPr>
              <a:tblGrid>
                <a:gridCol w="2834640"/>
                <a:gridCol w="2834640"/>
              </a:tblGrid>
              <a:tr h="315883">
                <a:tc>
                  <a:txBody>
                    <a:bodyPr/>
                    <a:lstStyle/>
                    <a:p>
                      <a:pPr algn="l"/>
                      <a:r>
                        <a:rPr b="1" sz="1200">
                          <a:solidFill>
                            <a:srgbClr val="FFFFFF"/>
                          </a:solidFill>
                          <a:latin typeface="Calibri"/>
                        </a:rPr>
                        <a:t>Model / classification</a:t>
                      </a:r>
                    </a:p>
                  </a:txBody>
                  <a:tcPr>
                    <a:solidFill>
                      <a:srgbClr val="1F3A5F"/>
                    </a:solidFill>
                  </a:tcPr>
                </a:tc>
                <a:tc>
                  <a:txBody>
                    <a:bodyPr/>
                    <a:lstStyle/>
                    <a:p>
                      <a:pPr algn="l"/>
                      <a:r>
                        <a:rPr b="1" sz="1200">
                          <a:solidFill>
                            <a:srgbClr val="FFFFFF"/>
                          </a:solidFill>
                          <a:latin typeface="Calibri"/>
                        </a:rPr>
                        <a:t>Records</a:t>
                      </a:r>
                    </a:p>
                  </a:txBody>
                  <a:tcPr>
                    <a:solidFill>
                      <a:srgbClr val="1F3A5F"/>
                    </a:solidFill>
                  </a:tcPr>
                </a:tc>
              </a:tr>
              <a:tr h="315883">
                <a:tc>
                  <a:txBody>
                    <a:bodyPr wrap="square"/>
                    <a:lstStyle/>
                    <a:p>
                      <a:pPr algn="l"/>
                      <a:r>
                        <a:rPr sz="1100">
                          <a:solidFill>
                            <a:srgbClr val="333333"/>
                          </a:solidFill>
                          <a:latin typeface="Calibri"/>
                        </a:rPr>
                        <a:t>Sparse Intermittent</a:t>
                      </a:r>
                    </a:p>
                  </a:txBody>
                  <a:tcPr>
                    <a:solidFill>
                      <a:srgbClr val="FFFFFF"/>
                    </a:solidFill>
                  </a:tcPr>
                </a:tc>
                <a:tc>
                  <a:txBody>
                    <a:bodyPr wrap="square"/>
                    <a:lstStyle/>
                    <a:p>
                      <a:pPr algn="l"/>
                      <a:r>
                        <a:rPr sz="1100">
                          <a:solidFill>
                            <a:srgbClr val="333333"/>
                          </a:solidFill>
                          <a:latin typeface="Calibri"/>
                        </a:rPr>
                        <a:t>1,166</a:t>
                      </a:r>
                    </a:p>
                  </a:txBody>
                  <a:tcPr>
                    <a:solidFill>
                      <a:srgbClr val="FFFFFF"/>
                    </a:solidFill>
                  </a:tcPr>
                </a:tc>
              </a:tr>
              <a:tr h="315883">
                <a:tc>
                  <a:txBody>
                    <a:bodyPr wrap="square"/>
                    <a:lstStyle/>
                    <a:p>
                      <a:pPr algn="l"/>
                      <a:r>
                        <a:rPr sz="1100">
                          <a:solidFill>
                            <a:srgbClr val="333333"/>
                          </a:solidFill>
                          <a:latin typeface="Calibri"/>
                        </a:rPr>
                        <a:t>Croston's</a:t>
                      </a:r>
                    </a:p>
                  </a:txBody>
                  <a:tcPr>
                    <a:solidFill>
                      <a:srgbClr val="F2F2F2"/>
                    </a:solidFill>
                  </a:tcPr>
                </a:tc>
                <a:tc>
                  <a:txBody>
                    <a:bodyPr wrap="square"/>
                    <a:lstStyle/>
                    <a:p>
                      <a:pPr algn="l"/>
                      <a:r>
                        <a:rPr sz="1100">
                          <a:solidFill>
                            <a:srgbClr val="333333"/>
                          </a:solidFill>
                          <a:latin typeface="Calibri"/>
                        </a:rPr>
                        <a:t>1,017</a:t>
                      </a:r>
                    </a:p>
                  </a:txBody>
                  <a:tcPr>
                    <a:solidFill>
                      <a:srgbClr val="F2F2F2"/>
                    </a:solidFill>
                  </a:tcPr>
                </a:tc>
              </a:tr>
              <a:tr h="315883">
                <a:tc>
                  <a:txBody>
                    <a:bodyPr wrap="square"/>
                    <a:lstStyle/>
                    <a:p>
                      <a:pPr algn="l"/>
                      <a:r>
                        <a:rPr sz="1100">
                          <a:solidFill>
                            <a:srgbClr val="333333"/>
                          </a:solidFill>
                          <a:latin typeface="Calibri"/>
                        </a:rPr>
                        <a:t>Seasonal Baseline</a:t>
                      </a:r>
                    </a:p>
                  </a:txBody>
                  <a:tcPr>
                    <a:solidFill>
                      <a:srgbClr val="FFFFFF"/>
                    </a:solidFill>
                  </a:tcPr>
                </a:tc>
                <a:tc>
                  <a:txBody>
                    <a:bodyPr wrap="square"/>
                    <a:lstStyle/>
                    <a:p>
                      <a:pPr algn="l"/>
                      <a:r>
                        <a:rPr sz="1100">
                          <a:solidFill>
                            <a:srgbClr val="333333"/>
                          </a:solidFill>
                          <a:latin typeface="Calibri"/>
                        </a:rPr>
                        <a:t>750</a:t>
                      </a:r>
                    </a:p>
                  </a:txBody>
                  <a:tcPr>
                    <a:solidFill>
                      <a:srgbClr val="FFFFFF"/>
                    </a:solidFill>
                  </a:tcPr>
                </a:tc>
              </a:tr>
              <a:tr h="315883">
                <a:tc>
                  <a:txBody>
                    <a:bodyPr wrap="square"/>
                    <a:lstStyle/>
                    <a:p>
                      <a:pPr algn="l"/>
                      <a:r>
                        <a:rPr sz="1100">
                          <a:solidFill>
                            <a:srgbClr val="333333"/>
                          </a:solidFill>
                          <a:latin typeface="Calibri"/>
                        </a:rPr>
                        <a:t>Inactive</a:t>
                      </a:r>
                    </a:p>
                  </a:txBody>
                  <a:tcPr>
                    <a:solidFill>
                      <a:srgbClr val="F2F2F2"/>
                    </a:solidFill>
                  </a:tcPr>
                </a:tc>
                <a:tc>
                  <a:txBody>
                    <a:bodyPr wrap="square"/>
                    <a:lstStyle/>
                    <a:p>
                      <a:pPr algn="l"/>
                      <a:r>
                        <a:rPr sz="1100">
                          <a:solidFill>
                            <a:srgbClr val="333333"/>
                          </a:solidFill>
                          <a:latin typeface="Calibri"/>
                        </a:rPr>
                        <a:t>402</a:t>
                      </a:r>
                    </a:p>
                  </a:txBody>
                  <a:tcPr>
                    <a:solidFill>
                      <a:srgbClr val="F2F2F2"/>
                    </a:solidFill>
                  </a:tcPr>
                </a:tc>
              </a:tr>
              <a:tr h="315883">
                <a:tc>
                  <a:txBody>
                    <a:bodyPr wrap="square"/>
                    <a:lstStyle/>
                    <a:p>
                      <a:pPr algn="l"/>
                      <a:r>
                        <a:rPr sz="1100">
                          <a:solidFill>
                            <a:srgbClr val="333333"/>
                          </a:solidFill>
                          <a:latin typeface="Calibri"/>
                        </a:rPr>
                        <a:t>OTB-zero</a:t>
                      </a:r>
                    </a:p>
                  </a:txBody>
                  <a:tcPr>
                    <a:solidFill>
                      <a:srgbClr val="FFFFFF"/>
                    </a:solidFill>
                  </a:tcPr>
                </a:tc>
                <a:tc>
                  <a:txBody>
                    <a:bodyPr wrap="square"/>
                    <a:lstStyle/>
                    <a:p>
                      <a:pPr algn="l"/>
                      <a:r>
                        <a:rPr sz="1100">
                          <a:solidFill>
                            <a:srgbClr val="333333"/>
                          </a:solidFill>
                          <a:latin typeface="Calibri"/>
                        </a:rPr>
                        <a:t>321</a:t>
                      </a:r>
                    </a:p>
                  </a:txBody>
                  <a:tcPr>
                    <a:solidFill>
                      <a:srgbClr val="FFFFFF"/>
                    </a:solidFill>
                  </a:tcPr>
                </a:tc>
              </a:tr>
              <a:tr h="315883">
                <a:tc>
                  <a:txBody>
                    <a:bodyPr wrap="square"/>
                    <a:lstStyle/>
                    <a:p>
                      <a:pPr algn="l"/>
                      <a:r>
                        <a:rPr sz="1100">
                          <a:solidFill>
                            <a:srgbClr val="333333"/>
                          </a:solidFill>
                          <a:latin typeface="Calibri"/>
                        </a:rPr>
                        <a:t>Inactive (zero history)</a:t>
                      </a:r>
                    </a:p>
                  </a:txBody>
                  <a:tcPr>
                    <a:solidFill>
                      <a:srgbClr val="F2F2F2"/>
                    </a:solidFill>
                  </a:tcPr>
                </a:tc>
                <a:tc>
                  <a:txBody>
                    <a:bodyPr wrap="square"/>
                    <a:lstStyle/>
                    <a:p>
                      <a:pPr algn="l"/>
                      <a:r>
                        <a:rPr sz="1100">
                          <a:solidFill>
                            <a:srgbClr val="333333"/>
                          </a:solidFill>
                          <a:latin typeface="Calibri"/>
                        </a:rPr>
                        <a:t>278</a:t>
                      </a:r>
                    </a:p>
                  </a:txBody>
                  <a:tcPr>
                    <a:solidFill>
                      <a:srgbClr val="F2F2F2"/>
                    </a:solidFill>
                  </a:tcPr>
                </a:tc>
              </a:tr>
              <a:tr h="315883">
                <a:tc>
                  <a:txBody>
                    <a:bodyPr wrap="square"/>
                    <a:lstStyle/>
                    <a:p>
                      <a:pPr algn="l"/>
                      <a:r>
                        <a:rPr sz="1100">
                          <a:solidFill>
                            <a:srgbClr val="333333"/>
                          </a:solidFill>
                          <a:latin typeface="Calibri"/>
                        </a:rPr>
                        <a:t>Heuristic</a:t>
                      </a:r>
                    </a:p>
                  </a:txBody>
                  <a:tcPr>
                    <a:solidFill>
                      <a:srgbClr val="FFFFFF"/>
                    </a:solidFill>
                  </a:tcPr>
                </a:tc>
                <a:tc>
                  <a:txBody>
                    <a:bodyPr wrap="square"/>
                    <a:lstStyle/>
                    <a:p>
                      <a:pPr algn="l"/>
                      <a:r>
                        <a:rPr sz="1100">
                          <a:solidFill>
                            <a:srgbClr val="333333"/>
                          </a:solidFill>
                          <a:latin typeface="Calibri"/>
                        </a:rPr>
                        <a:t>143</a:t>
                      </a:r>
                    </a:p>
                  </a:txBody>
                  <a:tcPr>
                    <a:solidFill>
                      <a:srgbClr val="FFFFFF"/>
                    </a:solidFill>
                  </a:tcPr>
                </a:tc>
              </a:tr>
              <a:tr h="315883">
                <a:tc>
                  <a:txBody>
                    <a:bodyPr wrap="square"/>
                    <a:lstStyle/>
                    <a:p>
                      <a:pPr algn="l"/>
                      <a:r>
                        <a:rPr sz="1100">
                          <a:solidFill>
                            <a:srgbClr val="333333"/>
                          </a:solidFill>
                          <a:latin typeface="Calibri"/>
                        </a:rPr>
                        <a:t>Reactivating</a:t>
                      </a:r>
                    </a:p>
                  </a:txBody>
                  <a:tcPr>
                    <a:solidFill>
                      <a:srgbClr val="F2F2F2"/>
                    </a:solidFill>
                  </a:tcPr>
                </a:tc>
                <a:tc>
                  <a:txBody>
                    <a:bodyPr wrap="square"/>
                    <a:lstStyle/>
                    <a:p>
                      <a:pPr algn="l"/>
                      <a:r>
                        <a:rPr sz="1100">
                          <a:solidFill>
                            <a:srgbClr val="333333"/>
                          </a:solidFill>
                          <a:latin typeface="Calibri"/>
                        </a:rPr>
                        <a:t>46</a:t>
                      </a:r>
                    </a:p>
                  </a:txBody>
                  <a:tcPr>
                    <a:solidFill>
                      <a:srgbClr val="F2F2F2"/>
                    </a:solidFill>
                  </a:tcPr>
                </a:tc>
              </a:tr>
              <a:tr h="315883">
                <a:tc>
                  <a:txBody>
                    <a:bodyPr wrap="square"/>
                    <a:lstStyle/>
                    <a:p>
                      <a:pPr algn="l"/>
                      <a:r>
                        <a:rPr sz="1100">
                          <a:solidFill>
                            <a:srgbClr val="333333"/>
                          </a:solidFill>
                          <a:latin typeface="Calibri"/>
                        </a:rPr>
                        <a:t>Pre-launch</a:t>
                      </a:r>
                    </a:p>
                  </a:txBody>
                  <a:tcPr>
                    <a:solidFill>
                      <a:srgbClr val="FFFFFF"/>
                    </a:solidFill>
                  </a:tcPr>
                </a:tc>
                <a:tc>
                  <a:txBody>
                    <a:bodyPr wrap="square"/>
                    <a:lstStyle/>
                    <a:p>
                      <a:pPr algn="l"/>
                      <a:r>
                        <a:rPr sz="1100">
                          <a:solidFill>
                            <a:srgbClr val="333333"/>
                          </a:solidFill>
                          <a:latin typeface="Calibri"/>
                        </a:rPr>
                        <a:t>44</a:t>
                      </a:r>
                    </a:p>
                  </a:txBody>
                  <a:tcPr>
                    <a:solidFill>
                      <a:srgbClr val="FFFFFF"/>
                    </a:solidFill>
                  </a:tcPr>
                </a:tc>
              </a:tr>
              <a:tr h="315890">
                <a:tc>
                  <a:txBody>
                    <a:bodyPr wrap="square"/>
                    <a:lstStyle/>
                    <a:p>
                      <a:pPr algn="l"/>
                      <a:r>
                        <a:rPr sz="1100">
                          <a:solidFill>
                            <a:srgbClr val="333333"/>
                          </a:solidFill>
                          <a:latin typeface="Calibri"/>
                        </a:rPr>
                        <a:t>Other / smaller buckets</a:t>
                      </a:r>
                    </a:p>
                  </a:txBody>
                  <a:tcPr>
                    <a:solidFill>
                      <a:srgbClr val="F2F2F2"/>
                    </a:solidFill>
                  </a:tcPr>
                </a:tc>
                <a:tc>
                  <a:txBody>
                    <a:bodyPr wrap="square"/>
                    <a:lstStyle/>
                    <a:p>
                      <a:pPr algn="l"/>
                      <a:r>
                        <a:rPr sz="1100">
                          <a:solidFill>
                            <a:srgbClr val="333333"/>
                          </a:solidFill>
                          <a:latin typeface="Calibri"/>
                        </a:rPr>
                        <a:t>27</a:t>
                      </a:r>
                    </a:p>
                  </a:txBody>
                  <a:tcPr>
                    <a:solidFill>
                      <a:srgbClr val="F2F2F2"/>
                    </a:solidFill>
                  </a:tcPr>
                </a:tc>
              </a:tr>
            </a:tbl>
          </a:graphicData>
        </a:graphic>
      </p:graphicFrame>
      <p:sp>
        <p:nvSpPr>
          <p:cNvPr id="17" name="Rectangle 16"/>
          <p:cNvSpPr/>
          <p:nvPr/>
        </p:nvSpPr>
        <p:spPr>
          <a:xfrm>
            <a:off x="6400800" y="2560320"/>
            <a:ext cx="5303520" cy="347472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697480"/>
            <a:ext cx="4937760" cy="320040"/>
          </a:xfrm>
          <a:prstGeom prst="rect">
            <a:avLst/>
          </a:prstGeom>
          <a:noFill/>
        </p:spPr>
        <p:txBody>
          <a:bodyPr wrap="square" lIns="45720" rIns="45720" tIns="18288" bIns="18288" anchor="t">
            <a:spAutoFit/>
          </a:bodyPr>
          <a:lstStyle/>
          <a:p>
            <a:pPr algn="l"/>
            <a:r>
              <a:rPr sz="1400" b="1">
                <a:solidFill>
                  <a:srgbClr val="1F3A5F"/>
                </a:solidFill>
                <a:latin typeface="Calibri"/>
              </a:rPr>
              <a:t>Last-year actuals coverage</a:t>
            </a:r>
          </a:p>
        </p:txBody>
      </p:sp>
      <p:sp>
        <p:nvSpPr>
          <p:cNvPr id="19" name="TextBox 18"/>
          <p:cNvSpPr txBox="1"/>
          <p:nvPr/>
        </p:nvSpPr>
        <p:spPr>
          <a:xfrm>
            <a:off x="6583680" y="3063240"/>
            <a:ext cx="4937760" cy="1280160"/>
          </a:xfrm>
          <a:prstGeom prst="rect">
            <a:avLst/>
          </a:prstGeom>
          <a:noFill/>
        </p:spPr>
        <p:txBody>
          <a:bodyPr wrap="square" lIns="45720">
            <a:spAutoFit/>
          </a:bodyPr>
          <a:lstStyle/>
          <a:p>
            <a:pPr algn="l">
              <a:spcAft>
                <a:spcPts val="500"/>
              </a:spcAft>
            </a:pPr>
            <a:r>
              <a:rPr sz="1100" b="1">
                <a:solidFill>
                  <a:srgbClr val="2A9D8F"/>
                </a:solidFill>
                <a:latin typeface="Calibri"/>
              </a:rPr>
              <a:t>●  </a:t>
            </a:r>
            <a:r>
              <a:rPr sz="1100">
                <a:solidFill>
                  <a:srgbClr val="333333"/>
                </a:solidFill>
                <a:latin typeface="Calibri"/>
              </a:rPr>
              <a:t>2,691 records have non-zero "Ordered LY" data (Ord_LW-26..LW-51)</a:t>
            </a:r>
          </a:p>
          <a:p>
            <a:pPr algn="l">
              <a:spcAft>
                <a:spcPts val="500"/>
              </a:spcAft>
            </a:pPr>
            <a:r>
              <a:rPr sz="1100" b="1">
                <a:solidFill>
                  <a:srgbClr val="2A9D8F"/>
                </a:solidFill>
                <a:latin typeface="Calibri"/>
              </a:rPr>
              <a:t>●  </a:t>
            </a:r>
            <a:r>
              <a:rPr sz="1100">
                <a:solidFill>
                  <a:srgbClr val="333333"/>
                </a:solidFill>
                <a:latin typeface="Calibri"/>
              </a:rPr>
              <a:t>2,623 records have non-zero "Shipped LY" data (Shp_LW-26..LW-51)</a:t>
            </a:r>
          </a:p>
          <a:p>
            <a:pPr algn="l">
              <a:spcAft>
                <a:spcPts val="500"/>
              </a:spcAft>
            </a:pPr>
            <a:r>
              <a:rPr sz="1100" b="1">
                <a:solidFill>
                  <a:srgbClr val="2A9D8F"/>
                </a:solidFill>
                <a:latin typeface="Calibri"/>
              </a:rPr>
              <a:t>●  </a:t>
            </a:r>
            <a:r>
              <a:rPr sz="1100">
                <a:solidFill>
                  <a:srgbClr val="333333"/>
                </a:solidFill>
                <a:latin typeface="Calibri"/>
              </a:rPr>
              <a:t>Surfaced as the new green/blue rows in the row detail pane</a:t>
            </a:r>
          </a:p>
        </p:txBody>
      </p:sp>
      <p:sp>
        <p:nvSpPr>
          <p:cNvPr id="20" name="TextBox 19"/>
          <p:cNvSpPr txBox="1"/>
          <p:nvPr/>
        </p:nvSpPr>
        <p:spPr>
          <a:xfrm>
            <a:off x="6583680" y="4389120"/>
            <a:ext cx="4937760" cy="274320"/>
          </a:xfrm>
          <a:prstGeom prst="rect">
            <a:avLst/>
          </a:prstGeom>
          <a:noFill/>
        </p:spPr>
        <p:txBody>
          <a:bodyPr wrap="square" lIns="45720" rIns="45720" tIns="18288" bIns="18288" anchor="t">
            <a:spAutoFit/>
          </a:bodyPr>
          <a:lstStyle/>
          <a:p>
            <a:pPr algn="l"/>
            <a:r>
              <a:rPr sz="1200" b="1">
                <a:solidFill>
                  <a:srgbClr val="E76F51"/>
                </a:solidFill>
                <a:latin typeface="Calibri"/>
              </a:rPr>
              <a:t>Why ALERT count is high (3,526)</a:t>
            </a:r>
          </a:p>
        </p:txBody>
      </p:sp>
      <p:sp>
        <p:nvSpPr>
          <p:cNvPr id="21" name="TextBox 20"/>
          <p:cNvSpPr txBox="1"/>
          <p:nvPr/>
        </p:nvSpPr>
        <p:spPr>
          <a:xfrm>
            <a:off x="6583680" y="4681728"/>
            <a:ext cx="4937760" cy="1280160"/>
          </a:xfrm>
          <a:prstGeom prst="rect">
            <a:avLst/>
          </a:prstGeom>
          <a:noFill/>
        </p:spPr>
        <p:txBody>
          <a:bodyPr wrap="square" lIns="45720">
            <a:spAutoFit/>
          </a:bodyPr>
          <a:lstStyle/>
          <a:p>
            <a:pPr algn="l">
              <a:spcAft>
                <a:spcPts val="500"/>
              </a:spcAft>
            </a:pPr>
            <a:r>
              <a:rPr sz="1000" b="1">
                <a:solidFill>
                  <a:srgbClr val="2A9D8F"/>
                </a:solidFill>
                <a:latin typeface="Calibri"/>
              </a:rPr>
              <a:t>●  </a:t>
            </a:r>
            <a:r>
              <a:rPr sz="1000">
                <a:solidFill>
                  <a:srgbClr val="333333"/>
                </a:solidFill>
                <a:latin typeface="Calibri"/>
              </a:rPr>
              <a:t>Manual projections are still flat-rate plans for many accounts</a:t>
            </a:r>
          </a:p>
          <a:p>
            <a:pPr algn="l">
              <a:spcAft>
                <a:spcPts val="500"/>
              </a:spcAft>
            </a:pPr>
            <a:r>
              <a:rPr sz="1000" b="1">
                <a:solidFill>
                  <a:srgbClr val="2A9D8F"/>
                </a:solidFill>
                <a:latin typeface="Calibri"/>
              </a:rPr>
              <a:t>●  </a:t>
            </a:r>
            <a:r>
              <a:rPr sz="1000">
                <a:solidFill>
                  <a:srgbClr val="333333"/>
                </a:solidFill>
                <a:latin typeface="Calibri"/>
              </a:rPr>
              <a:t>AI applies recipe + seasonal + event + recent-trend lifts per record</a:t>
            </a:r>
          </a:p>
          <a:p>
            <a:pPr algn="l">
              <a:spcAft>
                <a:spcPts val="500"/>
              </a:spcAft>
            </a:pPr>
            <a:r>
              <a:rPr sz="1000" b="1">
                <a:solidFill>
                  <a:srgbClr val="2A9D8F"/>
                </a:solidFill>
                <a:latin typeface="Calibri"/>
              </a:rPr>
              <a:t>●  </a:t>
            </a:r>
            <a:r>
              <a:rPr sz="1000">
                <a:solidFill>
                  <a:srgbClr val="333333"/>
                </a:solidFill>
                <a:latin typeface="Calibri"/>
              </a:rPr>
              <a:t>&gt;5% variance is intentionally a tight band — it surfaces every meaningful disagreement</a:t>
            </a:r>
          </a:p>
          <a:p>
            <a:pPr algn="l">
              <a:spcAft>
                <a:spcPts val="500"/>
              </a:spcAft>
            </a:pPr>
            <a:r>
              <a:rPr sz="1000" b="1">
                <a:solidFill>
                  <a:srgbClr val="2A9D8F"/>
                </a:solidFill>
                <a:latin typeface="Calibri"/>
              </a:rPr>
              <a:t>●  </a:t>
            </a:r>
            <a:r>
              <a:rPr sz="1000">
                <a:solidFill>
                  <a:srgbClr val="333333"/>
                </a:solidFill>
                <a:latin typeface="Calibri"/>
              </a:rPr>
              <a:t>Use Severity + Brand filters to narrow the alert list to your own scope</a:t>
            </a:r>
          </a:p>
        </p:txBody>
      </p:sp>
      <p:sp>
        <p:nvSpPr>
          <p:cNvPr id="22" name="TextBox 2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38 / 39</a:t>
            </a:r>
          </a:p>
        </p:txBody>
      </p:sp>
      <p:sp>
        <p:nvSpPr>
          <p:cNvPr id="23" name="TextBox 2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411480"/>
          </a:xfrm>
          <a:prstGeom prst="rect">
            <a:avLst/>
          </a:prstGeom>
          <a:noFill/>
        </p:spPr>
        <p:txBody>
          <a:bodyPr wrap="square" lIns="45720" rIns="45720" tIns="18288" bIns="18288" anchor="ctr">
            <a:spAutoFit/>
          </a:bodyPr>
          <a:lstStyle/>
          <a:p>
            <a:pPr algn="l"/>
            <a:r>
              <a:rPr sz="2200" b="1">
                <a:solidFill>
                  <a:srgbClr val="FFFFFF"/>
                </a:solidFill>
                <a:latin typeface="Calibri"/>
              </a:rPr>
              <a:t>Your day-to-day in the QB code page</a:t>
            </a:r>
          </a:p>
        </p:txBody>
      </p:sp>
      <p:sp>
        <p:nvSpPr>
          <p:cNvPr id="4" name="TextBox 3"/>
          <p:cNvSpPr txBox="1"/>
          <p:nvPr/>
        </p:nvSpPr>
        <p:spPr>
          <a:xfrm>
            <a:off x="457200" y="457200"/>
            <a:ext cx="11277295" cy="274320"/>
          </a:xfrm>
          <a:prstGeom prst="rect">
            <a:avLst/>
          </a:prstGeom>
          <a:noFill/>
        </p:spPr>
        <p:txBody>
          <a:bodyPr wrap="square" lIns="45720" rIns="45720" tIns="18288" bIns="18288" anchor="t">
            <a:spAutoFit/>
          </a:bodyPr>
          <a:lstStyle/>
          <a:p>
            <a:pPr algn="l"/>
            <a:r>
              <a:rPr sz="1100" b="0">
                <a:solidFill>
                  <a:srgbClr val="E9C46A"/>
                </a:solidFill>
                <a:latin typeface="Calibri"/>
              </a:rPr>
              <a:t>Three things you'll do; everything else is automatic</a:t>
            </a:r>
          </a:p>
        </p:txBody>
      </p:sp>
      <p:sp>
        <p:nvSpPr>
          <p:cNvPr id="5" name="Rectangle 4"/>
          <p:cNvSpPr/>
          <p:nvPr/>
        </p:nvSpPr>
        <p:spPr>
          <a:xfrm>
            <a:off x="0" y="6675120"/>
            <a:ext cx="12191695" cy="3657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1. Triage what needs attention</a:t>
            </a:r>
          </a:p>
        </p:txBody>
      </p:sp>
      <p:sp>
        <p:nvSpPr>
          <p:cNvPr id="7" name="TextBox 6"/>
          <p:cNvSpPr txBox="1"/>
          <p:nvPr/>
        </p:nvSpPr>
        <p:spPr>
          <a:xfrm>
            <a:off x="731520" y="1325880"/>
            <a:ext cx="11002975" cy="1280160"/>
          </a:xfrm>
          <a:prstGeom prst="rect">
            <a:avLst/>
          </a:prstGeom>
          <a:noFill/>
        </p:spPr>
        <p:txBody>
          <a:bodyPr wrap="square" lIns="45720">
            <a:spAutoFit/>
          </a:bodyPr>
          <a:lstStyle/>
          <a:p>
            <a:pPr algn="l">
              <a:spcAft>
                <a:spcPts val="500"/>
              </a:spcAft>
            </a:pPr>
            <a:r>
              <a:rPr sz="1100" b="1">
                <a:solidFill>
                  <a:srgbClr val="2A9D8F"/>
                </a:solidFill>
                <a:latin typeface="Calibri"/>
              </a:rPr>
              <a:t>●  </a:t>
            </a:r>
            <a:r>
              <a:rPr sz="1100">
                <a:solidFill>
                  <a:srgbClr val="333333"/>
                </a:solidFill>
                <a:latin typeface="Calibri"/>
              </a:rPr>
              <a:t>Filter by your accounts / brands at the top of the page</a:t>
            </a:r>
          </a:p>
          <a:p>
            <a:pPr algn="l">
              <a:spcAft>
                <a:spcPts val="500"/>
              </a:spcAft>
            </a:pPr>
            <a:r>
              <a:rPr sz="1100" b="1">
                <a:solidFill>
                  <a:srgbClr val="2A9D8F"/>
                </a:solidFill>
                <a:latin typeface="Calibri"/>
              </a:rPr>
              <a:t>●  </a:t>
            </a:r>
            <a:r>
              <a:rPr sz="1100">
                <a:solidFill>
                  <a:srgbClr val="333333"/>
                </a:solidFill>
                <a:latin typeface="Calibri"/>
              </a:rPr>
              <a:t>Sort by severity (CRITICAL first), or just scroll — flagged rows show with a light-red wash</a:t>
            </a:r>
          </a:p>
          <a:p>
            <a:pPr algn="l">
              <a:spcAft>
                <a:spcPts val="500"/>
              </a:spcAft>
            </a:pPr>
            <a:r>
              <a:rPr sz="1100" b="1">
                <a:solidFill>
                  <a:srgbClr val="2A9D8F"/>
                </a:solidFill>
                <a:latin typeface="Calibri"/>
              </a:rPr>
              <a:t>●  </a:t>
            </a:r>
            <a:r>
              <a:rPr sz="1100">
                <a:solidFill>
                  <a:srgbClr val="333333"/>
                </a:solidFill>
                <a:latin typeface="Calibri"/>
              </a:rPr>
              <a:t>Each row's variance % tells you at a glance how far AI is from your manual projection</a:t>
            </a:r>
          </a:p>
        </p:txBody>
      </p:sp>
      <p:sp>
        <p:nvSpPr>
          <p:cNvPr id="8" name="TextBox 7"/>
          <p:cNvSpPr txBox="1"/>
          <p:nvPr/>
        </p:nvSpPr>
        <p:spPr>
          <a:xfrm>
            <a:off x="457200" y="269748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2. Read the alert before deciding</a:t>
            </a:r>
          </a:p>
        </p:txBody>
      </p:sp>
      <p:sp>
        <p:nvSpPr>
          <p:cNvPr id="9" name="TextBox 8"/>
          <p:cNvSpPr txBox="1"/>
          <p:nvPr/>
        </p:nvSpPr>
        <p:spPr>
          <a:xfrm>
            <a:off x="731520" y="3063240"/>
            <a:ext cx="11002975" cy="1463040"/>
          </a:xfrm>
          <a:prstGeom prst="rect">
            <a:avLst/>
          </a:prstGeom>
          <a:noFill/>
        </p:spPr>
        <p:txBody>
          <a:bodyPr wrap="square" lIns="45720">
            <a:spAutoFit/>
          </a:bodyPr>
          <a:lstStyle/>
          <a:p>
            <a:pPr algn="l">
              <a:spcAft>
                <a:spcPts val="500"/>
              </a:spcAft>
            </a:pPr>
            <a:r>
              <a:rPr sz="1100" b="1">
                <a:solidFill>
                  <a:srgbClr val="2A9D8F"/>
                </a:solidFill>
                <a:latin typeface="Calibri"/>
              </a:rPr>
              <a:t>●  </a:t>
            </a:r>
            <a:r>
              <a:rPr sz="1100">
                <a:solidFill>
                  <a:srgbClr val="333333"/>
                </a:solidFill>
                <a:latin typeface="Calibri"/>
              </a:rPr>
              <a:t>Click a row to expand the 26-week side-by-side: Manual · AI · Suggested · Shipments · Orders</a:t>
            </a:r>
          </a:p>
          <a:p>
            <a:pPr algn="l">
              <a:spcAft>
                <a:spcPts val="500"/>
              </a:spcAft>
            </a:pPr>
            <a:r>
              <a:rPr sz="1100" b="1">
                <a:solidFill>
                  <a:srgbClr val="2A9D8F"/>
                </a:solidFill>
                <a:latin typeface="Calibri"/>
              </a:rPr>
              <a:t>●  </a:t>
            </a:r>
            <a:r>
              <a:rPr sz="1100">
                <a:solidFill>
                  <a:srgbClr val="333333"/>
                </a:solidFill>
                <a:latin typeface="Calibri"/>
              </a:rPr>
              <a:t>The AI_ALERT column names every rule that fired — recipe, baseline mode, refinements, PO zero-outs</a:t>
            </a:r>
          </a:p>
          <a:p>
            <a:pPr algn="l">
              <a:spcAft>
                <a:spcPts val="500"/>
              </a:spcAft>
            </a:pPr>
            <a:r>
              <a:rPr sz="1100" b="1">
                <a:solidFill>
                  <a:srgbClr val="2A9D8F"/>
                </a:solidFill>
                <a:latin typeface="Calibri"/>
              </a:rPr>
              <a:t>●  </a:t>
            </a:r>
            <a:r>
              <a:rPr sz="1100">
                <a:solidFill>
                  <a:srgbClr val="333333"/>
                </a:solidFill>
                <a:latin typeface="Calibri"/>
              </a:rPr>
              <a:t>Most 'why is the AI saying that?' questions are answered by reading the alert text</a:t>
            </a:r>
          </a:p>
        </p:txBody>
      </p:sp>
      <p:sp>
        <p:nvSpPr>
          <p:cNvPr id="10" name="TextBox 9"/>
          <p:cNvSpPr txBox="1"/>
          <p:nvPr/>
        </p:nvSpPr>
        <p:spPr>
          <a:xfrm>
            <a:off x="457200" y="4754880"/>
            <a:ext cx="11277295" cy="411480"/>
          </a:xfrm>
          <a:prstGeom prst="rect">
            <a:avLst/>
          </a:prstGeom>
          <a:noFill/>
        </p:spPr>
        <p:txBody>
          <a:bodyPr wrap="square" lIns="45720" rIns="45720" tIns="18288" bIns="18288" anchor="t">
            <a:spAutoFit/>
          </a:bodyPr>
          <a:lstStyle/>
          <a:p>
            <a:pPr algn="l"/>
            <a:r>
              <a:rPr sz="1400" b="1">
                <a:solidFill>
                  <a:srgbClr val="1F3A5F"/>
                </a:solidFill>
                <a:latin typeface="Calibri"/>
              </a:rPr>
              <a:t>3. Override + flag where needed</a:t>
            </a:r>
          </a:p>
        </p:txBody>
      </p:sp>
      <p:sp>
        <p:nvSpPr>
          <p:cNvPr id="11" name="TextBox 10"/>
          <p:cNvSpPr txBox="1"/>
          <p:nvPr/>
        </p:nvSpPr>
        <p:spPr>
          <a:xfrm>
            <a:off x="731520" y="5120640"/>
            <a:ext cx="11002975" cy="1280160"/>
          </a:xfrm>
          <a:prstGeom prst="rect">
            <a:avLst/>
          </a:prstGeom>
          <a:noFill/>
        </p:spPr>
        <p:txBody>
          <a:bodyPr wrap="square" lIns="45720">
            <a:spAutoFit/>
          </a:bodyPr>
          <a:lstStyle/>
          <a:p>
            <a:pPr algn="l">
              <a:spcAft>
                <a:spcPts val="500"/>
              </a:spcAft>
            </a:pPr>
            <a:r>
              <a:rPr sz="1100" b="1">
                <a:solidFill>
                  <a:srgbClr val="2A9D8F"/>
                </a:solidFill>
                <a:latin typeface="Calibri"/>
              </a:rPr>
              <a:t>●  </a:t>
            </a:r>
            <a:r>
              <a:rPr sz="1100">
                <a:solidFill>
                  <a:srgbClr val="333333"/>
                </a:solidFill>
                <a:latin typeface="Calibri"/>
              </a:rPr>
              <a:t>'Use AI' or 'Use Suggested' to copy those numbers into your manual projection</a:t>
            </a:r>
          </a:p>
          <a:p>
            <a:pPr algn="l">
              <a:spcAft>
                <a:spcPts val="500"/>
              </a:spcAft>
            </a:pPr>
            <a:r>
              <a:rPr sz="1100" b="1">
                <a:solidFill>
                  <a:srgbClr val="2A9D8F"/>
                </a:solidFill>
                <a:latin typeface="Calibri"/>
              </a:rPr>
              <a:t>●  </a:t>
            </a:r>
            <a:r>
              <a:rPr sz="1100">
                <a:solidFill>
                  <a:srgbClr val="333333"/>
                </a:solidFill>
                <a:latin typeface="Calibri"/>
              </a:rPr>
              <a:t>Or edit any week directly in the table → 'Save All' commits your edits back to Quickbase</a:t>
            </a:r>
          </a:p>
          <a:p>
            <a:pPr algn="l">
              <a:spcAft>
                <a:spcPts val="500"/>
              </a:spcAft>
            </a:pPr>
            <a:r>
              <a:rPr sz="1100" b="1">
                <a:solidFill>
                  <a:srgbClr val="2A9D8F"/>
                </a:solidFill>
                <a:latin typeface="Calibri"/>
              </a:rPr>
              <a:t>●  </a:t>
            </a:r>
            <a:r>
              <a:rPr sz="1100">
                <a:solidFill>
                  <a:srgbClr val="333333"/>
                </a:solidFill>
                <a:latin typeface="Calibri"/>
              </a:rPr>
              <a:t>Add a comment + flag so the next nightly run remembers the record needs attention</a:t>
            </a:r>
          </a:p>
        </p:txBody>
      </p:sp>
      <p:sp>
        <p:nvSpPr>
          <p:cNvPr id="12" name="TextBox 11"/>
          <p:cNvSpPr txBox="1"/>
          <p:nvPr/>
        </p:nvSpPr>
        <p:spPr>
          <a:xfrm>
            <a:off x="11521440" y="6492240"/>
            <a:ext cx="640080" cy="228600"/>
          </a:xfrm>
          <a:prstGeom prst="rect">
            <a:avLst/>
          </a:prstGeom>
          <a:noFill/>
        </p:spPr>
        <p:txBody>
          <a:bodyPr wrap="square" lIns="45720" rIns="45720" tIns="18288" bIns="18288" anchor="t">
            <a:spAutoFit/>
          </a:bodyPr>
          <a:lstStyle/>
          <a:p>
            <a:pPr algn="r"/>
            <a:r>
              <a:rPr sz="900" b="0">
                <a:solidFill>
                  <a:srgbClr val="666666"/>
                </a:solidFill>
                <a:latin typeface="Calibri"/>
              </a:rPr>
              <a:t>39 / 39</a:t>
            </a:r>
          </a:p>
        </p:txBody>
      </p:sp>
      <p:sp>
        <p:nvSpPr>
          <p:cNvPr id="13" name="TextBox 12"/>
          <p:cNvSpPr txBox="1"/>
          <p:nvPr/>
        </p:nvSpPr>
        <p:spPr>
          <a:xfrm>
            <a:off x="457200" y="6492240"/>
            <a:ext cx="7315200" cy="228600"/>
          </a:xfrm>
          <a:prstGeom prst="rect">
            <a:avLst/>
          </a:prstGeom>
          <a:noFill/>
        </p:spPr>
        <p:txBody>
          <a:bodyPr wrap="square" lIns="45720" rIns="45720" tIns="18288" bIns="18288" anchor="t">
            <a:spAutoFit/>
          </a:bodyPr>
          <a:lstStyle/>
          <a:p>
            <a:pPr algn="l"/>
            <a:r>
              <a:rPr sz="900" b="0">
                <a:solidFill>
                  <a:srgbClr val="666666"/>
                </a:solidFill>
                <a:latin typeface="Calibri"/>
              </a:rPr>
              <a:t>Inventory Forecaster · Plain-English Guide for Planners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