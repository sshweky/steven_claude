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468880"/>
            <a:ext cx="731520" cy="73152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Inventory Forecaster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87A2C"/>
                </a:solidFill>
              </a:defRPr>
            </a:pPr>
            <a:r>
              <a:t>VP-of-Planning Feedback Stack — Q1 / Q2 / Q3 / 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10916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Pets+People  ·  Acct 1864 (Amazon)  ·  May 2026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What changed, why, and how each change behaved on a 1,511-record back-test.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changed anything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C66"/>
                </a:solidFill>
              </a:defRPr>
            </a:pPr>
            <a:r>
              <a:t>Four targeted VP-of-Planning comments on the production forecaster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0141A"/>
                </a:solidFill>
              </a:defRPr>
            </a:pPr>
            <a:r>
              <a:t>• VP-Q1: "Baseline-mode logic is biased low — recent OOS quiet weeks are dragging the average."</a:t>
            </a:r>
          </a:p>
          <a:p>
            <a:pPr>
              <a:spcAft>
                <a:spcPts val="400"/>
              </a:spcAft>
              <a:defRPr sz="1600">
                <a:solidFill>
                  <a:srgbClr val="10141A"/>
                </a:solidFill>
              </a:defRPr>
            </a:pPr>
            <a:r>
              <a:t>• VP-Q2: "OOS cancellations look like zero demand. Forecaster should reconstruct true intent."</a:t>
            </a:r>
          </a:p>
          <a:p>
            <a:pPr>
              <a:spcAft>
                <a:spcPts val="400"/>
              </a:spcAft>
              <a:defRPr sz="1600">
                <a:solidFill>
                  <a:srgbClr val="10141A"/>
                </a:solidFill>
              </a:defRPr>
            </a:pPr>
            <a:r>
              <a:t>• VP-Q3: "Bi-weekly cadence enforcement isn't necessary — only enforce monthly+ patterns."</a:t>
            </a:r>
          </a:p>
          <a:p>
            <a:pPr>
              <a:spcAft>
                <a:spcPts val="400"/>
              </a:spcAft>
              <a:defRPr sz="1600">
                <a:solidFill>
                  <a:srgbClr val="10141A"/>
                </a:solidFill>
              </a:defRPr>
            </a:pPr>
            <a:r>
              <a:t>• VP-Q4: "Don't double-count confirmed customer POs — zero out AI in any week with an open PO."</a:t>
            </a:r>
          </a:p>
          <a:p>
            <a:pPr>
              <a:spcAft>
                <a:spcPts val="400"/>
              </a:spcAft>
              <a:defRPr sz="16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0141A"/>
                </a:solidFill>
              </a:defRPr>
            </a:pPr>
            <a:r>
              <a:t>• Each became a code change on `inventory_forecaster.py` and a back-test on acct 1864.</a:t>
            </a: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    – Goal: deliver four small, defensible improvements that planners can audit on a single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C66"/>
                </a:solidFill>
              </a:defRPr>
            </a:pPr>
            <a:r>
              <a:t>inventory-forecaster-cc · METHODOLOGY.md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Pipeline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C66"/>
                </a:solidFill>
              </a:defRPr>
            </a:pPr>
            <a:r>
              <a:t>What runs end-to-end on every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Pull projections + Order_History + Amazon_Catalog from Quickbase via CData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Classify into one of 9 model types (Croston's, Seasonal Baseline, HW, Sparse, Heuristic, …)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Run the matched model on a weighted 78-obs history (52w + L13W appended 2× for 3× weight)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Apply event lifts: Prime Day W7-W9 (+25%, Amazon only) · Fall Deal W23-W25 (+12%)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Snap each non-zero week to the master-pack multiple</a:t>
            </a:r>
          </a:p>
          <a:p>
            <a:pPr>
              <a:spcAft>
                <a:spcPts val="400"/>
              </a:spcAft>
              <a:defRPr sz="1300">
                <a:solidFill>
                  <a:srgbClr val="E87A2C"/>
                </a:solidFill>
              </a:defRPr>
            </a:pPr>
            <a:r>
              <a:t>    – VP-Q4: zero-out forward weeks with confirmed customer POs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Compare AI vs manual projections → AI_ALERT if &gt;5% variance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Write back AI_PRJ_W1..W26 + AI_ALERT (parallel UPDATE, resume-safe)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C66"/>
                </a:solidFill>
              </a:defRPr>
            </a:pPr>
            <a:r>
              <a:t>Phases 1–4 of inventory_forecaster.py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Model classification — deterministic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C66"/>
                </a:solidFill>
              </a:defRPr>
            </a:pPr>
            <a:r>
              <a:t>Evaluated in order. First match wins.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4552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3324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Typical pattern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Zero L13W AND L26W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Inactive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Discontinued / out of policy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≤6 weeks of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New / Relaunch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Just hitting the catalog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Recently inactive, restarting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Reactivating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Returning after pause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&lt;13 active weeks in L52W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Sparse Intermittent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Long tail / accessory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Dense (≥50% non-zero L13W)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Seasonal Baseline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Smooth, steady mover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CV&gt;0.5 OR zeros&gt;20%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Croston's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Lumpy / intermittent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CV≤0.5 AND zeros≤20%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Holt-Winters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Steady with trend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Out-of-policy / EOL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OTB (zero)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Buy-out / clearance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C66"/>
                </a:solidFill>
              </a:defRPr>
            </a:pPr>
            <a:r>
              <a:t>9 models, deterministic — no hidden 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VP-Q1 — Evidence-based baseline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C66"/>
                </a:solidFill>
              </a:defRPr>
            </a:pPr>
            <a:r>
              <a:t>L13W non-zero average instead of all-weeks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BEFORE: baseline = L13W all-weeks average.</a:t>
            </a:r>
          </a:p>
          <a:p>
            <a:pPr>
              <a:spcAft>
                <a:spcPts val="400"/>
              </a:spcAft>
              <a:defRPr sz="1300">
                <a:solidFill>
                  <a:srgbClr val="555C66"/>
                </a:solidFill>
              </a:defRPr>
            </a:pPr>
            <a:r>
              <a:t>    – Post-Prime Day quiet weeks (legitimate drawdown, not lost demand) dragged the mean down 15-20%.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AFTER: baseline = L13W non-zero average. Fallback chain: L26W non-zero → L13W all-weeks → last-resort.</a:t>
            </a:r>
          </a:p>
          <a:p>
            <a:pPr>
              <a:spcAft>
                <a:spcPts val="400"/>
              </a:spcAft>
              <a:defRPr sz="1300">
                <a:solidFill>
                  <a:srgbClr val="2E8B57"/>
                </a:solidFill>
              </a:defRPr>
            </a:pPr>
            <a:r>
              <a:t>    – Reflects true per-order rate. Quiet weeks no longer suppress the baseline.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Back-test impact (acct 1864):</a:t>
            </a:r>
          </a:p>
          <a:p>
            <a:pPr>
              <a:spcAft>
                <a:spcPts val="400"/>
              </a:spcAft>
              <a:defRPr sz="1300">
                <a:solidFill>
                  <a:srgbClr val="10141A"/>
                </a:solidFill>
              </a:defRPr>
            </a:pPr>
            <a:r>
              <a:t>    – +18.5% aggregate 26w demand · 1,199 records lifted · broadly distributed across all customers.</a:t>
            </a:r>
          </a:p>
          <a:p>
            <a:pPr>
              <a:spcAft>
                <a:spcPts val="400"/>
              </a:spcAft>
              <a:defRPr sz="1300">
                <a:solidFill>
                  <a:srgbClr val="10141A"/>
                </a:solidFill>
              </a:defRPr>
            </a:pPr>
            <a:r>
              <a:t>    – Largest individual lifts on Amazon items recovering from drawdown — exactly the targeted population.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C66"/>
                </a:solidFill>
              </a:defRPr>
            </a:pPr>
            <a:r>
              <a:t>scripts/inventory_forecaster.py · seasonal_baseline()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VP-Q2 — OOS-aware demand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C66"/>
                </a:solidFill>
              </a:defRPr>
            </a:pPr>
            <a:r>
              <a:t>Pull Order_History per-week; classify cancels by reason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Bucket A — OOS-driven (Inventory Error, Supplier Delay, Slot Constraint…):</a:t>
            </a:r>
          </a:p>
          <a:p>
            <a:pPr>
              <a:spcAft>
                <a:spcPts val="400"/>
              </a:spcAft>
              <a:defRPr sz="1200">
                <a:solidFill>
                  <a:srgbClr val="2E8B57"/>
                </a:solidFill>
              </a:defRPr>
            </a:pPr>
            <a:r>
              <a:t>    – KEEP demand intent. The customer wanted units — we just didn't ship.</a:t>
            </a: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Bucket B — Demand-invalidating (Customer Order Error, Future Delete, Low Margin):</a:t>
            </a:r>
          </a:p>
          <a:p>
            <a:pPr>
              <a:spcAft>
                <a:spcPts val="400"/>
              </a:spcAft>
              <a:defRPr sz="1200">
                <a:solidFill>
                  <a:srgbClr val="C0392B"/>
                </a:solidFill>
              </a:defRPr>
            </a:pPr>
            <a:r>
              <a:t>    – SUBTRACT from clean demand. The order was never real intent.</a:t>
            </a: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Bucket C — Ambiguous (Other, Any, null):</a:t>
            </a:r>
          </a:p>
          <a:p>
            <a:pPr>
              <a:spcAft>
                <a:spcPts val="400"/>
              </a:spcAft>
              <a:defRPr sz="1200">
                <a:solidFill>
                  <a:srgbClr val="555C66"/>
                </a:solidFill>
              </a:defRPr>
            </a:pPr>
            <a:r>
              <a:t>    – Keep as-is. Conservative.</a:t>
            </a: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`clean_ord` replaces `raw_ord` in the model fit. OOS severity ≥15% in any week is logged as a driver.</a:t>
            </a:r>
          </a:p>
          <a:p>
            <a:pPr>
              <a:spcAft>
                <a:spcPts val="400"/>
              </a:spcAft>
              <a:defRPr sz="1200">
                <a:solidFill>
                  <a:srgbClr val="10141A"/>
                </a:solidFill>
              </a:defRPr>
            </a:pPr>
            <a:r>
              <a:t>    – Per-record swings can be large for chronic-OOS items; aggregate impact is modest (≤2% on acct 1864).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C66"/>
                </a:solidFill>
              </a:defRPr>
            </a:pPr>
            <a:r>
              <a:t>scripts/oos_history.py · fetch_clean_demand() + classify_cancel()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VP-Q3 — Cadence relaxation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C66"/>
                </a:solidFill>
              </a:defRPr>
            </a:pPr>
            <a:r>
              <a:t>Stop synthesizing zeros for items that ordered weekly with one quiet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BEFORE: any record with ≥70% zeros on one parity over L26W was flagged "bi-weekly" and forced into a zero/order/zero pattern.</a:t>
            </a:r>
          </a:p>
          <a:p>
            <a:pPr>
              <a:spcAft>
                <a:spcPts val="400"/>
              </a:spcAft>
              <a:defRPr sz="1300">
                <a:solidFill>
                  <a:srgbClr val="C0392B"/>
                </a:solidFill>
              </a:defRPr>
            </a:pPr>
            <a:r>
              <a:t>    – Over-constrained: a recent recovery from 6 quiet weeks looked exactly like bi-weekly cadence.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AFTER: detect_biweekly() only fires for monthly+ cadences (median gap ≥3 weeks AND ≥60% gap consistency).</a:t>
            </a:r>
          </a:p>
          <a:p>
            <a:pPr>
              <a:spcAft>
                <a:spcPts val="400"/>
              </a:spcAft>
              <a:defRPr sz="1300">
                <a:solidFill>
                  <a:srgbClr val="2E8B57"/>
                </a:solidFill>
              </a:defRPr>
            </a:pPr>
            <a:r>
              <a:t>    – Returns the median gap (3, 4, 5, …). apply_ordering_pattern() does N-week chunk merging.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Back-test impact:</a:t>
            </a:r>
          </a:p>
          <a:p>
            <a:pPr>
              <a:spcAft>
                <a:spcPts val="400"/>
              </a:spcAft>
              <a:defRPr sz="1300">
                <a:solidFill>
                  <a:srgbClr val="10141A"/>
                </a:solidFill>
              </a:defRPr>
            </a:pPr>
            <a:r>
              <a:t>    – 0 records flagged as "bi-weekly" (down from ~88 under old logic on acct 1864).</a:t>
            </a:r>
          </a:p>
          <a:p>
            <a:pPr>
              <a:spcAft>
                <a:spcPts val="400"/>
              </a:spcAft>
              <a:defRPr sz="1300">
                <a:solidFill>
                  <a:srgbClr val="10141A"/>
                </a:solidFill>
              </a:defRPr>
            </a:pPr>
            <a:r>
              <a:t>    – Records with monthly cadence still get appropriate gap-aware merging.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C66"/>
                </a:solidFill>
              </a:defRPr>
            </a:pPr>
            <a:r>
              <a:t>detect_biweekly() · apply_ordering_pattern()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VP-Q4 — Don't double-count confirmed customer 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C66"/>
                </a:solidFill>
              </a:defRPr>
            </a:pPr>
            <a:r>
              <a:t>Strict zero-out in any forward week with an open 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Pull every Order_History row with `Qty_Open &gt; 0` per Acct_MStyle.</a:t>
            </a: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Bucket each by **Cancel_Date** = customer ship-by deadline.</a:t>
            </a:r>
          </a:p>
          <a:p>
            <a:pPr>
              <a:spcAft>
                <a:spcPts val="400"/>
              </a:spcAft>
              <a:defRPr sz="1200">
                <a:solidFill>
                  <a:srgbClr val="C0392B"/>
                </a:solidFill>
              </a:defRPr>
            </a:pPr>
            <a:r>
              <a:t>    – Critical: NOT Next_Rcpt_Date — that's incoming supplier merch, wrong direction.</a:t>
            </a: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For any forward week 1-26 where the bucketed open-PO qty &gt; 0:</a:t>
            </a:r>
          </a:p>
          <a:p>
            <a:pPr>
              <a:spcAft>
                <a:spcPts val="400"/>
              </a:spcAft>
              <a:defRPr sz="1200">
                <a:solidFill>
                  <a:srgbClr val="E87A2C"/>
                </a:solidFill>
              </a:defRPr>
            </a:pPr>
            <a:r>
              <a:t>    – fcst[week] = 0 (strict zero, not subtract).</a:t>
            </a: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Why strict zero, not subtract:</a:t>
            </a:r>
          </a:p>
          <a:p>
            <a:pPr>
              <a:spcAft>
                <a:spcPts val="400"/>
              </a:spcAft>
              <a:defRPr sz="1200">
                <a:solidFill>
                  <a:srgbClr val="555C66"/>
                </a:solidFill>
              </a:defRPr>
            </a:pPr>
            <a:r>
              <a:t>    – The confirmed PO IS the demand signal for that week. Replen counts the PO already.</a:t>
            </a:r>
          </a:p>
          <a:p>
            <a:pPr>
              <a:spcAft>
                <a:spcPts val="400"/>
              </a:spcAft>
              <a:defRPr sz="1200">
                <a:solidFill>
                  <a:srgbClr val="555C66"/>
                </a:solidFill>
              </a:defRPr>
            </a:pPr>
            <a:r>
              <a:t>    – AI projection on top would systematically over-buy front weeks.</a:t>
            </a: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On acct 1864: 351 keys had confirmed forward POs · 134,888 total open units across 1,937 PO 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C66"/>
                </a:solidFill>
              </a:defRPr>
            </a:pPr>
            <a:r>
              <a:t>scripts/oos_history.py · fetch_open_pos_forward()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Back-test headlines — acct 1864 (1,511 records)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C66"/>
                </a:solidFill>
              </a:defRPr>
            </a:pPr>
            <a:r>
              <a:t>Aggregate 26-week demand impact, isolating each VP comment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81478" cy="1371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ctr">
              <a:defRPr sz="2600" b="1">
                <a:solidFill>
                  <a:srgbClr val="2E8B57"/>
                </a:solidFill>
              </a:defRPr>
            </a:pPr>
            <a:r>
              <a:t>+18.5%</a:t>
            </a:r>
          </a:p>
          <a:p>
            <a:pPr algn="ctr">
              <a:defRPr sz="1100">
                <a:solidFill>
                  <a:srgbClr val="555C66"/>
                </a:solidFill>
              </a:defRPr>
            </a:pPr>
            <a:r>
              <a:t>VP-Q1 baseline lift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1558" y="1463040"/>
            <a:ext cx="2681478" cy="1371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55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ctr">
              <a:defRPr sz="2600" b="1">
                <a:solidFill>
                  <a:srgbClr val="555C66"/>
                </a:solidFill>
              </a:defRPr>
            </a:pPr>
            <a:r>
              <a:t>≤2%</a:t>
            </a:r>
          </a:p>
          <a:p>
            <a:pPr algn="ctr">
              <a:defRPr sz="1100">
                <a:solidFill>
                  <a:srgbClr val="555C66"/>
                </a:solidFill>
              </a:defRPr>
            </a:pPr>
            <a:r>
              <a:t>VP-Q2 OOS reconstruct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1463040"/>
            <a:ext cx="2681478" cy="1371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555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ctr">
              <a:defRPr sz="2600" b="1">
                <a:solidFill>
                  <a:srgbClr val="555C66"/>
                </a:solidFill>
              </a:defRPr>
            </a:pPr>
            <a:r>
              <a:t>≈ flat</a:t>
            </a:r>
          </a:p>
          <a:p>
            <a:pPr algn="ctr">
              <a:defRPr sz="1100">
                <a:solidFill>
                  <a:srgbClr val="555C66"/>
                </a:solidFill>
              </a:defRPr>
            </a:pPr>
            <a:r>
              <a:t>VP-Q3 cadence cleanup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0274" y="1463040"/>
            <a:ext cx="2681478" cy="1371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E8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ctr">
              <a:defRPr sz="2600" b="1">
                <a:solidFill>
                  <a:srgbClr val="E87A2C"/>
                </a:solidFill>
              </a:defRPr>
            </a:pPr>
            <a:r>
              <a:t>134,888</a:t>
            </a:r>
          </a:p>
          <a:p>
            <a:pPr algn="ctr">
              <a:defRPr sz="1100">
                <a:solidFill>
                  <a:srgbClr val="555C66"/>
                </a:solidFill>
              </a:defRPr>
            </a:pPr>
            <a:r>
              <a:t>VP-Q4 PO units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2745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0141A"/>
                </a:solidFill>
              </a:defRPr>
            </a:pPr>
            <a:r>
              <a:t>• VP-Q1 is the dominant aggregate move. Q2/Q3/Q4 produce per-record corrections, not headline shifts.</a:t>
            </a:r>
          </a:p>
          <a:p>
            <a:pPr>
              <a:spcAft>
                <a:spcPts val="400"/>
              </a:spcAft>
              <a:defRPr sz="1300">
                <a:solidFill>
                  <a:srgbClr val="10141A"/>
                </a:solidFill>
              </a:defRPr>
            </a:pPr>
            <a:r>
              <a:t>• VP-Q2 swings are concentrated on chronic-OOS Amazon SKUs (BB35096, FF6636AMZ, FF8424).</a:t>
            </a:r>
          </a:p>
          <a:p>
            <a:pPr>
              <a:spcAft>
                <a:spcPts val="400"/>
              </a:spcAft>
              <a:defRPr sz="1300">
                <a:solidFill>
                  <a:srgbClr val="10141A"/>
                </a:solidFill>
              </a:defRPr>
            </a:pPr>
            <a:r>
              <a:t>• VP-Q4 affects 351 of 1,511 records (23%) — front-week zeroing where replen would otherwise double-count.</a:t>
            </a:r>
          </a:p>
          <a:p>
            <a:pPr>
              <a:spcAft>
                <a:spcPts val="400"/>
              </a:spcAft>
              <a:defRPr sz="13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0392B"/>
                </a:solidFill>
              </a:defRPr>
            </a:pPr>
            <a:r>
              <a:t>• CAVEAT: latest two back-test runs (v7, v8, v9) hit transient CData IncompleteRead failures on the second</a:t>
            </a:r>
          </a:p>
          <a:p>
            <a:pPr>
              <a:spcAft>
                <a:spcPts val="400"/>
              </a:spcAft>
              <a:defRPr sz="1300">
                <a:solidFill>
                  <a:srgbClr val="C0392B"/>
                </a:solidFill>
              </a:defRPr>
            </a:pPr>
            <a:r>
              <a:t>• subprocess. Production guards now abort instead of silently producing contaminated forecasts.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C66"/>
                </a:solidFill>
              </a:defRPr>
            </a:pPr>
            <a:r>
              <a:t>backtest_vp_q1_acct1864.md · backtest_vp_q2_acct1864.md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Reliability hardening (May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C66"/>
                </a:solidFill>
              </a:defRPr>
            </a:pPr>
            <a:r>
              <a:t>Caught a silent-failure pattern before write-back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What we found: under transient CData IncompleteRead failure, the forecaster used to continue with empty</a:t>
            </a:r>
          </a:p>
          <a:p>
            <a:pPr>
              <a:spcAft>
                <a:spcPts val="400"/>
              </a:spcAft>
              <a:defRPr sz="1200">
                <a:solidFill>
                  <a:srgbClr val="C0392B"/>
                </a:solidFill>
              </a:defRPr>
            </a:pPr>
            <a:r>
              <a:t>    – oos_data {} and open_pos_data {} dicts — silently producing forecasts that skipped Q2 and Q4 entirely.</a:t>
            </a: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Fix 1 — abort-on-empty guards:</a:t>
            </a:r>
          </a:p>
          <a:p>
            <a:pPr>
              <a:spcAft>
                <a:spcPts val="400"/>
              </a:spcAft>
              <a:defRPr sz="1200">
                <a:solidFill>
                  <a:srgbClr val="2E8B57"/>
                </a:solidFill>
              </a:defRPr>
            </a:pPr>
            <a:r>
              <a:t>    – If --oos-smoothing requested and oos_data is empty → sys.exit() with [ABORT] message.</a:t>
            </a:r>
          </a:p>
          <a:p>
            <a:pPr>
              <a:spcAft>
                <a:spcPts val="400"/>
              </a:spcAft>
              <a:defRPr sz="1200">
                <a:solidFill>
                  <a:srgbClr val="2E8B57"/>
                </a:solidFill>
              </a:defRPr>
            </a:pPr>
            <a:r>
              <a:t>    – If VP-Q4 enabled (default) and open_pos_data is empty → sys.exit() too. Use --no-po-zero to opt out.</a:t>
            </a: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Fix 2 — better retry budget:</a:t>
            </a:r>
          </a:p>
          <a:p>
            <a:pPr>
              <a:spcAft>
                <a:spcPts val="400"/>
              </a:spcAft>
              <a:defRPr sz="1200">
                <a:solidFill>
                  <a:srgbClr val="2E8B57"/>
                </a:solidFill>
              </a:defRPr>
            </a:pPr>
            <a:r>
              <a:t>    – MAX_RETRIES: 3 → 5 (62s total backoff vs 14s).</a:t>
            </a:r>
          </a:p>
          <a:p>
            <a:pPr>
              <a:spcAft>
                <a:spcPts val="400"/>
              </a:spcAft>
              <a:defRPr sz="1200">
                <a:solidFill>
                  <a:srgbClr val="2E8B57"/>
                </a:solidFill>
              </a:defRPr>
            </a:pPr>
            <a:r>
              <a:t>    – On IncompleteRead, force re-prime of the CData session before retry — old code reused a dead socket.</a:t>
            </a: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0141A"/>
                </a:solidFill>
              </a:defRPr>
            </a:pPr>
            <a:r>
              <a:t>• Net effect: a contaminated run can no longer reach write-back.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C66"/>
                </a:solidFill>
              </a:defRPr>
            </a:pPr>
            <a:r>
              <a:t>cdata_query() · Phase 2.7 + 2.8 guards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C66"/>
                </a:solidFill>
              </a:defRPr>
            </a:pPr>
            <a:r>
              <a:t>Path from back-test to production write-back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Wait for CData to stabilize (Phase 1 has been intermittent today).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Run a clean v10 back-test once both subprocess runs complete without [FAIL] lines.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Spot-check 3–5 records in the viewer (Croston's, Seasonal Baseline, Sparse Intermittent).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Production write-back command:</a:t>
            </a:r>
          </a:p>
          <a:p>
            <a:pPr>
              <a:spcAft>
                <a:spcPts val="400"/>
              </a:spcAft>
              <a:defRPr sz="1300">
                <a:solidFill>
                  <a:srgbClr val="10141A"/>
                </a:solidFill>
              </a:defRPr>
            </a:pPr>
            <a:r>
              <a:t>    – python scripts/inventory_forecaster.py --acct 1864 --oos-smoothing</a:t>
            </a:r>
          </a:p>
          <a:p>
            <a:pPr>
              <a:spcAft>
                <a:spcPts val="400"/>
              </a:spcAft>
              <a:defRPr sz="1300">
                <a:solidFill>
                  <a:srgbClr val="10141A"/>
                </a:solidFill>
              </a:defRPr>
            </a:pPr>
            <a:r>
              <a:t>    – (VP-Q1 + Q3 are baked in; --oos-smoothing turns on Q2; Q4 is on by default.)</a:t>
            </a: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0141A"/>
                </a:solidFill>
              </a:defRPr>
            </a:pPr>
            <a:r>
              <a:t>• Roll-out:</a:t>
            </a:r>
          </a:p>
          <a:p>
            <a:pPr>
              <a:spcAft>
                <a:spcPts val="400"/>
              </a:spcAft>
              <a:defRPr sz="1300">
                <a:solidFill>
                  <a:srgbClr val="10141A"/>
                </a:solidFill>
              </a:defRPr>
            </a:pPr>
            <a:r>
              <a:t>    – Acct 1864 first (current scope) → review for 1 week → expand to other accounts.</a:t>
            </a:r>
          </a:p>
          <a:p>
            <a:pPr>
              <a:spcAft>
                <a:spcPts val="400"/>
              </a:spcAft>
              <a:defRPr sz="1300">
                <a:solidFill>
                  <a:srgbClr val="10141A"/>
                </a:solidFill>
              </a:defRPr>
            </a:pPr>
            <a:r>
              <a:t>    – AI_ALERT &gt;5% surfaces variance for planner review without blocking write-back.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C66"/>
                </a:solidFill>
              </a:defRPr>
            </a:pPr>
            <a:r>
              <a:t>Production-ready after one clean back-test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Appendix — configuration knobs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C66"/>
                </a:solidFill>
              </a:defRPr>
            </a:pPr>
            <a:r>
              <a:t>Constants in scripts/inventory_forecaster.py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4552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3324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Constant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PRIME_DAY_WEEKS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{7, 8, 9}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Amazon-only pre-order window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FALL_DEAL_WEEKS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{23, 24, 25}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All-account pre-order window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PRIME_DAY_LIFT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1.25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+25% on Prime Day weeks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FALL_DEAL_LIFT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+12% on Fall Deal weeks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AMAZON_CUST_SUBSTR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"AMAZON"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Gates Q2-Amazon POS pulls + Prime Day lifts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DAMP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Seasonal profile dampening (±20% from 1.0)</a:t>
                      </a:r>
                    </a:p>
                  </a:txBody>
                  <a:tcPr/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ALERT_THRESHOLD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5% variance triggers AI_ALERT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33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MAX_RETRIES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41A"/>
                          </a:solidFill>
                        </a:rPr>
                        <a:t>CData retry budget (was 3 before May 2026)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C66"/>
                </a:solidFill>
              </a:defRPr>
            </a:pPr>
            <a:r>
              <a:t>Appendix · METHODOLOGY.md §9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952"/>
                </a:solidFill>
              </a:rPr>
              <a:t>Empirical Sales Index Methodology — 2026 Q2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Six-stage pipeline applied to 2024–2026 invoice ship history (~738K rows, 31 cats / 85 sub-cats)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1. Source: direct /v1/records/query against ProductTrack.Invoices (table bpaxk2v8t), filter Shpd Date &gt;= 2024-01-01, full customer base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2. SKU consistency filter — only MStyles shipping in &gt;=10 distinct months over a &gt;=12mo lifespan with &gt;=50% activity rate (excludes 1-off promo blasts)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1,592 of 5,831 MStyles qualify (27%) — capturing 56% of unit volume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3. Tariff-OOS exclusion — drop 2025 May-Sep entirely so artificially-suppressed shipments don't bias the seasonal shape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4. Year weighting: 2024 = 2.0× (clean pre-tariff baseline), 2025 = 1.0×, 2026 = 1.0×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5. Strategic-customer weighting: AMAZON / WAL MART / PETSMART = 2.0× (compounds with year weight)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6. Holiday lead-time uplift: Sep ×1.10, Oct ×1.20, Nov ×1.15 — reflects 4–6 week shipping lead before Nov/Dec consumer demand peaks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7. Planner overrides: hand-curated profiles for categories where data shape ≠ business reality (e.g. Disposable Tabletop summer + Thanksgiving + Holiday)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8. Quality gates: total ≥ 100K units · ≥ 3 active months · peak/trough ≥ 1.30 · ≥ 2 contributing years · ≥ 3 consistent SKUs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All adjustments stack multiplicatively, then renormalize so each profile mean = 1.0; values clamped to [0.10, 4.00]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952"/>
                </a:solidFill>
              </a:rPr>
              <a:t>Forecasting Consumption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How _get_category_profile() applies the saved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RULE 1 — SKU gate: only apply seasonality if matched category has &gt; 10 consistent SKUs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Below the gate, fall through to next-priority match (subcat → cat → keyword fallback → none)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RULE 2 — Floor at 1.00: every month value capped at max(value, 1.00)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Seasonal indexes ONLY increase forecast demand — they never suppress it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Protects against noisy 'down' signals biasing forecasts negatively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RULE 3 — Match priority (first match wins):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1) Explicit Season tag from Quickbase Styles.[Season]  (planner-curated)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2) Empirical (Category, Subcategory) — 105 subcats with multi-year data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3) Empirical Category alone — 31 categories with multi-year data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4) Hand-curated keyword fallback (CATEGORY_PROFILES) — for items missing tags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Constants in scripts/inventory_forecaster.py: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SEASONAL_MIN_SKU_COUNT = 10    # require strictly &gt; this many SKUs</a:t>
            </a:r>
          </a:p>
          <a:p>
            <a:pPr algn="l" lvl="1">
              <a:spcAft>
                <a:spcPts val="400"/>
              </a:spcAft>
            </a:pPr>
            <a:r>
              <a:rPr sz="1300">
                <a:solidFill>
                  <a:srgbClr val="0A2952"/>
                </a:solidFill>
              </a:rPr>
              <a:t>• SEASONAL_FLOOR         = 1.00  # never multiply demand below 1.0× baseline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952"/>
                </a:solidFill>
              </a:rPr>
              <a:t>Monthly Sales Indexes by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Mean = 1.00 · clamped [0.10, 4.00] · Sep-Nov lifted for holiday lead-time · sorted by total units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80160"/>
          <a:ext cx="9729216" cy="643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02920"/>
                <a:gridCol w="594360"/>
              </a:tblGrid>
              <a:tr h="201168"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Jan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Feb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Mar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Apr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May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Jun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Jul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Aug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Sep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Oct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Nov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Dec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#SKU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Peak</a:t>
                      </a:r>
                    </a:p>
                  </a:txBody>
                  <a:tcPr>
                    <a:solidFill>
                      <a:srgbClr val="0A2952"/>
                    </a:solidFill>
                  </a:tcPr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Grooming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1.35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1.28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1.34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1.15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0.57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0.63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1.12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0.93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364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Jan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Disposable Tabletop  ★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0.49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1.33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1.33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1.16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1.16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1.07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1.38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1.24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214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Mar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Waste Management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1.23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1.20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1.34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1.08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0.76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0.63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1.21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1.16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1.18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Mar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Litter Accessories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1.29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0.56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1.94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1.30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0.73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0.53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0.79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0.61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1.14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Mar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Air Care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1.28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1.69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2.09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0.84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0.69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1.08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0.51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64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Mar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Dog Dental Care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1.48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1.30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1.08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0.86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1.12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1.33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0.81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Jan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Grooming Tools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1.14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1.26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1.26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0.67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0.77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1.10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1.05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Mar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Laundry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1.18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1.23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0.71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0.81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1.13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1.17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Feb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Food Protection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1.23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1.26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0.87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1.20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0.57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1.10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1.14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Feb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Cleaning Tools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1.28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1.12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1.25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1.43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1.15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1.08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Apr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Cat Grooming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1.32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1.30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1.27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1.42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0.63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0.61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1.20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0.83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Apr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Treats &amp; Chews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1.36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1.05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1.43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0.84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0.38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0.73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1.22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1.34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Apr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Cleaning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1.53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1.12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1.35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0.89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0.71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0.86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0.67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1.25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Jan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Foils &amp; Pans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0.89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1.11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1.89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0.71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0.69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0.33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1.41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1.06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Mar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Dog Toys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0.61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1.43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1.57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0.35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1.20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1.55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1.18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93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May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Dental Toys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1.37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0.77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0.49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0.73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1.29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1.94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Nov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Pet Air Care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1.33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1.16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0.56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1.07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0.61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1.07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1.46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Feb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Grilling Tools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1.40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2.04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1.26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0.81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0.71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0.28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0.60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Apr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Dog Supplements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1.48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1.26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1.22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0.89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0.37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0.69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0.88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1.06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1.15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Jan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Cat Dental Care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1.41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1.31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0.85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1.14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0.70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0.77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1.32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1.20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Jan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Small Animal Care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1.22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1.13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1.21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1.63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1.17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Oct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Pro Hand Care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1.11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1.82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1.25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1.34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Mar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Cat Grooming Tools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1.06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1.41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1.84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1.41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0.71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0.69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Mar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Cat Stain &amp; Odor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1.22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0.90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0.57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0.93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1.08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Jan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Dog Remedies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1.35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1.34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1.18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0.73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0.83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1.12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1.33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Jan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Hand Care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0.84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1.26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1.17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1.20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0.47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1.09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1.21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1.12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1.28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0.33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Feb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Hand Care (Fetch)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0.80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0.77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0.49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0.83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1.69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1.40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1.57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1.64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0.93</a:t>
                      </a:r>
                    </a:p>
                  </a:txBody>
                  <a:tcPr>
                    <a:solidFill>
                      <a:srgbClr val="FCE3CD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Aug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Stain &amp; Odor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0.42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1.21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1.62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0.22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1.45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0.71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1.11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2.46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0.60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Nov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Training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1.26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1.40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2.48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0.36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0.66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0.75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0.39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1.07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1.08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Mar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Apparel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0.28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0.26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3.22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0.79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1.11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1.46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0.60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Apr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 lIns="38100" rIns="38100" tIns="12700" bIns="12700"/>
                    <a:lstStyle/>
                    <a:p>
                      <a:pPr algn="l"/>
                      <a:r>
                        <a:rPr sz="800" b="1">
                          <a:solidFill>
                            <a:srgbClr val="0A2952"/>
                          </a:solidFill>
                        </a:rPr>
                        <a:t>Collars/Leads</a:t>
                      </a:r>
                    </a:p>
                  </a:txBody>
                  <a:tcPr/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0.24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0.34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0.33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3.11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1.38</a:t>
                      </a:r>
                    </a:p>
                  </a:txBody>
                  <a:tcPr>
                    <a:solidFill>
                      <a:srgbClr val="6FC180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0.74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0.36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1.44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1.10</a:t>
                      </a:r>
                    </a:p>
                  </a:txBody>
                  <a:tcPr>
                    <a:solidFill>
                      <a:srgbClr val="C9E7CB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1.43</a:t>
                      </a:r>
                    </a:p>
                  </a:txBody>
                  <a:tcPr>
                    <a:solidFill>
                      <a:srgbClr val="00863D"/>
                    </a:solidFill>
                  </a:tcPr>
                </a:tc>
                <a:tc>
                  <a:txBody>
                    <a:bodyPr lIns="12700" rIns="127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0A2952"/>
                          </a:solidFill>
                        </a:rPr>
                        <a:t>0.52</a:t>
                      </a:r>
                    </a:p>
                  </a:txBody>
                  <a:tcPr>
                    <a:solidFill>
                      <a:srgbClr val="F4C2A1"/>
                    </a:solidFill>
                  </a:tcPr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>
                          <a:solidFill>
                            <a:srgbClr val="555555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 lIns="254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D96B1F"/>
                          </a:solidFill>
                        </a:rPr>
                        <a:t>Apr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6446520"/>
            <a:ext cx="11731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555555"/>
                </a:solidFill>
              </a:rPr>
              <a:t>★ = Planner override   ·   Heatmap: dark green ≥1.40 · green ≥1.20 · light green ≥1.05 · neutral ≥0.95 · light orange ≥0.80 · orange &lt;0.80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